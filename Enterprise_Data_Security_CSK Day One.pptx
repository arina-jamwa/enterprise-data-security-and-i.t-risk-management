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 Cost ($M)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C6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Healthcare</c:v>
                  </c:pt>
                  <c:pt idx="1">
                    <c:v>Finance</c:v>
                  </c:pt>
                  <c:pt idx="2">
                    <c:v>Technology</c:v>
                  </c:pt>
                  <c:pt idx="3">
                    <c:v>Retail</c:v>
                  </c:pt>
                  <c:pt idx="4">
                    <c:v>Energy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10.9</c:v>
                </c:pt>
                <c:pt idx="1">
                  <c:v>6.1</c:v>
                </c:pt>
                <c:pt idx="2">
                  <c:v>5</c:v>
                </c:pt>
                <c:pt idx="3">
                  <c:v>3.3</c:v>
                </c:pt>
                <c:pt idx="4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2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CVSS Scores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C7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C65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 (9-10)</c:v>
                  </c:pt>
                  <c:pt idx="1">
                    <c:v>High (7-9)</c:v>
                  </c:pt>
                  <c:pt idx="2">
                    <c:v>Medium (4-7)</c:v>
                  </c:pt>
                  <c:pt idx="3">
                    <c:v>Low (0-4)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28</c:v>
                </c:pt>
                <c:pt idx="2">
                  <c:v>42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2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548640"/>
            <a:ext cx="2286000" cy="228600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82296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57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65760" y="1234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Risk Management &amp; Regulatory Compliance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Presented to: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Computer Society of Kenya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Traveller Hotel, Mombasa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journey through Enterprise Data Security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Enterprise Data Security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59436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01952"/>
            <a:ext cx="73152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019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019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IT Risks in the Enterprise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8412480" cy="59436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15184"/>
            <a:ext cx="73152" cy="594360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D8CB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61518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Frameworks &amp; Standards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59436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28416"/>
            <a:ext cx="73152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2841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32841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Risk Management Strategy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8412480" cy="59436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41648"/>
            <a:ext cx="73152" cy="5943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416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404164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Regulatory Compliance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9728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3E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Enterprise Data Security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Fundamentals and Why It Matters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Enterprise Data Security?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lifeblood of every modern organization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0" y="1005840"/>
            <a:ext cx="2651760" cy="265176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Security encompasses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technologies, and practices that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use to protect their digital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from unauthorized access, misuse,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disclosure, alteration, or destruction.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651760"/>
            <a:ext cx="24688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Confidentiality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08960" y="2651760"/>
            <a:ext cx="24688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Integrity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0" y="2651760"/>
            <a:ext cx="246888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The CIA Triad — Core Principles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657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new oil. </a:t>
            </a:r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generate, process, and store vast quantities of sensitive information daily — from customer PII to financial records, intellectual property, and trade secrets.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Security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 is always higher than the cost of protection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$4.88M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of a Data Breach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2024)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Days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identify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188720"/>
            <a:ext cx="192024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suffered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breaches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188720"/>
            <a:ext cx="1920240" cy="146304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exposed globally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(avg)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64008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🔑  Top Impact Areas: Financial Loss  •  Reputational Damage  •  Regulatory Penalties  •  Business Disruption  •  Loss of Customer Trust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3611880"/>
          <a:ext cx="841248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Security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are evolving — so must our defenses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Cybercriminals &amp; Hackers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Actors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Groups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Campaigns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40233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80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Threats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642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Insiders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Employees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Vendors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Misuse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Failures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387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Vulnerabilities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Software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Gaps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02336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Threats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5387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Theft or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Hazards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Physical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Tampering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 — Deep Dive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that underpin every security 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97480" cy="347472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234440"/>
            <a:ext cx="1234440" cy="1234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37160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560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</a:rPr>
              <a:t>CONFIDENTIALITY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99923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Access Controls &amp; Authentication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Encryption at rest &amp; in transit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Data Classification Policies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Least Privilege Principles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27832" y="1143000"/>
            <a:ext cx="2697480" cy="347472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143000"/>
            <a:ext cx="26974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59352" y="1234440"/>
            <a:ext cx="1234440" cy="1234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73552" y="2560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</a:rPr>
              <a:t>INTEGRITY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19272" y="299923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Checksums &amp; Hash Verification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Digital Signatures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Audit Trails &amp; Logging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Change Management Controls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143000"/>
            <a:ext cx="2697480" cy="347472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143000"/>
            <a:ext cx="269748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12280" y="1234440"/>
            <a:ext cx="1234440" cy="123444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371600"/>
            <a:ext cx="914400" cy="914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560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C653"/>
                </a:solidFill>
              </a:rPr>
              <a:t>AVAILABILITY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72200" y="299923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Redundancy &amp; Failover Systems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Disaster Recovery Planning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DDoS Protection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Business Continuity Plans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Enterprise Data We Protect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 before you can secure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33472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98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Identifiable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(PII)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IDs, Addresses, Biometrics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88720"/>
            <a:ext cx="2633472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32588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3898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1298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3756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records, Payment info, Tax data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11887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188720"/>
            <a:ext cx="263347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898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1298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7220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secrets, Patents, Source code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" y="27889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2788920"/>
            <a:ext cx="2633472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2920" y="2926080"/>
            <a:ext cx="457200" cy="4572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9008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 (PHI)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35021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history, Insurance, Prescriptions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0" y="27889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2788920"/>
            <a:ext cx="263347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37560" y="292608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2990088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86200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337560" y="35021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flows, Supply chains, Systems data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35040" y="27889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35040" y="2788920"/>
            <a:ext cx="2633472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172200" y="292608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299008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20840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172200" y="35021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records, Behaviour, Preferences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9728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3E"/>
                </a:solidFill>
              </a:rPr>
              <a:t>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IT Risks in the Enterprise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protect what you cannot see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Risk?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components of enterprise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2588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154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Risk = Threat × Vulnerability × Impact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</a:t>
            </a:r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potential danger that can exploit a vulnerability
</a:t>
            </a:r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</a:t>
            </a:r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weakness that can be exploited
</a:t>
            </a:r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damage caused if a threat exploits a vulnerability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RISK LIKELIHOOD MATRIX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1508760"/>
            <a:ext cx="914400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5087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77840" y="1508760"/>
            <a:ext cx="91440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15087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583680" y="1508760"/>
            <a:ext cx="914400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15087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589520" y="1508760"/>
            <a:ext cx="914400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15087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0" y="2194560"/>
            <a:ext cx="914400" cy="621792"/>
          </a:xfrm>
          <a:prstGeom prst="rect">
            <a:avLst/>
          </a:prstGeom>
          <a:solidFill>
            <a:srgbClr val="F9C7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21945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577840" y="2194560"/>
            <a:ext cx="91440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21945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583680" y="2194560"/>
            <a:ext cx="91440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21945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589520" y="2194560"/>
            <a:ext cx="914400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0" y="21945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0" y="2880360"/>
            <a:ext cx="914400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2880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577840" y="2880360"/>
            <a:ext cx="914400" cy="621792"/>
          </a:xfrm>
          <a:prstGeom prst="rect">
            <a:avLst/>
          </a:prstGeom>
          <a:solidFill>
            <a:srgbClr val="F9C7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2880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583680" y="2880360"/>
            <a:ext cx="91440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2880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589520" y="2880360"/>
            <a:ext cx="91440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0" y="2880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72000" y="3566160"/>
            <a:ext cx="914400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5661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577840" y="3566160"/>
            <a:ext cx="914400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77840" y="35661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583680" y="3566160"/>
            <a:ext cx="914400" cy="621792"/>
          </a:xfrm>
          <a:prstGeom prst="rect">
            <a:avLst/>
          </a:prstGeom>
          <a:solidFill>
            <a:srgbClr val="F9C7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0" y="35661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589520" y="3566160"/>
            <a:ext cx="91440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89520" y="35661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← Impact →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206240" y="1508760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↑ Likelihood ↑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IT Risk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view of the threat landscape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33472" cy="1627632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33472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32588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Risks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Ransomware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Social Engineering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Attacks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633472" cy="1627632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88720"/>
            <a:ext cx="2633472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325880"/>
            <a:ext cx="475488" cy="47548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38988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32588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178308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Failures &amp; Downtime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Breakdowns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Dependencies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188720"/>
            <a:ext cx="2633472" cy="1627632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188720"/>
            <a:ext cx="263347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72200" y="132588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8988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48272" y="132588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Risks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17920" y="178308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or Corruption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Governance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017520"/>
            <a:ext cx="2633472" cy="1627632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3017520"/>
            <a:ext cx="263347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2920" y="3154680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18688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78992" y="315468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361188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Non-Compliance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Failures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Breaches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Data Issues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0" y="3017520"/>
            <a:ext cx="2633472" cy="1627632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3017520"/>
            <a:ext cx="2633472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37560" y="3154680"/>
            <a:ext cx="475488" cy="47548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18688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13632" y="315468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Environmental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383280" y="361188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Theft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Disasters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Physical Entry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035040" y="3017520"/>
            <a:ext cx="2633472" cy="1627632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35040" y="3017520"/>
            <a:ext cx="2633472" cy="54864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172200" y="3154680"/>
            <a:ext cx="475488" cy="475488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218688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48272" y="315468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217920" y="361188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Security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Obsolescence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Security Budget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Security Culture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vs External Threats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source and nature of threats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188720"/>
            <a:ext cx="1005840" cy="10058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325880"/>
            <a:ext cx="694944" cy="694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267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3946"/>
                </a:solidFill>
              </a:rPr>
              <a:t>EXTERNAL THREATS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724912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&amp; Cybercriminals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APT Groups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Spear-Phishing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Ransomware-as-a-Service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Campaigns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97280"/>
            <a:ext cx="39319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18872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325880"/>
            <a:ext cx="694944" cy="6949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2267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4A261"/>
                </a:solidFill>
              </a:rPr>
              <a:t>INTERNAL THREATS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83480" y="2724912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Disgruntled Employees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Data Exposure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Misuse &amp; Abuse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Systems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Vendor/Contractor Risks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Practices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&amp; Removable Media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Security Gaps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25112" y="2377440"/>
            <a:ext cx="493776" cy="3200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25112" y="2377440"/>
            <a:ext cx="493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Cyber Threats in Detail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adversary's tactics and techniques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9748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600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that encrypts data and demands payment for decryption keys. Avg ransom now exceeds $1.5M.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9748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64008" cy="1600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emails/SMS mimicking trusted entities to steal credentials or deliver malware payloads.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9748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34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malicious SQL code to manipulate databases, extract or delete records.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9748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64008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targeting software vulnerabilities before patches are available from the vendor.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69748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26080"/>
            <a:ext cx="64008" cy="1600200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429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humans psychologically to divulge confidential information or grant access.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9748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26080"/>
            <a:ext cx="64008" cy="1600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429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communications between two parties to eavesdrop or alter data in transit.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Assessment 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approach to uncovering and evaluating risks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978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Identification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0972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all information assets, systems, and data stores within the organization.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5681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8562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Identification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5623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 threats — who or what could harm identified assets?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1576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6151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61518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weaknesses that threats could exploit in systems and processes.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7472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3741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Evaluation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37413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level using Probability × Impact scoring methodology.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23367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Treatment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413308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mitigate, transfer, or avoid each identified risk based on priority.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1563624"/>
            <a:ext cx="0" cy="3785616"/>
          </a:xfrm>
          <a:prstGeom prst="line">
            <a:avLst/>
          </a:prstGeom>
          <a:noFill/>
          <a:ln w="25400">
            <a:solidFill>
              <a:srgbClr val="006D77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 &amp; Assessment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weaknesses before attackers do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143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Vulnerability Management Activities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697480"/>
            <a:ext cx="8412480" cy="50292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2697480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26080" y="26974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scanning using tools like Nessus, OpenVAS, or Qualys to detect known CVEs.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273552"/>
            <a:ext cx="8412480" cy="50292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327355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2735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327355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simulated attacks by ethical hackers to expose exploitable weaknesses.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849624"/>
            <a:ext cx="8412480" cy="50292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849624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8496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926080" y="38496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review of security controls, policies, and configurations against standards.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4425696"/>
            <a:ext cx="8412480" cy="50292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4425696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425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926080" y="442569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process to apply software patches before vulnerabilities are weaponized.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1920240" y="1600200"/>
          <a:ext cx="685800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9728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3E"/>
                </a:solidFill>
              </a:rPr>
              <a:t>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Frameworks &amp; Standards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security on proven, globally-recognized foundations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Security Framework?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guidance for building and improving security programs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framework is a structured set of guidelines, best practices, and standards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help organizations manage and reduce cybersecurity risk systematically.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33472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263347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approach across the entire organization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633472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11680"/>
            <a:ext cx="2633472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5237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addresses vulnerabilities proactively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633472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011680"/>
            <a:ext cx="263347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5237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regulatory and legal requirements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2633472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83280"/>
            <a:ext cx="2633472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8953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for security across all departments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383280"/>
            <a:ext cx="2633472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383280"/>
            <a:ext cx="2633472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8953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cycles for reviewing and enhancing security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383280"/>
            <a:ext cx="2633472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383280"/>
            <a:ext cx="2633472" cy="54864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8953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security posture to customers and partners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— Information Security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gold standard for ISMS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200400" cy="37490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200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Established: 2005 (Rev. 2022)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93 Controls in 4 themes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Certification: Available &amp; Recognized Globally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PLAN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ISMS scope, policy &amp; risk treatment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118104"/>
            <a:ext cx="502920" cy="5029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1181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controls &amp; security measures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721608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CHECK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721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measure &amp; audit effectiveness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325112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4325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nonconformities &amp; improve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097280"/>
            <a:ext cx="5029200" cy="37490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1188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Clauses &amp; Control Themes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of the Organization — Scope &amp; Interested Parties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— Top Mgmt. Commitment &amp; Policy Ownership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487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Risk Assessment &amp; Treatment Objectives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2916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916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— Resources, Competence &amp; Communication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3467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346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— Implementation &amp; Control of Processes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37764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776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— Monitoring &amp; Internal Audit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— Nonconformity &amp; Corrective Action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Cybersecurity Framework (CSF 2.0)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risk-based approach to managing cybersecurity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325880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D1B3E"/>
                </a:solidFill>
              </a:rPr>
              <a:t>GOVERN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1325880" cy="2651760"/>
          </a:xfrm>
          <a:prstGeom prst="rect">
            <a:avLst/>
          </a:prstGeom>
          <a:solidFill>
            <a:srgbClr val="132244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267712"/>
            <a:ext cx="11795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context, expectations and policy for cybersecurity risk management.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097280"/>
            <a:ext cx="132588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097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D1B3E"/>
                </a:solidFill>
              </a:rPr>
              <a:t>IDENTIFY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83080" y="2194560"/>
            <a:ext cx="1325880" cy="265176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56232" y="2267712"/>
            <a:ext cx="11795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assets, risks, and organizational context for cyber risk.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1325880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97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D1B3E"/>
                </a:solidFill>
              </a:rPr>
              <a:t>PROTECT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2194560"/>
            <a:ext cx="1325880" cy="265176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2267712"/>
            <a:ext cx="11795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safeguards to limit or contain the impact of cybersecurity events.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132588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97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D1B3E"/>
                </a:solidFill>
              </a:rPr>
              <a:t>DETECT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2194560"/>
            <a:ext cx="1325880" cy="265176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267712"/>
            <a:ext cx="11795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timely discovery of cybersecurity events and anomalies.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097280"/>
            <a:ext cx="132588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097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D1B3E"/>
                </a:solidFill>
              </a:rPr>
              <a:t>RESPOND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194560"/>
            <a:ext cx="1325880" cy="265176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2267712"/>
            <a:ext cx="11795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 regarding a detected cybersecurity incident.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52360" y="1097280"/>
            <a:ext cx="1325880" cy="1005840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097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D1B3E"/>
                </a:solidFill>
              </a:rPr>
              <a:t>RECOVER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52360" y="2194560"/>
            <a:ext cx="1325880" cy="265176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5512" y="2267712"/>
            <a:ext cx="11795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capabilities/services impaired by a cybersecurity incident.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46320"/>
            <a:ext cx="8869680" cy="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 v8 — 18 Prioritized Actions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controls organized by implementation group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365760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188720"/>
            <a:ext cx="1371600" cy="13716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Controls 1–6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IG1 — Essential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(Basic Cyber Hygiene)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inventory, data management, secure config, vulnerability management, account management, audit log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743200" cy="365760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1188720"/>
            <a:ext cx="13716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Controls 7–16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IG2 — Foundational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Security Teams)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337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Email/web protection, malware defenses, network mgmt, data recovery, network monitoring, penetration testing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743200" cy="365760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188720"/>
            <a:ext cx="1371600" cy="1371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Controls 17–18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IG3 — Organizational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(Mature Security Teams)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337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response, security awareness &amp; skills training for all staff including executives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— Trust Services Criteria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security to customers and stakeholders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(Service Organization Control 2) is an auditing standard developed by the AICPA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evaluates how organizations manage customer data based on five Trust Service Criteria (TSC).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536192" cy="15361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CC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5661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against unauthorized access — the only mandatory criterion.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920240"/>
            <a:ext cx="1536192" cy="15361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9202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AV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84832" y="2651760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35661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available for operation and use as committed or agreed.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03904" y="1920240"/>
            <a:ext cx="1536192" cy="15361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19202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PI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651760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Integrity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35661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processing is complete, valid, accurate, and timely.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2976" y="1920240"/>
            <a:ext cx="1536192" cy="15361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9202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CO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22976" y="2651760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31536" y="35661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designated as confidential is protected appropriately.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2048" y="1920240"/>
            <a:ext cx="1536192" cy="15361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9202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PR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42048" y="2651760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50608" y="35661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 collected, used, retained per privacy policy.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Security Frameworks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framework for your organization's context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09728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Focus Area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Certification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ISO 27001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ISMS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All Industries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NIST CSF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Risk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US-based Orgs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CIS Controls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Technical Controls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IT Teams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Low-Med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SOC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Service Org. Trust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Cloud/SaaS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PCI DSS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Payment Card Data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Finance/Retail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HIPAA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Health Information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Healthcare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selection should align with your industry, regulatory requirements, risk appetite, and organizational maturity.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9728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3E"/>
                </a:solidFill>
              </a:rPr>
              <a:t>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Risk Management Strategy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risk awareness into a structured, actionable program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Management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ongoing cycle — not a one-time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37560" y="1005840"/>
            <a:ext cx="2468880" cy="1005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37560" y="10058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1. Establish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4184" y="1760220"/>
            <a:ext cx="2468880" cy="100584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4184" y="17602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2. Risk Identification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4184" y="3268980"/>
            <a:ext cx="246888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4184" y="32689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3. Risk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4023360"/>
            <a:ext cx="246888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4023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4. Risk Evaluation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30936" y="3268980"/>
            <a:ext cx="2468880" cy="10058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30936" y="32689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5. Risk Treatment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30936" y="1760220"/>
            <a:ext cx="2468880" cy="10058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30936" y="17602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6. Monitor &amp;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240280"/>
            <a:ext cx="1828800" cy="155448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2402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MGMT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LIFECYCLE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Treatment — The 4 T's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identified risk must be treated with a deliberate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risk entirely by stopping the activity that creates it.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Stop using a vulnerable legacy system with no patch available.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178308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4114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3444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07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1234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risk by implementing controls and safeguards to bring it within acceptable limits.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Deploy MFA, encryption and endpoint protection to mitigate breach risk.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4114800" cy="178308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6324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0040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72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3703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risk with a third party through insurance, outsourcing or contracts.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Take out cyber liability insurance; include security SLAs in vendor contracts.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063240"/>
            <a:ext cx="4114800" cy="178308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63240"/>
            <a:ext cx="41148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200400"/>
            <a:ext cx="594360" cy="5943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72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3212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46320" y="3703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risk when its cost of treatment exceeds the potential loss impact.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Accept the residual risk of a minor internal system with no internet exposure.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defense — the backbone of every risk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97280"/>
            <a:ext cx="3456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95928" y="10972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Procedures, Training, Background Checks, Risk Assessments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7132320" cy="621792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810512"/>
            <a:ext cx="2995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72738" y="1810512"/>
            <a:ext cx="3922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IDS/IPS, Encryption, MFA, SIEM, DLP, Endpoint Protection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00200" y="2523744"/>
            <a:ext cx="5943600" cy="621792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2523744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Controls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55948" y="2523744"/>
            <a:ext cx="32689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Locks, CCTV, Access Badges, Biometrics, Secure Data Centres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3236976"/>
            <a:ext cx="4754880" cy="621792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3236976"/>
            <a:ext cx="19970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Controls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39158" y="3236976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Detective/Corrective measures when primary controls fail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3950208"/>
            <a:ext cx="2743200" cy="621792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3950208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ASSETS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the inevitable — speed and order save organizations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Define IR team &amp; roles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Create IR policies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Deploy detection tools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Run tabletop exercises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651760" cy="4389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43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Monitor alerts &amp; logs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Classify incident severity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Confirm breach scope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Notify stakeholders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5176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265176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43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Isolate affected systems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Block malicious IPs/users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Preserve forensic evidence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Short &amp; long term containment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5176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265176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26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ERADICATION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Remove malware/threat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Patch vulnerabilities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Reset compromised credentials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Harden entry 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65176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26080"/>
            <a:ext cx="265176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26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RECOVERY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429000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Restore from clean backups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Verify system integrity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Monitor for re-infection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Resume normal operations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51760" cy="160020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26080"/>
            <a:ext cx="2651760" cy="438912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26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LESSONS LEARNED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429000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Post-incident report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Update IR playbooks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Review security controls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Train &amp; retrain staff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Security Monitoring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journey, not a destination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cannot rely on periodic point-in-time assessments. Continuous monitoring provides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the security posture and enables rapid response.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114800" cy="74980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Information &amp; Event Management — correlates logs and triggers alerts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4114800" cy="74980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92024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202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9202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Orchestration, Automation &amp; Response — automates incident workflows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4114800" cy="74980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16352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16352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81635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 &amp; Response — monitors and responds to endpoint threats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816352"/>
            <a:ext cx="4114800" cy="74980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816352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16352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281635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 — monitors sensitive data movement across the network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4114800" cy="74980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12464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12464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37124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Entity Behaviour Analytics — detects anomalous behaviour patterns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712464"/>
            <a:ext cx="4114800" cy="749808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712464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12464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VA/PT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37124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&amp; Pen Testing — finds weaknesses before attackers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9728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3E"/>
                </a:solidFill>
              </a:rPr>
              <a:t>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Regulatory Compliance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legal and regulatory obligations around data protection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4480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4480560"/>
            <a:ext cx="109728" cy="10972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Regulatory Compliance?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mandatory dimension of data security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365760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344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7033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means adhering to the laws, regulations, guidelines and standards applicable to your organization's data handling activities.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657600" cy="7772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0" y="1097280"/>
            <a:ext cx="64008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5780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Obligation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57800" y="1481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law — non-compliance leads to penalties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0" y="2011680"/>
            <a:ext cx="3657600" cy="7772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2011680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7800" y="2395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responsible data stewardship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0" y="2926080"/>
            <a:ext cx="3657600" cy="77724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2926080"/>
            <a:ext cx="64008" cy="7772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57800" y="2926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57800" y="3310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 reduce organizational risk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20640" y="3840480"/>
            <a:ext cx="3657600" cy="7772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0" y="3840480"/>
            <a:ext cx="64008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3840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57800" y="4224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operate in certain markets/sectors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General Data Protection Regulation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EU's landmark data protection law with global reach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Enacted: May 25, 2018  |  Jurisdiction: EU/EEA (+ any org processing EU resident data)  |  Max Penalty: €20M or 4% global annual turnover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97480" cy="12344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Lawfulness &amp; Fairness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267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must have a valid legal basis and be transparent to individuals.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737360"/>
            <a:ext cx="2697480" cy="12344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73736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Purpose Limitation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2267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for specified, explicit and legitimate purposes only.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97480" cy="12344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3736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Minimisation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267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the data that is strictly necessary for the purpose.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697480" cy="12344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5468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64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Accuracy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6850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data accurate and up to date at all times.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154680"/>
            <a:ext cx="2697480" cy="12344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15468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264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Storage Limitation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5848" y="36850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data only as long as necessary for the stated purpose.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2697480" cy="12344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6D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15468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264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Integrity &amp; Confidentiality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36850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appropriate security against unauthorized processing or loss.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GDPR Rights: Right to Access  •  Right to Erasure  •  Right to Portability  •  Right to Object  •  Right to Rectification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Data Protection Act, 2019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Africa's landmark data protection legislation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Enacted: November 8, 2019  |  Regulator: Office of the Data Protection Commissioner (ODPC)  |  Aligned with: GDPR Principles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150876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— Kenyan resident whose data is processed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Controller — decides why/how data is processed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 — processes data on controller's behalf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— race, health, finance, biometrics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4114800" cy="150876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4114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Obligations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the ODPC if processing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 Data Protection Officer (DPO)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Data Protection Impact Assessments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valid, informed consent before processing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4114800" cy="150876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29000"/>
            <a:ext cx="41148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access to personal data held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rectification of inaccurate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deletion/erasure ('right to be forgotten')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object to processing activities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4114800" cy="150876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29000"/>
            <a:ext cx="41148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Offences &amp; Penalties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93192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Non-registration: Fine up to KES 5 million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Unlawful processing: KES 3M or 3 yrs imprisonment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non-notification: KES 5M fine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False/misleading information: KES 3M fine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Key Global Regulations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patchwork of laws every enterprise must navigate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9748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1430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(USA)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Portability &amp; Accountability 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of Protected Health Information (PHI)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69748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97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1430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Finance/Retail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8470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 Industry Data Security Standard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1945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cardholder data in payment 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97280"/>
            <a:ext cx="2697480" cy="4389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097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0" y="11430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5544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Companies (US)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8470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Sarbanes-Oxley 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1945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records integrity &amp; fraud prevention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71800"/>
            <a:ext cx="269748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11680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(Global)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Consumer Privacy Act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069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data rights for California residents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297180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2971800"/>
            <a:ext cx="269748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92040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429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 (EU)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756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Network &amp; Information Security Directive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37560" y="4069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for essential &amp; digital services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97180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971800"/>
            <a:ext cx="2697480" cy="438912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Privacy Act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72400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1988/2014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3429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Privacy Act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4069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Privacy Principles for data handling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vs Security — Key Distinctions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the floor, not the ceiling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79476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0233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A78BFA"/>
                </a:solidFill>
              </a:rPr>
              <a:t>COMPLIANCE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94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— follows defined regulations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standard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audited periodically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legal obligation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pass or fail audit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requirements change slowly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379476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0B4D8"/>
                </a:solidFill>
              </a:rPr>
              <a:t>SECURITY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664208"/>
            <a:ext cx="3794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— addresses actual threats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mindset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— ongoing monitoring &amp;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threat landscape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adapts to evolving threats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Future-focused — anticipates new risks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2331720"/>
            <a:ext cx="1371600" cy="137160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NEEDED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Compliance Programme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roadmap to sustained regulatory adherence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Applicable Regulations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0972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all relevant laws (DPA 2019, GDPR if applicable, PCI DSS, HIPAA etc.) to your data types and operations.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28216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73936"/>
            <a:ext cx="457200" cy="4572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7282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Gap Assessment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7282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security posture against regulatory requirements to identify deficiencies.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04872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3591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Policies &amp; Procedures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3591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clear, enforceable data protection policies and procedures with executive sign-off.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90088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3580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990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Technical Controls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2990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encryption, access controls, DLP, audit logging and other required technical measures.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666744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6210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Staff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6210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awareness training ensures employees understand obligations and avoid inadvertent violations.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297680"/>
            <a:ext cx="457200" cy="457200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Audit &amp; Improve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42519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internal audits, address findings, update controls as regulations evolve.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1097280"/>
            <a:ext cx="0" cy="3785616"/>
          </a:xfrm>
          <a:prstGeom prst="line">
            <a:avLst/>
          </a:prstGeom>
          <a:noFill/>
          <a:ln w="25400">
            <a:solidFill>
              <a:srgbClr val="006D77"/>
            </a:solidFill>
            <a:prstDash val="dash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Data Regulation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trends shaping the regulatory landscape in Africa and globally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and similar regulations now mandate security around AI-processed data, creating new compliance obligations.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6974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07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Data Flows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complexity of international data transfer agreements as countries introduce data localisation requirements.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69748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07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Data Laws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Data Policy Framework and national laws across 36+ African countries creating a continent-wide compliance landscape.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2697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Mandates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increasingly mandating Zero Trust Architecture for critical infrastructure and public sector organizations.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71800"/>
            <a:ext cx="269748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Threat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5204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threatens current encryption — regulators are beginning to address post-quantum cryptography standards.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697480" cy="169164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71800"/>
            <a:ext cx="2697480" cy="64008"/>
          </a:xfrm>
          <a:prstGeom prst="rect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OT Regulations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5204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IoT devices proliferate, new regulations specifically targeting operational technology security are emerging globally.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 items from today's session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is a business imperative — not just an IT concern. Leadership buy-in is critical.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assets, threats, and vulnerabilities before selecting controls or frameworks.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231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internationally recognized frameworks (ISO 27001, NIST CSF) as your security foundation.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6324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living risk management strategy with continuous monitoring and regular reviews.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0332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657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mandatory — but true security goes beyond checking the compliance box.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132244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343400"/>
            <a:ext cx="457200" cy="457200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297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the ODPC and build compliance with Kenya's Data Protection Act 2019 today.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82296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Society of Kenya  •  Traveller Hotel, Mombasa  •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Security</dc:title>
  <dc:subject>PptxGenJS Presentation</dc:subject>
  <dc:creator>Computer Society of Kenya</dc:creator>
  <cp:lastModifiedBy>Computer Society of Kenya</cp:lastModifiedBy>
  <cp:revision>1</cp:revision>
  <dcterms:created xsi:type="dcterms:W3CDTF">2026-05-17T16:18:03Z</dcterms:created>
  <dcterms:modified xsi:type="dcterms:W3CDTF">2026-05-17T16:18:03Z</dcterms:modified>
</cp:coreProperties>
</file>