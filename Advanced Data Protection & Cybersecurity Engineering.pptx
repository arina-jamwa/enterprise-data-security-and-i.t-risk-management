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Inter" panose="020B0604020202020204" charset="0"/>
      <p:regular r:id="rId55"/>
      <p:bold r:id="rId56"/>
      <p:italic r:id="rId57"/>
      <p:boldItalic r:id="rId58"/>
    </p:embeddedFont>
    <p:embeddedFont>
      <p:font typeface="Inter Medium" panose="020B0604020202020204" charset="0"/>
      <p:regular r:id="rId59"/>
      <p:bold r:id="rId60"/>
      <p:italic r:id="rId61"/>
      <p:boldItalic r:id="rId62"/>
    </p:embeddedFont>
    <p:embeddedFont>
      <p:font typeface="Inter SemiBold" panose="020B0604020202020204" charset="0"/>
      <p:regular r:id="rId63"/>
      <p:bold r:id="rId64"/>
      <p:italic r:id="rId65"/>
      <p:boldItalic r:id="rId66"/>
    </p:embeddedFont>
    <p:embeddedFont>
      <p:font typeface="Montserrat" panose="020B0604020202020204" charset="0"/>
      <p:regular r:id="rId67"/>
      <p:bold r:id="rId68"/>
      <p:italic r:id="rId69"/>
      <p:boldItalic r:id="rId70"/>
    </p:embeddedFont>
    <p:embeddedFont>
      <p:font typeface="Montserrat Medium" panose="020B0604020202020204" charset="0"/>
      <p:regular r:id="rId71"/>
      <p:bold r:id="rId72"/>
      <p:italic r:id="rId73"/>
      <p:boldItalic r:id="rId74"/>
    </p:embeddedFont>
    <p:embeddedFont>
      <p:font typeface="Montserrat SemiBold" panose="020B0604020202020204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CF158B-6D6E-4181-99FF-11F4043EFF3D}">
  <a:tblStyle styleId="{80CF158B-6D6E-4181-99FF-11F4043EFF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3.fntdata"/><Relationship Id="rId68" Type="http://schemas.openxmlformats.org/officeDocument/2006/relationships/font" Target="fonts/font1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74" Type="http://schemas.openxmlformats.org/officeDocument/2006/relationships/font" Target="fonts/font24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font" Target="fonts/font19.fntdata"/><Relationship Id="rId77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72" Type="http://schemas.openxmlformats.org/officeDocument/2006/relationships/font" Target="fonts/font22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font" Target="fonts/font20.fntdata"/><Relationship Id="rId75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openxmlformats.org/officeDocument/2006/relationships/font" Target="fonts/font23.fntdata"/><Relationship Id="rId78" Type="http://schemas.openxmlformats.org/officeDocument/2006/relationships/font" Target="fonts/font28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6" Type="http://schemas.openxmlformats.org/officeDocument/2006/relationships/font" Target="fonts/font26.fntdata"/><Relationship Id="rId7" Type="http://schemas.openxmlformats.org/officeDocument/2006/relationships/slide" Target="slides/slide6.xml"/><Relationship Id="rId71" Type="http://schemas.openxmlformats.org/officeDocument/2006/relationships/font" Target="fonts/font2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2.png"/><Relationship Id="rId5" Type="http://schemas.openxmlformats.org/officeDocument/2006/relationships/image" Target="../media/image8.pn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3.png"/><Relationship Id="rId5" Type="http://schemas.openxmlformats.org/officeDocument/2006/relationships/image" Target="../media/image51.png"/><Relationship Id="rId10" Type="http://schemas.openxmlformats.org/officeDocument/2006/relationships/image" Target="../media/image21.png"/><Relationship Id="rId4" Type="http://schemas.openxmlformats.org/officeDocument/2006/relationships/image" Target="../media/image50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21.png"/><Relationship Id="rId4" Type="http://schemas.openxmlformats.org/officeDocument/2006/relationships/image" Target="../media/image50.png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65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70.png"/><Relationship Id="rId5" Type="http://schemas.openxmlformats.org/officeDocument/2006/relationships/image" Target="../media/image51.png"/><Relationship Id="rId10" Type="http://schemas.openxmlformats.org/officeDocument/2006/relationships/image" Target="../media/image21.png"/><Relationship Id="rId4" Type="http://schemas.openxmlformats.org/officeDocument/2006/relationships/image" Target="../media/image50.png"/><Relationship Id="rId9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2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77.png"/><Relationship Id="rId4" Type="http://schemas.openxmlformats.org/officeDocument/2006/relationships/image" Target="../media/image7.png"/><Relationship Id="rId9" Type="http://schemas.openxmlformats.org/officeDocument/2006/relationships/image" Target="../media/image7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79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9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6525" y="4000351"/>
            <a:ext cx="6838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090499" y="2324248"/>
            <a:ext cx="8011001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Cybersecurity Operations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Enterprise Engineering Frameworks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71837" y="3427065"/>
            <a:ext cx="564832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EA5E9"/>
                </a:solidFill>
                <a:latin typeface="Inter Medium"/>
                <a:ea typeface="Inter Medium"/>
                <a:cs typeface="Inter Medium"/>
                <a:sym typeface="Inter Medium"/>
              </a:rPr>
              <a:t>Architecting Defensible Infrastructure for Kenya's Digital Landscape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676525" y="4200376"/>
            <a:ext cx="2314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Travellers Beach Hotel, Mombasa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276850" y="4200376"/>
            <a:ext cx="2371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Computer Society of Kenya (CSK)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934325" y="4200376"/>
            <a:ext cx="15811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2026 Special Session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76525" y="421942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76850" y="4219426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34325" y="4219426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9762" y="6534150"/>
            <a:ext cx="8763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Agenda Overview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 of 49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Part I: Engineering &amp; Governance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Part II: Risk &amp; Tactical Operations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95400" y="1775370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1: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Advanced Data Protection Strategies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95400" y="2092076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Security Governance &amp; Policy Design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95400" y="2408783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3: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Penetration Testing &amp; Red Teaming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843712" y="1775370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4: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Cloud Security &amp; Risk Management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43712" y="2092076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5: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Securing Endpoint &amp; Host Devices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43712" y="2408783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6: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Developing an Incident Response Team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1799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11588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4325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1799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211588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7962" y="243259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Executive Program Agenda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534025" y="2266950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928824" y="2590800"/>
            <a:ext cx="441055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Advanced Data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Protection Strategies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657850" y="36957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2800350" y="39243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corporate data assets using modern cryptographic architecture, secure confidential computing enclaves, and enterprise-wide data governance.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243512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 of 49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Structured Classification Process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62025" y="1775370"/>
            <a:ext cx="47196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Organizations must categorize data based on sensitivity and business impact of exposure, mapping controls directly to respective classifications.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Operational Controls Alignment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10337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Each classification dictates specific physical, administrative, and technological guardrails across its lifecycle.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295400" y="2627858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Tier 1: Highly Confidential: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PII, trade secrets, intellectual property.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295400" y="3146970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Tier 2: Restricted: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Internal financials, proprietary operational roadmaps.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843712" y="2413545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Mandatory AES-256 transparent database encryption for Tier 1.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843712" y="2711201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Segmented vault-access and short token leases for Tier 2.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6516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317078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4373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7962" y="2735014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Data Classification Tiers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243512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 of 49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287809" y="2070645"/>
            <a:ext cx="225028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AES-GCM Authenticated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6677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Ensures confidentiality and integrity simultaneously. Galois/Counter Mode guarantees data has not been altered dynamically in transit.</a:t>
            </a:r>
            <a:endParaRPr/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060721" y="2070645"/>
            <a:ext cx="207025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ECDSA Key Exchanges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Elliptic Curve Digital Signature Algorithm. Provides high strength asymmetric authentication with smaller key dimensions.</a:t>
            </a:r>
            <a:endParaRPr/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8873787" y="2070645"/>
            <a:ext cx="181022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ChaCha20-Poly1305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High-efficiency stream cipher for systems without hardware-accelerated AES processing. Standard in modern network tunnels.</a:t>
            </a:r>
            <a:endParaRPr/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912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6313" y="151819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40788" y="151819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Modern Cryptographic Tools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054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243512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 of 49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6750" y="2779514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Protecting Data in Active Memory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66750" y="3150989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While standard encryption secures data in transit and at rest, confidential computing addresses the vulnerable state: data in processing.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00125" y="3722489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Enclaves: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Restricts hypervisor or OS level memory access.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00125" y="4039195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Cryptographic Attestation: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Verifies the host code integrity before computing starts.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000125" y="4355901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Isolated RAM: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Prevents unauthorized physical bus sniffing of operational workloads.</a:t>
            </a:r>
            <a:endParaRPr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40630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379714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Confidential Compute Enclaves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248275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896600" y="6534150"/>
            <a:ext cx="6286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7 of 49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000125" y="1070520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Endpoint DLP agents: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Monitors client storage devices to prevent unauthorized file transfers to cloud platforms or physical flash drives.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000125" y="1434851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Network DLP Inspects: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Scans outbound corporate email and API payloads to intercept unencrypted PII or credit card parameters.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000125" y="1799183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Heuristic Analysis Policies: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Detects multi-file high-volume copying behaviors by staging anomalies against standardized user baselines.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00125" y="2163514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 DRM Integration: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Embeds persistent permission structures within PDFs or spreadsheets to restrict copying outside domain-managed assets.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0943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4586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822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18732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Data Loss Prevention Systems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666750" y="1070520"/>
            <a:ext cx="108585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0"/>
          <p:cNvGraphicFramePr/>
          <p:nvPr/>
        </p:nvGraphicFramePr>
        <p:xfrm>
          <a:off x="666750" y="1070520"/>
          <a:ext cx="10848975" cy="206690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239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Management Option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Storage Mechanism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Cryptographic Boundary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Ideal Enterprise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 Security Module (HSM)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Dedicated Physical Hardware appliances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FIPS 140-2 Level 3 / Level 4 certified silicon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Root Certificate Authorities &amp; Banking transactions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Key Management Service (KMS)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Distributed virtual cloud nodes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 isolation backed by multi-tenant HSM matrices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Microservice applications &amp; transient cloud nodes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BYOK (Bring Your Own Key)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On-premise physical generated keys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SaaS boundary with external key control gates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Strict regulatory environments using public cloud hosts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0" name="Google Shape;230;p20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243512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8 of 49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Enterprise Key Management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666750" y="1070520"/>
            <a:ext cx="108585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666750" y="1070520"/>
          <a:ext cx="10848975" cy="206690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181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Methodology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Execution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Mathematical Reversibility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Operational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 Data Masking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Query run-time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Reversible on-the-fly for auth roles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Call center operators reviewing customer accounts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Data Masking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Post-extraction storage write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Irreversible (Overwritten with mockup)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Developing application codes with production mimics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Tokenization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Pre-storage execution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Reversible only through centralized lookup vault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Credit card processing &amp; localized transactional logs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3" name="Google Shape;243;p21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243512" y="65341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1: Advanced Data Protection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0887075" y="6534150"/>
            <a:ext cx="6381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9 of 49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Data Masking Techniques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5514975" y="226695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02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3508771" y="2590800"/>
            <a:ext cx="525065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Security Governance 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Policy Development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5657850" y="36957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2800350" y="39243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Aligning security strategies with corporate objectives through standardized governance models, compliance blueprints, and actionable security culture.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12 of 49</a:t>
            </a:r>
            <a:endParaRPr/>
          </a:p>
        </p:txBody>
      </p:sp>
      <p:pic>
        <p:nvPicPr>
          <p:cNvPr id="293" name="Google Shape;29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1487834" y="2070645"/>
            <a:ext cx="1850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Strategic Alignment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6677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Ensuring the enterprise cybersecurity investments map precisely to corporate business trajectories, reducing functional friction points.</a:t>
            </a:r>
            <a:endParaRPr/>
          </a:p>
        </p:txBody>
      </p:sp>
      <p:pic>
        <p:nvPicPr>
          <p:cNvPr id="296" name="Google Shape;296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5440769" y="2070645"/>
            <a:ext cx="131016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Value Delivery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Optimizing operational expenditures through risk prioritized spending models. Focusing resources strictly on threat vectors.</a:t>
            </a:r>
            <a:endParaRPr/>
          </a:p>
        </p:txBody>
      </p:sp>
      <p:pic>
        <p:nvPicPr>
          <p:cNvPr id="299" name="Google Shape;299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8623756" y="2070645"/>
            <a:ext cx="231028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Regulatory Management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Defining organizational oversight and control metrics to ensure continuous conformity to statutory and state standards.</a:t>
            </a:r>
            <a:endParaRPr/>
          </a:p>
        </p:txBody>
      </p:sp>
      <p:pic>
        <p:nvPicPr>
          <p:cNvPr id="302" name="Google Shape;302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74837" y="1518195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72026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5507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Governance Structure Pillars</a:t>
            </a:r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666750" y="1070520"/>
            <a:ext cx="10858500" cy="2209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25"/>
          <p:cNvGraphicFramePr/>
          <p:nvPr/>
        </p:nvGraphicFramePr>
        <p:xfrm>
          <a:off x="666750" y="1070520"/>
          <a:ext cx="10848975" cy="220980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179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Framework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Area of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Verification Mechanism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Target Industry Demographics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ISO/IEC 27001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Information Security Management System (ISMS)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Independent external registrar certification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corporations across all industries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NIST CSF v2.0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Organizational cybersecurity risk management controls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Self-assessment or external readiness reviews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 Infrastructure &amp; Government contractors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PCI-DSS v4.0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Secure payment processor infrastructure protection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 Quality Security Assessor (QSA) audit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Retail, fintech &amp; e-commerce clearing agencies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5" name="Google Shape;315;p25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13 of 49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Security Compliance Standards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89833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189833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14 of 49</a:t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666750" y="300409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767048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01. Authoring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819150" y="3561308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Draft security baseline definitions, aligning technical controls to business parameters.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3590169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02. Endorsement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3642270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Obtain executive approval to validate institutional mandate and ensure enforcement.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413290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03. Execution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6465391" y="3561308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security controls, monitor standards, and conduct awareness training.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9236411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04. Iteration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9288512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Review and modify policy targets annually based on the changing threat landscape.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Policy Lifecycle Timeline</a:t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77544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59856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7421686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10244807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15 of 49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Legal Accountability Framework</a:t>
            </a:r>
            <a:endParaRPr/>
          </a:p>
        </p:txBody>
      </p:sp>
      <p:sp>
        <p:nvSpPr>
          <p:cNvPr id="360" name="Google Shape;360;p27"/>
          <p:cNvSpPr txBox="1"/>
          <p:nvPr/>
        </p:nvSpPr>
        <p:spPr>
          <a:xfrm>
            <a:off x="962025" y="1775370"/>
            <a:ext cx="47196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Enacted by the ODPC, the KDPA mandates strict requirements for data controllers and processors to respect citizens' data privacy rights.</a:t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Non-Compliance Penalties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6510337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Failing to protect consumer data leads to severe administrative fines and legal accountability for corporate officers.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1295400" y="2627858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Consent: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Prior explicit validation before data processing begins.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1295400" y="3146970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Mandatory Audits: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Periodic security posture evaluations filed with the regulator.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6843712" y="2413545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Statutory fines up to Ksh 5 Million or 1% of annual global turnover.</a:t>
            </a:r>
            <a:endParaRPr/>
          </a:p>
        </p:txBody>
      </p:sp>
      <p:sp>
        <p:nvSpPr>
          <p:cNvPr id="366" name="Google Shape;366;p27"/>
          <p:cNvSpPr txBox="1"/>
          <p:nvPr/>
        </p:nvSpPr>
        <p:spPr>
          <a:xfrm>
            <a:off x="6843712" y="2932658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Personal civil liabilities for directors who fail to address security gaps.</a:t>
            </a:r>
            <a:endParaRPr/>
          </a:p>
        </p:txBody>
      </p:sp>
      <p:pic>
        <p:nvPicPr>
          <p:cNvPr id="367" name="Google Shape;36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6516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31707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4373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7962" y="295647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Kenya Data Protection Act</a:t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16 of 49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666750" y="2779514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Translating Technology to Business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666750" y="3150989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Board directors require clear financial risk assessments instead of raw technical system counts to make informed governance decisions.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1000125" y="3722489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Financial Metrics: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Present risk as Annual Loss Expectancy (ALE) in currency.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1000125" y="4039195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Trend Analysis: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Illustrate cybersecurity readiness trends against peer benchmarks.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000125" y="4355901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Strategic Risk Register:</a:t>
            </a:r>
            <a:r>
              <a:rPr lang="en-US" sz="1162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Clear ownership models for critical risks.</a:t>
            </a:r>
            <a:endParaRPr dirty="0"/>
          </a:p>
        </p:txBody>
      </p:sp>
      <p:pic>
        <p:nvPicPr>
          <p:cNvPr id="389" name="Google Shape;38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74630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0630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379714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8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Board Level Risk Reports</a:t>
            </a:r>
            <a:endParaRPr/>
          </a:p>
        </p:txBody>
      </p:sp>
      <p:sp>
        <p:nvSpPr>
          <p:cNvPr id="393" name="Google Shape;393;p28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9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5357812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10848975" y="6534150"/>
            <a:ext cx="676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17 of 49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1000125" y="1070520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Continuous Micro-learning: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Replace boring annual classroom trainings with engaging 5-minute monthly video micro-modules.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1000125" y="1434851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Phishing Drills: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Run safe, monthly internal phishing simulations to teach staff how to identify malicious message cues.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1000125" y="1799183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 Security Champions: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Appoint and train key non-technical staff to advocate for secure workflows within their business teams.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1000125" y="2163514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Positive Reinforcement: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Recognize and reward staff who catch and report simulated or real threat indicators early.</a:t>
            </a:r>
            <a:endParaRPr/>
          </a:p>
        </p:txBody>
      </p:sp>
      <p:pic>
        <p:nvPicPr>
          <p:cNvPr id="407" name="Google Shape;40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0943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4586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822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18732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9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Developing Security Culture</a:t>
            </a:r>
            <a:endParaRPr/>
          </a:p>
        </p:txBody>
      </p:sp>
      <p:sp>
        <p:nvSpPr>
          <p:cNvPr id="412" name="Google Shape;412;p29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10858500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0"/>
          <p:cNvSpPr txBox="1"/>
          <p:nvPr/>
        </p:nvSpPr>
        <p:spPr>
          <a:xfrm>
            <a:off x="666750" y="3880395"/>
            <a:ext cx="108585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Continuous tracking of operational metrics proves the value of security investments to executive leadership.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5353050" y="6534150"/>
            <a:ext cx="1562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2: Governance &amp; Policy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18 of 49</a:t>
            </a:r>
            <a:endParaRPr/>
          </a:p>
        </p:txBody>
      </p:sp>
      <p:sp>
        <p:nvSpPr>
          <p:cNvPr id="424" name="Google Shape;424;p30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Metrics and KPI Tracking</a:t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1"/>
          <p:cNvSpPr txBox="1"/>
          <p:nvPr/>
        </p:nvSpPr>
        <p:spPr>
          <a:xfrm>
            <a:off x="5514975" y="226695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03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3613785" y="2590800"/>
            <a:ext cx="504063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Penetration Testing 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Red Teaming</a:t>
            </a:r>
            <a:endParaRPr/>
          </a:p>
        </p:txBody>
      </p:sp>
      <p:sp>
        <p:nvSpPr>
          <p:cNvPr id="434" name="Google Shape;434;p31"/>
          <p:cNvSpPr/>
          <p:nvPr/>
        </p:nvSpPr>
        <p:spPr>
          <a:xfrm>
            <a:off x="5657850" y="36957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2800350" y="39243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Validating organizational defenses through structured penetration testing, advanced red team simulations, and collaborative purple teaming.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2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45" name="Google Shape;445;p32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446" name="Google Shape;446;p32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20 of 49</a:t>
            </a:r>
            <a:endParaRPr/>
          </a:p>
        </p:txBody>
      </p:sp>
      <p:sp>
        <p:nvSpPr>
          <p:cNvPr id="447" name="Google Shape;447;p32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Standard Penetration Testing</a:t>
            </a:r>
            <a:endParaRPr/>
          </a:p>
        </p:txBody>
      </p:sp>
      <p:sp>
        <p:nvSpPr>
          <p:cNvPr id="448" name="Google Shape;448;p32"/>
          <p:cNvSpPr txBox="1"/>
          <p:nvPr/>
        </p:nvSpPr>
        <p:spPr>
          <a:xfrm>
            <a:off x="962025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structured, objective-focused sweep to identify and safely exploit technical system vulnerabilities.</a:t>
            </a:r>
            <a:endParaRPr/>
          </a:p>
        </p:txBody>
      </p:sp>
      <p:sp>
        <p:nvSpPr>
          <p:cNvPr id="449" name="Google Shape;449;p32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Adversarial Red Team Simulation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6510337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goal-driven, realistic simulation of active cyber threats targeted at the organization's entire footprint.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1295400" y="2413545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Large, defined IP matrices or API lists.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1295400" y="2711201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Find as many security flaws as possible in the window.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1295400" y="3230314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Disclosure: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Coordinated in advance with system administrators.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6843712" y="2413545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Multi-layered, including social and physical tests.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6843712" y="2711201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Reach specific target assets undetected (e.g. databases).</a:t>
            </a: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6843712" y="3230314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Disclosure: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Kept quiet to test the internal response team's readiness.</a:t>
            </a:r>
            <a:endParaRPr/>
          </a:p>
        </p:txBody>
      </p:sp>
      <p:pic>
        <p:nvPicPr>
          <p:cNvPr id="457" name="Google Shape;457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4373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273501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3254126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7962" y="24373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57962" y="273501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57962" y="3254126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2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Penetration vs. Red Teaming</a:t>
            </a:r>
            <a:endParaRPr/>
          </a:p>
        </p:txBody>
      </p:sp>
      <p:sp>
        <p:nvSpPr>
          <p:cNvPr id="464" name="Google Shape;464;p32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89833"/>
            <a:ext cx="2388840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189833"/>
            <a:ext cx="2388840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2035522"/>
            <a:ext cx="2388840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3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5429250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477" name="Google Shape;477;p33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21 of 49</a:t>
            </a: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666750" y="300409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767048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01. Recon</a:t>
            </a:r>
            <a:endParaRPr/>
          </a:p>
        </p:txBody>
      </p:sp>
      <p:sp>
        <p:nvSpPr>
          <p:cNvPr id="480" name="Google Shape;480;p33"/>
          <p:cNvSpPr txBox="1"/>
          <p:nvPr/>
        </p:nvSpPr>
        <p:spPr>
          <a:xfrm>
            <a:off x="819150" y="3561308"/>
            <a:ext cx="208404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Passive/active intelligence collection (OSINT, DNS mapping, social scans).</a:t>
            </a:r>
            <a:endParaRPr/>
          </a:p>
        </p:txBody>
      </p:sp>
      <p:sp>
        <p:nvSpPr>
          <p:cNvPr id="481" name="Google Shape;481;p33"/>
          <p:cNvSpPr txBox="1"/>
          <p:nvPr/>
        </p:nvSpPr>
        <p:spPr>
          <a:xfrm>
            <a:off x="3590169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02. Weaponization</a:t>
            </a:r>
            <a:endParaRPr/>
          </a:p>
        </p:txBody>
      </p:sp>
      <p:sp>
        <p:nvSpPr>
          <p:cNvPr id="482" name="Google Shape;482;p33"/>
          <p:cNvSpPr txBox="1"/>
          <p:nvPr/>
        </p:nvSpPr>
        <p:spPr>
          <a:xfrm>
            <a:off x="3642270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Develop custom payloads, establish external control channels, register target proxy domains.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6413290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03. Exploitation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6465391" y="3561308"/>
            <a:ext cx="208404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Safely deploy exploits, pivot laterally, and compromise targets.</a:t>
            </a:r>
            <a:endParaRPr/>
          </a:p>
        </p:txBody>
      </p:sp>
      <p:sp>
        <p:nvSpPr>
          <p:cNvPr id="485" name="Google Shape;485;p33"/>
          <p:cNvSpPr txBox="1"/>
          <p:nvPr/>
        </p:nvSpPr>
        <p:spPr>
          <a:xfrm>
            <a:off x="9236411" y="2187922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04. Actions on Objective</a:t>
            </a:r>
            <a:endParaRPr/>
          </a:p>
        </p:txBody>
      </p:sp>
      <p:sp>
        <p:nvSpPr>
          <p:cNvPr id="486" name="Google Shape;486;p33"/>
          <p:cNvSpPr txBox="1"/>
          <p:nvPr/>
        </p:nvSpPr>
        <p:spPr>
          <a:xfrm>
            <a:off x="9288512" y="2406997"/>
            <a:ext cx="208404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Simulate database extraction, execute mock operations, and document path.</a:t>
            </a:r>
            <a:endParaRPr/>
          </a:p>
        </p:txBody>
      </p:sp>
      <p:sp>
        <p:nvSpPr>
          <p:cNvPr id="487" name="Google Shape;487;p33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Assessment Phase Timeline</a:t>
            </a:r>
            <a:endParaRPr/>
          </a:p>
        </p:txBody>
      </p:sp>
      <p:sp>
        <p:nvSpPr>
          <p:cNvPr id="488" name="Google Shape;488;p33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177544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459856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7421686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10244807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4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01" name="Google Shape;501;p34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502" name="Google Shape;502;p34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22 of 49</a:t>
            </a:r>
            <a:endParaRPr/>
          </a:p>
        </p:txBody>
      </p:sp>
      <p:sp>
        <p:nvSpPr>
          <p:cNvPr id="503" name="Google Shape;503;p34"/>
          <p:cNvSpPr txBox="1"/>
          <p:nvPr/>
        </p:nvSpPr>
        <p:spPr>
          <a:xfrm>
            <a:off x="666750" y="2447329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Simulating Modern Threat Actors</a:t>
            </a:r>
            <a:endParaRPr/>
          </a:p>
        </p:txBody>
      </p:sp>
      <p:sp>
        <p:nvSpPr>
          <p:cNvPr id="504" name="Google Shape;504;p34"/>
          <p:cNvSpPr txBox="1"/>
          <p:nvPr/>
        </p:nvSpPr>
        <p:spPr>
          <a:xfrm>
            <a:off x="666750" y="2818804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Red Team operators build disposable multi-tiered infrastructures to blend adversarial traffic with legitimate corporate web activities.</a:t>
            </a:r>
            <a:endParaRPr/>
          </a:p>
        </p:txBody>
      </p:sp>
      <p:sp>
        <p:nvSpPr>
          <p:cNvPr id="506" name="Google Shape;506;p34"/>
          <p:cNvSpPr txBox="1"/>
          <p:nvPr/>
        </p:nvSpPr>
        <p:spPr>
          <a:xfrm>
            <a:off x="1000125" y="3390304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C2 Redirectors: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Hides backend attack platforms behind trusted content distribution networks.</a:t>
            </a:r>
            <a:endParaRPr/>
          </a:p>
        </p:txBody>
      </p:sp>
      <p:sp>
        <p:nvSpPr>
          <p:cNvPr id="507" name="Google Shape;507;p34"/>
          <p:cNvSpPr txBox="1"/>
          <p:nvPr/>
        </p:nvSpPr>
        <p:spPr>
          <a:xfrm>
            <a:off x="1000125" y="3928467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Domain Fronting: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Masks command-and-control payloads inside valid cloud traffic streams.</a:t>
            </a:r>
            <a:endParaRPr/>
          </a:p>
        </p:txBody>
      </p:sp>
      <p:sp>
        <p:nvSpPr>
          <p:cNvPr id="508" name="Google Shape;508;p34"/>
          <p:cNvSpPr txBox="1"/>
          <p:nvPr/>
        </p:nvSpPr>
        <p:spPr>
          <a:xfrm>
            <a:off x="1000125" y="4466629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Obfuscated Payloads: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Uses custom encryption wrappers to evade standard system security controls.</a:t>
            </a:r>
            <a:endParaRPr/>
          </a:p>
        </p:txBody>
      </p:sp>
      <p:pic>
        <p:nvPicPr>
          <p:cNvPr id="509" name="Google Shape;509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4141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9522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49044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4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Red Team Cyber Infrastructure</a:t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5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24" name="Google Shape;524;p35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525" name="Google Shape;525;p35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23 of 49</a:t>
            </a:r>
            <a:endParaRPr/>
          </a:p>
        </p:txBody>
      </p:sp>
      <p:pic>
        <p:nvPicPr>
          <p:cNvPr id="526" name="Google Shape;526;p3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5"/>
          <p:cNvSpPr txBox="1"/>
          <p:nvPr/>
        </p:nvSpPr>
        <p:spPr>
          <a:xfrm>
            <a:off x="1542841" y="2070645"/>
            <a:ext cx="174021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Public Exploitation</a:t>
            </a:r>
            <a:endParaRPr/>
          </a:p>
        </p:txBody>
      </p:sp>
      <p:sp>
        <p:nvSpPr>
          <p:cNvPr id="528" name="Google Shape;528;p35"/>
          <p:cNvSpPr txBox="1"/>
          <p:nvPr/>
        </p:nvSpPr>
        <p:spPr>
          <a:xfrm>
            <a:off x="866775" y="2356395"/>
            <a:ext cx="30923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Adversaries leverage unpatched web applications or legacy API exposures (e.g. SQL Injection or RCE) to establish initial footholds on network systems.</a:t>
            </a:r>
            <a:endParaRPr/>
          </a:p>
        </p:txBody>
      </p:sp>
      <p:pic>
        <p:nvPicPr>
          <p:cNvPr id="529" name="Google Shape;529;p3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5"/>
          <p:cNvSpPr txBox="1"/>
          <p:nvPr/>
        </p:nvSpPr>
        <p:spPr>
          <a:xfrm>
            <a:off x="4965709" y="2070645"/>
            <a:ext cx="226028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Targeted Spear Phishing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Highly customized messages directed at key personnel to bypass standard email filters and deploy malicious host execution scripts.</a:t>
            </a:r>
            <a:endParaRPr/>
          </a:p>
        </p:txBody>
      </p:sp>
      <p:pic>
        <p:nvPicPr>
          <p:cNvPr id="532" name="Google Shape;532;p3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5"/>
          <p:cNvSpPr txBox="1"/>
          <p:nvPr/>
        </p:nvSpPr>
        <p:spPr>
          <a:xfrm>
            <a:off x="8903791" y="2070645"/>
            <a:ext cx="175021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Credential Stuffing</a:t>
            </a:r>
            <a:endParaRPr/>
          </a:p>
        </p:txBody>
      </p:sp>
      <p:sp>
        <p:nvSpPr>
          <p:cNvPr id="534" name="Google Shape;534;p35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Using leaked corporate credentials from past third-party breaches to access web interfaces lacking multi-factor enforcement.</a:t>
            </a:r>
            <a:endParaRPr/>
          </a:p>
        </p:txBody>
      </p:sp>
      <p:pic>
        <p:nvPicPr>
          <p:cNvPr id="535" name="Google Shape;535;p3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912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72026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5507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5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Common Exploitation Vectors</a:t>
            </a:r>
            <a:endParaRPr/>
          </a:p>
        </p:txBody>
      </p:sp>
      <p:sp>
        <p:nvSpPr>
          <p:cNvPr id="539" name="Google Shape;539;p35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6"/>
          <p:cNvSpPr/>
          <p:nvPr/>
        </p:nvSpPr>
        <p:spPr>
          <a:xfrm>
            <a:off x="666750" y="1070520"/>
            <a:ext cx="10858500" cy="1981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7" name="Google Shape;547;p36"/>
          <p:cNvGraphicFramePr/>
          <p:nvPr/>
        </p:nvGraphicFramePr>
        <p:xfrm>
          <a:off x="666750" y="1070520"/>
          <a:ext cx="10848975" cy="198125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13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CVSS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Severity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Enterprise SLA Patch Timeline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Remediation Action Priority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9.0 - 10.0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Execute patch within 24 - 48 hours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Immediate emergency service deployment and testing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7.0 - 8.9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Execute patch within 14 days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Schedule fix in the next routine system maintenance window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4.0 - 6.9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EAB3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Execute patch within 30 - 45 days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Apply vulnerability fix during quarterly patch 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0.1 - 3.9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Remediate within 90 days / monitor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Address during regular application updates and improvements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8" name="Google Shape;548;p36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49" name="Google Shape;549;p36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550" name="Google Shape;550;p36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24 of 49</a:t>
            </a:r>
            <a:endParaRPr/>
          </a:p>
        </p:txBody>
      </p:sp>
      <p:sp>
        <p:nvSpPr>
          <p:cNvPr id="551" name="Google Shape;551;p36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Vulnerability Severity Scores</a:t>
            </a:r>
            <a:endParaRPr/>
          </a:p>
        </p:txBody>
      </p:sp>
      <p:sp>
        <p:nvSpPr>
          <p:cNvPr id="552" name="Google Shape;552;p36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7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60" name="Google Shape;560;p37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561" name="Google Shape;561;p37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25 of 49</a:t>
            </a:r>
            <a:endParaRPr/>
          </a:p>
        </p:txBody>
      </p:sp>
      <p:sp>
        <p:nvSpPr>
          <p:cNvPr id="562" name="Google Shape;562;p37"/>
          <p:cNvSpPr txBox="1"/>
          <p:nvPr/>
        </p:nvSpPr>
        <p:spPr>
          <a:xfrm>
            <a:off x="1000125" y="1070520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Validate Finding Veracity: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Cross-check identified items with current threat intel to filter out misleading false positives.</a:t>
            </a:r>
            <a:endParaRPr/>
          </a:p>
        </p:txBody>
      </p:sp>
      <p:sp>
        <p:nvSpPr>
          <p:cNvPr id="563" name="Google Shape;563;p37"/>
          <p:cNvSpPr txBox="1"/>
          <p:nvPr/>
        </p:nvSpPr>
        <p:spPr>
          <a:xfrm>
            <a:off x="1000125" y="1434851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Prioritize by Actual Risk: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Align CVSS scores with the business context to patch critical Internet-facing systems first.</a:t>
            </a:r>
            <a:endParaRPr/>
          </a:p>
        </p:txBody>
      </p:sp>
      <p:sp>
        <p:nvSpPr>
          <p:cNvPr id="564" name="Google Shape;564;p37"/>
          <p:cNvSpPr txBox="1"/>
          <p:nvPr/>
        </p:nvSpPr>
        <p:spPr>
          <a:xfrm>
            <a:off x="1000125" y="1799183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Apply Mitigating Controls: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When immediate software patching is not possible, deploy temporary WAF blocks or isolate vulnerable systems.</a:t>
            </a:r>
            <a:endParaRPr/>
          </a:p>
        </p:txBody>
      </p:sp>
      <p:sp>
        <p:nvSpPr>
          <p:cNvPr id="565" name="Google Shape;565;p37"/>
          <p:cNvSpPr txBox="1"/>
          <p:nvPr/>
        </p:nvSpPr>
        <p:spPr>
          <a:xfrm>
            <a:off x="1000125" y="2163514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Independent Re-testing: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Always run post-remediation regression tests to verify that applied fixes have successfully resolved vulnerabilities.</a:t>
            </a:r>
            <a:endParaRPr/>
          </a:p>
        </p:txBody>
      </p:sp>
      <p:pic>
        <p:nvPicPr>
          <p:cNvPr id="566" name="Google Shape;56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0943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4586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822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18732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7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Remediating Security Findings</a:t>
            </a: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8"/>
          <p:cNvSpPr txBox="1"/>
          <p:nvPr/>
        </p:nvSpPr>
        <p:spPr>
          <a:xfrm>
            <a:off x="2314575" y="4179094"/>
            <a:ext cx="762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This combined approach transforms raw penetration test reports into real defensive capability improvements, helping defensive operators learn to detect advanced threat indicators.</a:t>
            </a:r>
            <a:endParaRPr dirty="0"/>
          </a:p>
        </p:txBody>
      </p:sp>
      <p:sp>
        <p:nvSpPr>
          <p:cNvPr id="579" name="Google Shape;579;p38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580" name="Google Shape;580;p38"/>
          <p:cNvSpPr txBox="1"/>
          <p:nvPr/>
        </p:nvSpPr>
        <p:spPr>
          <a:xfrm>
            <a:off x="5419725" y="65341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3: Offensive Testing</a:t>
            </a:r>
            <a:endParaRPr/>
          </a:p>
        </p:txBody>
      </p:sp>
      <p:sp>
        <p:nvSpPr>
          <p:cNvPr id="581" name="Google Shape;581;p38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26 of 49</a:t>
            </a:r>
            <a:endParaRPr/>
          </a:p>
        </p:txBody>
      </p:sp>
      <p:sp>
        <p:nvSpPr>
          <p:cNvPr id="582" name="Google Shape;582;p38"/>
          <p:cNvSpPr txBox="1"/>
          <p:nvPr/>
        </p:nvSpPr>
        <p:spPr>
          <a:xfrm>
            <a:off x="2286000" y="1356270"/>
            <a:ext cx="762000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0A192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"True resilience is built through collaboration. Purple Teaming breaks down operational silos, matching Red Team offensive plays directly with Blue Team defensive controls in real-time." </a:t>
            </a:r>
            <a:endParaRPr/>
          </a:p>
        </p:txBody>
      </p:sp>
      <p:sp>
        <p:nvSpPr>
          <p:cNvPr id="583" name="Google Shape;583;p38"/>
          <p:cNvSpPr txBox="1"/>
          <p:nvPr/>
        </p:nvSpPr>
        <p:spPr>
          <a:xfrm>
            <a:off x="4319587" y="3349791"/>
            <a:ext cx="35528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Advanced Defensive Engineering Frameworks</a:t>
            </a:r>
            <a:endParaRPr dirty="0"/>
          </a:p>
        </p:txBody>
      </p:sp>
      <p:sp>
        <p:nvSpPr>
          <p:cNvPr id="584" name="Google Shape;584;p38"/>
          <p:cNvSpPr txBox="1"/>
          <p:nvPr/>
        </p:nvSpPr>
        <p:spPr>
          <a:xfrm>
            <a:off x="1952625" y="1022895"/>
            <a:ext cx="27622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1" u="none" strike="noStrike" cap="none">
                <a:solidFill>
                  <a:srgbClr val="0EA5E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</a:t>
            </a:r>
            <a:endParaRPr/>
          </a:p>
        </p:txBody>
      </p:sp>
      <p:sp>
        <p:nvSpPr>
          <p:cNvPr id="585" name="Google Shape;585;p38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The Purple Teaming Mandate</a:t>
            </a:r>
            <a:endParaRPr/>
          </a:p>
        </p:txBody>
      </p:sp>
      <p:sp>
        <p:nvSpPr>
          <p:cNvPr id="586" name="Google Shape;586;p38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9"/>
          <p:cNvSpPr txBox="1"/>
          <p:nvPr/>
        </p:nvSpPr>
        <p:spPr>
          <a:xfrm>
            <a:off x="5510212" y="2266950"/>
            <a:ext cx="12477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04</a:t>
            </a:r>
            <a:endParaRPr/>
          </a:p>
        </p:txBody>
      </p:sp>
      <p:sp>
        <p:nvSpPr>
          <p:cNvPr id="594" name="Google Shape;594;p39"/>
          <p:cNvSpPr txBox="1"/>
          <p:nvPr/>
        </p:nvSpPr>
        <p:spPr>
          <a:xfrm>
            <a:off x="4153852" y="2590800"/>
            <a:ext cx="39604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 Security 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Risk Management</a:t>
            </a:r>
            <a:endParaRPr/>
          </a:p>
        </p:txBody>
      </p:sp>
      <p:sp>
        <p:nvSpPr>
          <p:cNvPr id="595" name="Google Shape;595;p39"/>
          <p:cNvSpPr/>
          <p:nvPr/>
        </p:nvSpPr>
        <p:spPr>
          <a:xfrm>
            <a:off x="5657850" y="36957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2800350" y="39243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workloads in public and private clouds by mastering shared responsibility models, posture management, and landing zone patterns.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0"/>
          <p:cNvSpPr/>
          <p:nvPr/>
        </p:nvSpPr>
        <p:spPr>
          <a:xfrm>
            <a:off x="666750" y="1070520"/>
            <a:ext cx="10858500" cy="1981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40"/>
          <p:cNvGraphicFramePr/>
          <p:nvPr/>
        </p:nvGraphicFramePr>
        <p:xfrm>
          <a:off x="666750" y="1070520"/>
          <a:ext cx="10848975" cy="198125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383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Security Responsibility Element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Infrastructure (IaaS)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Platform (PaaS)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Software (SaaS)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Classification &amp; IAM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Customer Owned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Customer Owned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Customer Owned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Operating System &amp; Updates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Customer Owned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 Controls / Ports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Shared Configuration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Physical Host &amp; 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Cloud Provider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5" name="Google Shape;605;p40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06" name="Google Shape;606;p40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607" name="Google Shape;607;p40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28 of 49</a:t>
            </a:r>
            <a:endParaRPr/>
          </a:p>
        </p:txBody>
      </p:sp>
      <p:sp>
        <p:nvSpPr>
          <p:cNvPr id="608" name="Google Shape;608;p40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Shared Responsibility Matrix</a:t>
            </a:r>
            <a:endParaRPr/>
          </a:p>
        </p:txBody>
      </p:sp>
      <p:sp>
        <p:nvSpPr>
          <p:cNvPr id="609" name="Google Shape;609;p40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1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20" name="Google Shape;620;p41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621" name="Google Shape;621;p41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29 of 49</a:t>
            </a:r>
            <a:endParaRPr/>
          </a:p>
        </p:txBody>
      </p:sp>
      <p:pic>
        <p:nvPicPr>
          <p:cNvPr id="622" name="Google Shape;622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1"/>
          <p:cNvSpPr txBox="1"/>
          <p:nvPr/>
        </p:nvSpPr>
        <p:spPr>
          <a:xfrm>
            <a:off x="1512837" y="207064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Identity Complexity</a:t>
            </a:r>
            <a:endParaRPr/>
          </a:p>
        </p:txBody>
      </p:sp>
      <p:sp>
        <p:nvSpPr>
          <p:cNvPr id="624" name="Google Shape;624;p41"/>
          <p:cNvSpPr txBox="1"/>
          <p:nvPr/>
        </p:nvSpPr>
        <p:spPr>
          <a:xfrm>
            <a:off x="866775" y="2356395"/>
            <a:ext cx="30923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Managing inconsistent user roles and access policies across different cloud providers often leads to security posture drift and over-privileged accounts.</a:t>
            </a:r>
            <a:endParaRPr/>
          </a:p>
        </p:txBody>
      </p:sp>
      <p:pic>
        <p:nvPicPr>
          <p:cNvPr id="625" name="Google Shape;625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1"/>
          <p:cNvSpPr txBox="1"/>
          <p:nvPr/>
        </p:nvSpPr>
        <p:spPr>
          <a:xfrm>
            <a:off x="5335756" y="2070645"/>
            <a:ext cx="152019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Limited Visibility</a:t>
            </a:r>
            <a:endParaRPr/>
          </a:p>
        </p:txBody>
      </p:sp>
      <p:sp>
        <p:nvSpPr>
          <p:cNvPr id="627" name="Google Shape;627;p41"/>
          <p:cNvSpPr txBox="1"/>
          <p:nvPr/>
        </p:nvSpPr>
        <p:spPr>
          <a:xfrm>
            <a:off x="4549675" y="2356395"/>
            <a:ext cx="3092499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lack of unified dashboard views of virtual environments makes it difficult to detect misconfigurations and active threats across multiple cloud regions.</a:t>
            </a:r>
            <a:endParaRPr/>
          </a:p>
        </p:txBody>
      </p:sp>
      <p:pic>
        <p:nvPicPr>
          <p:cNvPr id="628" name="Google Shape;628;p4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1"/>
          <p:cNvSpPr txBox="1"/>
          <p:nvPr/>
        </p:nvSpPr>
        <p:spPr>
          <a:xfrm>
            <a:off x="8748772" y="2070645"/>
            <a:ext cx="206025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Inconsistent Baselines</a:t>
            </a:r>
            <a:endParaRPr/>
          </a:p>
        </p:txBody>
      </p:sp>
      <p:sp>
        <p:nvSpPr>
          <p:cNvPr id="630" name="Google Shape;630;p41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Managing security configurations with different platform tooling can result in weak endpoints and unprotected data segments.</a:t>
            </a:r>
            <a:endParaRPr/>
          </a:p>
        </p:txBody>
      </p:sp>
      <p:pic>
        <p:nvPicPr>
          <p:cNvPr id="631" name="Google Shape;631;p4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912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38688" y="151819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69363" y="1518195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1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Multi-Cloud Defense Barriers</a:t>
            </a:r>
            <a:endParaRPr/>
          </a:p>
        </p:txBody>
      </p:sp>
      <p:sp>
        <p:nvSpPr>
          <p:cNvPr id="635" name="Google Shape;635;p41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2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45" name="Google Shape;645;p42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646" name="Google Shape;646;p42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30 of 49</a:t>
            </a:r>
            <a:endParaRPr/>
          </a:p>
        </p:txBody>
      </p:sp>
      <p:sp>
        <p:nvSpPr>
          <p:cNvPr id="647" name="Google Shape;647;p42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Cloud Security Posture (CSPM)</a:t>
            </a:r>
            <a:endParaRPr/>
          </a:p>
        </p:txBody>
      </p:sp>
      <p:sp>
        <p:nvSpPr>
          <p:cNvPr id="648" name="Google Shape;648;p42"/>
          <p:cNvSpPr txBox="1"/>
          <p:nvPr/>
        </p:nvSpPr>
        <p:spPr>
          <a:xfrm>
            <a:off x="962025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CSPM tools continuously monitor multi-cloud resources to identify and fix configuration drifts and security gaps before exploit.</a:t>
            </a:r>
            <a:endParaRPr/>
          </a:p>
        </p:txBody>
      </p:sp>
      <p:sp>
        <p:nvSpPr>
          <p:cNvPr id="649" name="Google Shape;649;p42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Workload Protection (CWPP)</a:t>
            </a:r>
            <a:endParaRPr/>
          </a:p>
        </p:txBody>
      </p:sp>
      <p:sp>
        <p:nvSpPr>
          <p:cNvPr id="650" name="Google Shape;650;p42"/>
          <p:cNvSpPr txBox="1"/>
          <p:nvPr/>
        </p:nvSpPr>
        <p:spPr>
          <a:xfrm>
            <a:off x="6510337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CWPP solutions focus on protecting the active workloads running inside virtual servers, container platforms, and serverless tasks.</a:t>
            </a:r>
            <a:endParaRPr/>
          </a:p>
        </p:txBody>
      </p:sp>
      <p:sp>
        <p:nvSpPr>
          <p:cNvPr id="651" name="Google Shape;651;p42"/>
          <p:cNvSpPr txBox="1"/>
          <p:nvPr/>
        </p:nvSpPr>
        <p:spPr>
          <a:xfrm>
            <a:off x="1295400" y="2413545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Discovery: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Maps dynamic cloud resources, database buckets, and microservices.</a:t>
            </a:r>
            <a:endParaRPr/>
          </a:p>
        </p:txBody>
      </p:sp>
      <p:sp>
        <p:nvSpPr>
          <p:cNvPr id="652" name="Google Shape;652;p42"/>
          <p:cNvSpPr txBox="1"/>
          <p:nvPr/>
        </p:nvSpPr>
        <p:spPr>
          <a:xfrm>
            <a:off x="1295400" y="2932658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Validates settings against standards like CIS Benchmarks.</a:t>
            </a:r>
            <a:endParaRPr/>
          </a:p>
        </p:txBody>
      </p:sp>
      <p:sp>
        <p:nvSpPr>
          <p:cNvPr id="653" name="Google Shape;653;p42"/>
          <p:cNvSpPr txBox="1"/>
          <p:nvPr/>
        </p:nvSpPr>
        <p:spPr>
          <a:xfrm>
            <a:off x="6843712" y="2413545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Scanning: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Identifies vulnerabilities within application packages and base images.</a:t>
            </a:r>
            <a:endParaRPr/>
          </a:p>
        </p:txBody>
      </p:sp>
      <p:sp>
        <p:nvSpPr>
          <p:cNvPr id="654" name="Google Shape;654;p42"/>
          <p:cNvSpPr txBox="1"/>
          <p:nvPr/>
        </p:nvSpPr>
        <p:spPr>
          <a:xfrm>
            <a:off x="6843712" y="2932658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 Detection: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Flags anomalous host behavior and process actions.</a:t>
            </a:r>
            <a:endParaRPr/>
          </a:p>
        </p:txBody>
      </p:sp>
      <p:pic>
        <p:nvPicPr>
          <p:cNvPr id="655" name="Google Shape;655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4373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29564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43735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Posture Management Platforms</a:t>
            </a:r>
            <a:endParaRPr/>
          </a:p>
        </p:txBody>
      </p:sp>
      <p:sp>
        <p:nvSpPr>
          <p:cNvPr id="659" name="Google Shape;659;p42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3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68" name="Google Shape;668;p43"/>
          <p:cNvSpPr txBox="1"/>
          <p:nvPr/>
        </p:nvSpPr>
        <p:spPr>
          <a:xfrm>
            <a:off x="5495925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669" name="Google Shape;669;p43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31 of 49</a:t>
            </a:r>
            <a:endParaRPr/>
          </a:p>
        </p:txBody>
      </p:sp>
      <p:sp>
        <p:nvSpPr>
          <p:cNvPr id="670" name="Google Shape;670;p43"/>
          <p:cNvSpPr txBox="1"/>
          <p:nvPr/>
        </p:nvSpPr>
        <p:spPr>
          <a:xfrm>
            <a:off x="666750" y="2558057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Enforcing Security by Default</a:t>
            </a:r>
            <a:endParaRPr/>
          </a:p>
        </p:txBody>
      </p:sp>
      <p:sp>
        <p:nvSpPr>
          <p:cNvPr id="671" name="Google Shape;671;p43"/>
          <p:cNvSpPr txBox="1"/>
          <p:nvPr/>
        </p:nvSpPr>
        <p:spPr>
          <a:xfrm>
            <a:off x="666750" y="2929532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 Secure Landing Zone provides pre-configured, compliant cloud environments to ensure new deployments adhere to corporate security baselines from day one.</a:t>
            </a:r>
            <a:endParaRPr/>
          </a:p>
        </p:txBody>
      </p:sp>
      <p:sp>
        <p:nvSpPr>
          <p:cNvPr id="673" name="Google Shape;673;p43"/>
          <p:cNvSpPr txBox="1"/>
          <p:nvPr/>
        </p:nvSpPr>
        <p:spPr>
          <a:xfrm>
            <a:off x="1000125" y="3501032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Transit Gateway Hubs: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Centralizes and monitors both ingress and egress web traffic.</a:t>
            </a:r>
            <a:endParaRPr/>
          </a:p>
        </p:txBody>
      </p:sp>
      <p:sp>
        <p:nvSpPr>
          <p:cNvPr id="674" name="Google Shape;674;p43"/>
          <p:cNvSpPr txBox="1"/>
          <p:nvPr/>
        </p:nvSpPr>
        <p:spPr>
          <a:xfrm>
            <a:off x="1000125" y="3817739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IAM Identity Center: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Streamlines single sign-on (SSO) and simplifies user role assignments.</a:t>
            </a:r>
            <a:endParaRPr/>
          </a:p>
        </p:txBody>
      </p:sp>
      <p:sp>
        <p:nvSpPr>
          <p:cNvPr id="675" name="Google Shape;675;p43"/>
          <p:cNvSpPr txBox="1"/>
          <p:nvPr/>
        </p:nvSpPr>
        <p:spPr>
          <a:xfrm>
            <a:off x="1000125" y="4355901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Centralized Audit Storage: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Securely aggregates logs into isolated, read-only system storage.</a:t>
            </a:r>
            <a:endParaRPr/>
          </a:p>
        </p:txBody>
      </p:sp>
      <p:pic>
        <p:nvPicPr>
          <p:cNvPr id="676" name="Google Shape;676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52484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841551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379714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3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Landing Zone Architectures</a:t>
            </a:r>
            <a:endParaRPr/>
          </a:p>
        </p:txBody>
      </p:sp>
      <p:sp>
        <p:nvSpPr>
          <p:cNvPr id="680" name="Google Shape;680;p43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4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688" name="Google Shape;688;p44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689" name="Google Shape;689;p44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32 of 49</a:t>
            </a:r>
            <a:endParaRPr/>
          </a:p>
        </p:txBody>
      </p:sp>
      <p:sp>
        <p:nvSpPr>
          <p:cNvPr id="690" name="Google Shape;690;p44"/>
          <p:cNvSpPr txBox="1"/>
          <p:nvPr/>
        </p:nvSpPr>
        <p:spPr>
          <a:xfrm>
            <a:off x="1000125" y="1070520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Disable Permanent Root Accounts: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Secure the main administrative accounts and use short-term, identity-federated roles for active tasks.</a:t>
            </a:r>
            <a:endParaRPr/>
          </a:p>
        </p:txBody>
      </p:sp>
      <p:sp>
        <p:nvSpPr>
          <p:cNvPr id="691" name="Google Shape;691;p44"/>
          <p:cNvSpPr txBox="1"/>
          <p:nvPr/>
        </p:nvSpPr>
        <p:spPr>
          <a:xfrm>
            <a:off x="1000125" y="1434851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Enforce Role-Based Access: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Define explicit access scopes tied directly to specific user job functions.</a:t>
            </a:r>
            <a:endParaRPr/>
          </a:p>
        </p:txBody>
      </p:sp>
      <p:sp>
        <p:nvSpPr>
          <p:cNvPr id="692" name="Google Shape;692;p44"/>
          <p:cNvSpPr txBox="1"/>
          <p:nvPr/>
        </p:nvSpPr>
        <p:spPr>
          <a:xfrm>
            <a:off x="1000125" y="1799183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Just-In-Time Elevation (JIT):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Require multi-party approval to temporarily grant elevated access, automatically revoking it after the task.</a:t>
            </a:r>
            <a:endParaRPr/>
          </a:p>
        </p:txBody>
      </p:sp>
      <p:sp>
        <p:nvSpPr>
          <p:cNvPr id="693" name="Google Shape;693;p44"/>
          <p:cNvSpPr txBox="1"/>
          <p:nvPr/>
        </p:nvSpPr>
        <p:spPr>
          <a:xfrm>
            <a:off x="1000125" y="2163514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Regular Identity Audits: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Continually scan active cloud user accounts to identify and remove unused permissions and stale credentials.</a:t>
            </a:r>
            <a:endParaRPr/>
          </a:p>
        </p:txBody>
      </p:sp>
      <p:pic>
        <p:nvPicPr>
          <p:cNvPr id="694" name="Google Shape;694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0943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4586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822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18732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4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Least Privilege Frameworks</a:t>
            </a:r>
            <a:endParaRPr/>
          </a:p>
        </p:txBody>
      </p:sp>
      <p:sp>
        <p:nvSpPr>
          <p:cNvPr id="699" name="Google Shape;699;p44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5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10" name="Google Shape;710;p45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711" name="Google Shape;711;p45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33 of 49</a:t>
            </a:r>
            <a:endParaRPr/>
          </a:p>
        </p:txBody>
      </p:sp>
      <p:pic>
        <p:nvPicPr>
          <p:cNvPr id="712" name="Google Shape;712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5"/>
          <p:cNvSpPr txBox="1"/>
          <p:nvPr/>
        </p:nvSpPr>
        <p:spPr>
          <a:xfrm>
            <a:off x="1667857" y="2070645"/>
            <a:ext cx="149018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Scanning</a:t>
            </a:r>
            <a:endParaRPr/>
          </a:p>
        </p:txBody>
      </p:sp>
      <p:sp>
        <p:nvSpPr>
          <p:cNvPr id="714" name="Google Shape;714;p45"/>
          <p:cNvSpPr txBox="1"/>
          <p:nvPr/>
        </p:nvSpPr>
        <p:spPr>
          <a:xfrm>
            <a:off x="86677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Scanning base container images within continuous deployment integration pipelines (CI/CD) to block builds containing known vulnerabilities.</a:t>
            </a:r>
            <a:endParaRPr/>
          </a:p>
        </p:txBody>
      </p:sp>
      <p:pic>
        <p:nvPicPr>
          <p:cNvPr id="715" name="Google Shape;715;p4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5"/>
          <p:cNvSpPr txBox="1"/>
          <p:nvPr/>
        </p:nvSpPr>
        <p:spPr>
          <a:xfrm>
            <a:off x="5060721" y="2070645"/>
            <a:ext cx="207025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Runtime Enforcement</a:t>
            </a:r>
            <a:endParaRPr/>
          </a:p>
        </p:txBody>
      </p:sp>
      <p:sp>
        <p:nvSpPr>
          <p:cNvPr id="717" name="Google Shape;717;p45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Enforcing strict pod security policies to block root access and prevent unauthorized writes to critical filesystem directories.</a:t>
            </a:r>
            <a:endParaRPr/>
          </a:p>
        </p:txBody>
      </p:sp>
      <p:pic>
        <p:nvPicPr>
          <p:cNvPr id="718" name="Google Shape;718;p4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5"/>
          <p:cNvSpPr txBox="1"/>
          <p:nvPr/>
        </p:nvSpPr>
        <p:spPr>
          <a:xfrm>
            <a:off x="8943796" y="2070645"/>
            <a:ext cx="167020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Network Isolation</a:t>
            </a:r>
            <a:endParaRPr/>
          </a:p>
        </p:txBody>
      </p:sp>
      <p:sp>
        <p:nvSpPr>
          <p:cNvPr id="720" name="Google Shape;720;p45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Deploying micro-segmentation network rules to isolate container-to-container communication and prevent lateral traffic drift.</a:t>
            </a:r>
            <a:endParaRPr/>
          </a:p>
        </p:txBody>
      </p:sp>
      <p:pic>
        <p:nvPicPr>
          <p:cNvPr id="721" name="Google Shape;721;p4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912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72026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21738" y="151819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5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Container and Pod Protection</a:t>
            </a:r>
            <a:endParaRPr/>
          </a:p>
        </p:txBody>
      </p:sp>
      <p:sp>
        <p:nvSpPr>
          <p:cNvPr id="725" name="Google Shape;725;p45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23108"/>
            <a:ext cx="471963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6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36" name="Google Shape;736;p46"/>
          <p:cNvSpPr txBox="1"/>
          <p:nvPr/>
        </p:nvSpPr>
        <p:spPr>
          <a:xfrm>
            <a:off x="5486400" y="6534150"/>
            <a:ext cx="12763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4: Cloud Security</a:t>
            </a:r>
            <a:endParaRPr/>
          </a:p>
        </p:txBody>
      </p:sp>
      <p:sp>
        <p:nvSpPr>
          <p:cNvPr id="737" name="Google Shape;737;p46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34 of 49</a:t>
            </a:r>
            <a:endParaRPr/>
          </a:p>
        </p:txBody>
      </p:sp>
      <p:sp>
        <p:nvSpPr>
          <p:cNvPr id="738" name="Google Shape;738;p46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Quantifying Cloud Risk Parameters</a:t>
            </a:r>
            <a:endParaRPr/>
          </a:p>
        </p:txBody>
      </p:sp>
      <p:sp>
        <p:nvSpPr>
          <p:cNvPr id="739" name="Google Shape;739;p46"/>
          <p:cNvSpPr txBox="1"/>
          <p:nvPr/>
        </p:nvSpPr>
        <p:spPr>
          <a:xfrm>
            <a:off x="962025" y="1775370"/>
            <a:ext cx="4719637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Before executing physical workload migrations, the enterprise must mathematically quantify inherent risk profiles to design correct controls.</a:t>
            </a:r>
            <a:endParaRPr/>
          </a:p>
        </p:txBody>
      </p:sp>
      <p:sp>
        <p:nvSpPr>
          <p:cNvPr id="740" name="Google Shape;740;p46"/>
          <p:cNvSpPr txBox="1"/>
          <p:nvPr/>
        </p:nvSpPr>
        <p:spPr>
          <a:xfrm>
            <a:off x="962025" y="3447008"/>
            <a:ext cx="471963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Where total cloud risk scales downward with high Control Effectiveness (C_eff).</a:t>
            </a:r>
            <a:endParaRPr/>
          </a:p>
        </p:txBody>
      </p:sp>
      <p:sp>
        <p:nvSpPr>
          <p:cNvPr id="741" name="Google Shape;741;p46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Evaluating Risk Variables</a:t>
            </a:r>
            <a:endParaRPr/>
          </a:p>
        </p:txBody>
      </p:sp>
      <p:pic>
        <p:nvPicPr>
          <p:cNvPr id="742" name="Google Shape;742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96678" y="2894558"/>
            <a:ext cx="269780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6"/>
          <p:cNvSpPr txBox="1"/>
          <p:nvPr/>
        </p:nvSpPr>
        <p:spPr>
          <a:xfrm>
            <a:off x="6843712" y="1775370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V_i (Vulnerabilities):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Flaws introduced by poor platform configuration.</a:t>
            </a:r>
            <a:endParaRPr/>
          </a:p>
        </p:txBody>
      </p:sp>
      <p:sp>
        <p:nvSpPr>
          <p:cNvPr id="744" name="Google Shape;744;p46"/>
          <p:cNvSpPr txBox="1"/>
          <p:nvPr/>
        </p:nvSpPr>
        <p:spPr>
          <a:xfrm>
            <a:off x="6843712" y="2313533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T_i (Threat Vectors):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Target surface exposed to the web.</a:t>
            </a:r>
            <a:endParaRPr/>
          </a:p>
        </p:txBody>
      </p:sp>
      <p:sp>
        <p:nvSpPr>
          <p:cNvPr id="745" name="Google Shape;745;p46"/>
          <p:cNvSpPr txBox="1"/>
          <p:nvPr/>
        </p:nvSpPr>
        <p:spPr>
          <a:xfrm>
            <a:off x="6843712" y="2630239"/>
            <a:ext cx="438626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C_eff (Controls):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Encryption, IAM governance, and active posture tools.</a:t>
            </a:r>
            <a:endParaRPr/>
          </a:p>
        </p:txBody>
      </p:sp>
      <p:pic>
        <p:nvPicPr>
          <p:cNvPr id="746" name="Google Shape;746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179918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33734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65405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6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Cloud Migration Risk Equation</a:t>
            </a:r>
            <a:endParaRPr/>
          </a:p>
        </p:txBody>
      </p:sp>
      <p:sp>
        <p:nvSpPr>
          <p:cNvPr id="750" name="Google Shape;750;p46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7"/>
          <p:cNvSpPr txBox="1"/>
          <p:nvPr/>
        </p:nvSpPr>
        <p:spPr>
          <a:xfrm>
            <a:off x="5514975" y="249555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05</a:t>
            </a:r>
            <a:endParaRPr/>
          </a:p>
        </p:txBody>
      </p:sp>
      <p:sp>
        <p:nvSpPr>
          <p:cNvPr id="758" name="Google Shape;758;p47"/>
          <p:cNvSpPr txBox="1"/>
          <p:nvPr/>
        </p:nvSpPr>
        <p:spPr>
          <a:xfrm>
            <a:off x="3298745" y="2819400"/>
            <a:ext cx="56707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Securing Endpoint Devices</a:t>
            </a:r>
            <a:endParaRPr/>
          </a:p>
        </p:txBody>
      </p:sp>
      <p:sp>
        <p:nvSpPr>
          <p:cNvPr id="759" name="Google Shape;759;p47"/>
          <p:cNvSpPr/>
          <p:nvPr/>
        </p:nvSpPr>
        <p:spPr>
          <a:xfrm>
            <a:off x="5657850" y="34671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7"/>
          <p:cNvSpPr txBox="1"/>
          <p:nvPr/>
        </p:nvSpPr>
        <p:spPr>
          <a:xfrm>
            <a:off x="2800350" y="36957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corporate host systems, client endpoints, and mobile terminals through unified endpoint management, defense agents, and zero-trust configuration policies.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25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8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71" name="Google Shape;771;p48"/>
          <p:cNvSpPr txBox="1"/>
          <p:nvPr/>
        </p:nvSpPr>
        <p:spPr>
          <a:xfrm>
            <a:off x="5357812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772" name="Google Shape;772;p48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36 of 49</a:t>
            </a:r>
            <a:endParaRPr/>
          </a:p>
        </p:txBody>
      </p:sp>
      <p:pic>
        <p:nvPicPr>
          <p:cNvPr id="773" name="Google Shape;773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48"/>
          <p:cNvSpPr txBox="1"/>
          <p:nvPr/>
        </p:nvSpPr>
        <p:spPr>
          <a:xfrm>
            <a:off x="1422826" y="2070645"/>
            <a:ext cx="198024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Ransomware Vectors</a:t>
            </a:r>
            <a:endParaRPr/>
          </a:p>
        </p:txBody>
      </p:sp>
      <p:sp>
        <p:nvSpPr>
          <p:cNvPr id="775" name="Google Shape;775;p48"/>
          <p:cNvSpPr txBox="1"/>
          <p:nvPr/>
        </p:nvSpPr>
        <p:spPr>
          <a:xfrm>
            <a:off x="866775" y="2356395"/>
            <a:ext cx="30923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Malicious payloads launched from user workstations that rapidly encrypt local storage systems and connected corporate network shares.</a:t>
            </a:r>
            <a:endParaRPr/>
          </a:p>
        </p:txBody>
      </p:sp>
      <p:pic>
        <p:nvPicPr>
          <p:cNvPr id="776" name="Google Shape;776;p4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48"/>
          <p:cNvSpPr txBox="1"/>
          <p:nvPr/>
        </p:nvSpPr>
        <p:spPr>
          <a:xfrm>
            <a:off x="5085724" y="2070645"/>
            <a:ext cx="202025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Credential Harvesting</a:t>
            </a:r>
            <a:endParaRPr/>
          </a:p>
        </p:txBody>
      </p:sp>
      <p:sp>
        <p:nvSpPr>
          <p:cNvPr id="778" name="Google Shape;778;p48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Sophisticated local memory dump tools that extract active administrative credentials directly from host operating systems.</a:t>
            </a:r>
            <a:endParaRPr/>
          </a:p>
        </p:txBody>
      </p:sp>
      <p:pic>
        <p:nvPicPr>
          <p:cNvPr id="779" name="Google Shape;779;p4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8"/>
          <p:cNvSpPr txBox="1"/>
          <p:nvPr/>
        </p:nvSpPr>
        <p:spPr>
          <a:xfrm>
            <a:off x="8853785" y="2070645"/>
            <a:ext cx="185023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Lateral Propagation</a:t>
            </a:r>
            <a:endParaRPr/>
          </a:p>
        </p:txBody>
      </p:sp>
      <p:sp>
        <p:nvSpPr>
          <p:cNvPr id="781" name="Google Shape;781;p48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Attackers utilizing compromised local endpoints as pivot terminals to move laterally and access isolated production servers.</a:t>
            </a:r>
            <a:endParaRPr/>
          </a:p>
        </p:txBody>
      </p:sp>
      <p:pic>
        <p:nvPicPr>
          <p:cNvPr id="782" name="Google Shape;782;p4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8912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4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6313" y="151819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21738" y="151819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8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Endpoint Threat Landscape</a:t>
            </a:r>
            <a:endParaRPr/>
          </a:p>
        </p:txBody>
      </p:sp>
      <p:sp>
        <p:nvSpPr>
          <p:cNvPr id="786" name="Google Shape;786;p48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9"/>
          <p:cNvSpPr/>
          <p:nvPr/>
        </p:nvSpPr>
        <p:spPr>
          <a:xfrm>
            <a:off x="666750" y="1070520"/>
            <a:ext cx="108585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4" name="Google Shape;794;p49"/>
          <p:cNvGraphicFramePr/>
          <p:nvPr/>
        </p:nvGraphicFramePr>
        <p:xfrm>
          <a:off x="666750" y="1070520"/>
          <a:ext cx="10848950" cy="2066900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186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Technology 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Area of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Analysis Tooling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Typical Threat Response Capability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Endpoint Protection (EPP)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Blocks known signature-based malware variants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local signature database matches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Deletes or quarantines flagged malicious file segments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Endpoint Detection (EDR)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Identifies active behavioral anomalies on hosts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Dynamic local behavior profiling algorithms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Isolates host system from the active local network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Extended Detection (XDR)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Correlates cross-platform telemetry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Centralized cloud analytics engines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Orchestrates unified responses across host and cloud tools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95" name="Google Shape;795;p49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796" name="Google Shape;796;p49"/>
          <p:cNvSpPr txBox="1"/>
          <p:nvPr/>
        </p:nvSpPr>
        <p:spPr>
          <a:xfrm>
            <a:off x="5362575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797" name="Google Shape;797;p49"/>
          <p:cNvSpPr txBox="1"/>
          <p:nvPr/>
        </p:nvSpPr>
        <p:spPr>
          <a:xfrm>
            <a:off x="10829925" y="6534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37 of 49</a:t>
            </a:r>
            <a:endParaRPr/>
          </a:p>
        </p:txBody>
      </p:sp>
      <p:sp>
        <p:nvSpPr>
          <p:cNvPr id="798" name="Google Shape;798;p49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EDR vs. EPP vs. XDR Platforms</a:t>
            </a:r>
            <a:endParaRPr/>
          </a:p>
        </p:txBody>
      </p:sp>
      <p:sp>
        <p:nvSpPr>
          <p:cNvPr id="799" name="Google Shape;799;p49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50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08" name="Google Shape;808;p50"/>
          <p:cNvSpPr txBox="1"/>
          <p:nvPr/>
        </p:nvSpPr>
        <p:spPr>
          <a:xfrm>
            <a:off x="5357812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809" name="Google Shape;809;p50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38 of 49</a:t>
            </a:r>
            <a:endParaRPr/>
          </a:p>
        </p:txBody>
      </p:sp>
      <p:sp>
        <p:nvSpPr>
          <p:cNvPr id="810" name="Google Shape;810;p50"/>
          <p:cNvSpPr txBox="1"/>
          <p:nvPr/>
        </p:nvSpPr>
        <p:spPr>
          <a:xfrm>
            <a:off x="666750" y="2558057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Enforcing Security on Mobile Endpoints</a:t>
            </a:r>
            <a:endParaRPr/>
          </a:p>
        </p:txBody>
      </p:sp>
      <p:sp>
        <p:nvSpPr>
          <p:cNvPr id="811" name="Google Shape;811;p50"/>
          <p:cNvSpPr txBox="1"/>
          <p:nvPr/>
        </p:nvSpPr>
        <p:spPr>
          <a:xfrm>
            <a:off x="666750" y="2929532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 remote work models scale up, implementing unified mobile device management (MDM) policies is critical to safeguard corporate data on hand-held devices.</a:t>
            </a:r>
            <a:endParaRPr/>
          </a:p>
        </p:txBody>
      </p:sp>
      <p:sp>
        <p:nvSpPr>
          <p:cNvPr id="813" name="Google Shape;813;p50"/>
          <p:cNvSpPr txBox="1"/>
          <p:nvPr/>
        </p:nvSpPr>
        <p:spPr>
          <a:xfrm>
            <a:off x="1000125" y="3501032"/>
            <a:ext cx="6660832" cy="26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Workplace Containers:</a:t>
            </a:r>
            <a:r>
              <a:rPr lang="en-US" sz="1162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Isolate corporate email and apps from personal user software.</a:t>
            </a:r>
            <a:endParaRPr dirty="0"/>
          </a:p>
        </p:txBody>
      </p:sp>
      <p:sp>
        <p:nvSpPr>
          <p:cNvPr id="814" name="Google Shape;814;p50"/>
          <p:cNvSpPr txBox="1"/>
          <p:nvPr/>
        </p:nvSpPr>
        <p:spPr>
          <a:xfrm>
            <a:off x="1000125" y="3817739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Mandatory Device Encryption: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Enforce strong local device passwords and secure data-at-rest encryption.</a:t>
            </a:r>
            <a:endParaRPr/>
          </a:p>
        </p:txBody>
      </p:sp>
      <p:sp>
        <p:nvSpPr>
          <p:cNvPr id="815" name="Google Shape;815;p50"/>
          <p:cNvSpPr txBox="1"/>
          <p:nvPr/>
        </p:nvSpPr>
        <p:spPr>
          <a:xfrm>
            <a:off x="1000125" y="4355901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Remote Erasure Controls: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Enable administrators to remotely wipe corporate data from lost or stolen devices.</a:t>
            </a:r>
            <a:endParaRPr/>
          </a:p>
        </p:txBody>
      </p:sp>
      <p:pic>
        <p:nvPicPr>
          <p:cNvPr id="816" name="Google Shape;816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352484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84155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379714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50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Mobile Device Management</a:t>
            </a:r>
            <a:endParaRPr/>
          </a:p>
        </p:txBody>
      </p:sp>
      <p:sp>
        <p:nvSpPr>
          <p:cNvPr id="820" name="Google Shape;820;p50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070520"/>
            <a:ext cx="5310187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51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30" name="Google Shape;830;p51"/>
          <p:cNvSpPr txBox="1"/>
          <p:nvPr/>
        </p:nvSpPr>
        <p:spPr>
          <a:xfrm>
            <a:off x="5357812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831" name="Google Shape;831;p51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39 of 49</a:t>
            </a:r>
            <a:endParaRPr/>
          </a:p>
        </p:txBody>
      </p:sp>
      <p:sp>
        <p:nvSpPr>
          <p:cNvPr id="832" name="Google Shape;832;p51"/>
          <p:cNvSpPr txBox="1"/>
          <p:nvPr/>
        </p:nvSpPr>
        <p:spPr>
          <a:xfrm>
            <a:off x="962025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Application Allowlisting</a:t>
            </a:r>
            <a:endParaRPr/>
          </a:p>
        </p:txBody>
      </p:sp>
      <p:sp>
        <p:nvSpPr>
          <p:cNvPr id="833" name="Google Shape;833;p51"/>
          <p:cNvSpPr txBox="1"/>
          <p:nvPr/>
        </p:nvSpPr>
        <p:spPr>
          <a:xfrm>
            <a:off x="962025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Allows only authorized software packages to execute, blocking unapproved scripts and malicious binaries by default.</a:t>
            </a:r>
            <a:endParaRPr/>
          </a:p>
        </p:txBody>
      </p:sp>
      <p:sp>
        <p:nvSpPr>
          <p:cNvPr id="834" name="Google Shape;834;p51"/>
          <p:cNvSpPr txBox="1"/>
          <p:nvPr/>
        </p:nvSpPr>
        <p:spPr>
          <a:xfrm>
            <a:off x="6510337" y="1403895"/>
            <a:ext cx="495561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Device Control Regulations</a:t>
            </a:r>
            <a:endParaRPr/>
          </a:p>
        </p:txBody>
      </p:sp>
      <p:sp>
        <p:nvSpPr>
          <p:cNvPr id="835" name="Google Shape;835;p51"/>
          <p:cNvSpPr txBox="1"/>
          <p:nvPr/>
        </p:nvSpPr>
        <p:spPr>
          <a:xfrm>
            <a:off x="6510337" y="1775370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Enforces strict physical interface access rules to block data leakage and prevent local hardware exploits.</a:t>
            </a:r>
            <a:endParaRPr/>
          </a:p>
        </p:txBody>
      </p:sp>
      <p:sp>
        <p:nvSpPr>
          <p:cNvPr id="836" name="Google Shape;836;p51"/>
          <p:cNvSpPr txBox="1"/>
          <p:nvPr/>
        </p:nvSpPr>
        <p:spPr>
          <a:xfrm>
            <a:off x="1295400" y="2413545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Block execution of untrusted, unsigned executable binaries.</a:t>
            </a:r>
            <a:endParaRPr/>
          </a:p>
        </p:txBody>
      </p:sp>
      <p:sp>
        <p:nvSpPr>
          <p:cNvPr id="837" name="Google Shape;837;p51"/>
          <p:cNvSpPr txBox="1"/>
          <p:nvPr/>
        </p:nvSpPr>
        <p:spPr>
          <a:xfrm>
            <a:off x="1295400" y="2711201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Restrict script engines like PowerShell to authenticated users.</a:t>
            </a:r>
            <a:endParaRPr/>
          </a:p>
        </p:txBody>
      </p:sp>
      <p:sp>
        <p:nvSpPr>
          <p:cNvPr id="838" name="Google Shape;838;p51"/>
          <p:cNvSpPr txBox="1"/>
          <p:nvPr/>
        </p:nvSpPr>
        <p:spPr>
          <a:xfrm>
            <a:off x="6843712" y="2413545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Block unencrypted, unauthorized mass storage USB devices.</a:t>
            </a:r>
            <a:endParaRPr/>
          </a:p>
        </p:txBody>
      </p:sp>
      <p:sp>
        <p:nvSpPr>
          <p:cNvPr id="839" name="Google Shape;839;p51"/>
          <p:cNvSpPr txBox="1"/>
          <p:nvPr/>
        </p:nvSpPr>
        <p:spPr>
          <a:xfrm>
            <a:off x="6843712" y="2711201"/>
            <a:ext cx="438626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Require secure VPN tunnels for all public wireless networks.</a:t>
            </a:r>
            <a:endParaRPr/>
          </a:p>
        </p:txBody>
      </p:sp>
      <p:pic>
        <p:nvPicPr>
          <p:cNvPr id="840" name="Google Shape;840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437358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2735014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2437358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7962" y="2735014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51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Host Level Control Policies</a:t>
            </a:r>
            <a:endParaRPr/>
          </a:p>
        </p:txBody>
      </p:sp>
      <p:sp>
        <p:nvSpPr>
          <p:cNvPr id="845" name="Google Shape;845;p51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89833"/>
            <a:ext cx="2388840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189833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5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5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2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57" name="Google Shape;857;p52"/>
          <p:cNvSpPr txBox="1"/>
          <p:nvPr/>
        </p:nvSpPr>
        <p:spPr>
          <a:xfrm>
            <a:off x="5357812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858" name="Google Shape;858;p52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40 of 49</a:t>
            </a:r>
            <a:endParaRPr/>
          </a:p>
        </p:txBody>
      </p:sp>
      <p:sp>
        <p:nvSpPr>
          <p:cNvPr id="859" name="Google Shape;859;p52"/>
          <p:cNvSpPr/>
          <p:nvPr/>
        </p:nvSpPr>
        <p:spPr>
          <a:xfrm>
            <a:off x="666750" y="300409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2"/>
          <p:cNvSpPr txBox="1"/>
          <p:nvPr/>
        </p:nvSpPr>
        <p:spPr>
          <a:xfrm>
            <a:off x="767048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Identity Challenge</a:t>
            </a:r>
            <a:endParaRPr/>
          </a:p>
        </p:txBody>
      </p:sp>
      <p:sp>
        <p:nvSpPr>
          <p:cNvPr id="861" name="Google Shape;861;p52"/>
          <p:cNvSpPr txBox="1"/>
          <p:nvPr/>
        </p:nvSpPr>
        <p:spPr>
          <a:xfrm>
            <a:off x="819150" y="3561308"/>
            <a:ext cx="2084040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Execute identity check using phishing-resistant FIDO2 hardware keys.</a:t>
            </a:r>
            <a:endParaRPr/>
          </a:p>
        </p:txBody>
      </p:sp>
      <p:sp>
        <p:nvSpPr>
          <p:cNvPr id="862" name="Google Shape;862;p52"/>
          <p:cNvSpPr txBox="1"/>
          <p:nvPr/>
        </p:nvSpPr>
        <p:spPr>
          <a:xfrm>
            <a:off x="3590169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Posture Check</a:t>
            </a:r>
            <a:endParaRPr/>
          </a:p>
        </p:txBody>
      </p:sp>
      <p:sp>
        <p:nvSpPr>
          <p:cNvPr id="863" name="Google Shape;863;p52"/>
          <p:cNvSpPr txBox="1"/>
          <p:nvPr/>
        </p:nvSpPr>
        <p:spPr>
          <a:xfrm>
            <a:off x="3642270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Verify host system disk encryption status and check active EDR agent states.</a:t>
            </a:r>
            <a:endParaRPr/>
          </a:p>
        </p:txBody>
      </p:sp>
      <p:sp>
        <p:nvSpPr>
          <p:cNvPr id="864" name="Google Shape;864;p52"/>
          <p:cNvSpPr txBox="1"/>
          <p:nvPr/>
        </p:nvSpPr>
        <p:spPr>
          <a:xfrm>
            <a:off x="6413290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Path Authorization</a:t>
            </a:r>
            <a:endParaRPr/>
          </a:p>
        </p:txBody>
      </p:sp>
      <p:sp>
        <p:nvSpPr>
          <p:cNvPr id="865" name="Google Shape;865;p52"/>
          <p:cNvSpPr txBox="1"/>
          <p:nvPr/>
        </p:nvSpPr>
        <p:spPr>
          <a:xfrm>
            <a:off x="6465391" y="3561308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Grant targeted session-based network access, restricting visibility to other resources.</a:t>
            </a:r>
            <a:endParaRPr/>
          </a:p>
        </p:txBody>
      </p:sp>
      <p:sp>
        <p:nvSpPr>
          <p:cNvPr id="866" name="Google Shape;866;p52"/>
          <p:cNvSpPr txBox="1"/>
          <p:nvPr/>
        </p:nvSpPr>
        <p:spPr>
          <a:xfrm>
            <a:off x="9236411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Continuous Review</a:t>
            </a:r>
            <a:endParaRPr/>
          </a:p>
        </p:txBody>
      </p:sp>
      <p:sp>
        <p:nvSpPr>
          <p:cNvPr id="867" name="Google Shape;867;p52"/>
          <p:cNvSpPr txBox="1"/>
          <p:nvPr/>
        </p:nvSpPr>
        <p:spPr>
          <a:xfrm>
            <a:off x="9288512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Continually reassess device posture during active sessions to detect any newly introduced threats.</a:t>
            </a:r>
            <a:endParaRPr/>
          </a:p>
        </p:txBody>
      </p:sp>
      <p:sp>
        <p:nvSpPr>
          <p:cNvPr id="868" name="Google Shape;868;p52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Zero Trust Verification Path</a:t>
            </a:r>
            <a:endParaRPr/>
          </a:p>
        </p:txBody>
      </p:sp>
      <p:sp>
        <p:nvSpPr>
          <p:cNvPr id="869" name="Google Shape;869;p52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2"/>
          <p:cNvSpPr/>
          <p:nvPr/>
        </p:nvSpPr>
        <p:spPr>
          <a:xfrm>
            <a:off x="177544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2"/>
          <p:cNvSpPr/>
          <p:nvPr/>
        </p:nvSpPr>
        <p:spPr>
          <a:xfrm>
            <a:off x="459856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2"/>
          <p:cNvSpPr/>
          <p:nvPr/>
        </p:nvSpPr>
        <p:spPr>
          <a:xfrm>
            <a:off x="7421686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2"/>
          <p:cNvSpPr/>
          <p:nvPr/>
        </p:nvSpPr>
        <p:spPr>
          <a:xfrm>
            <a:off x="10244807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10858500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53"/>
          <p:cNvSpPr txBox="1"/>
          <p:nvPr/>
        </p:nvSpPr>
        <p:spPr>
          <a:xfrm>
            <a:off x="666750" y="3880395"/>
            <a:ext cx="108585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Automated patch management drastically reduces patch deployment cycles and scales up network vulnerability defense.</a:t>
            </a:r>
            <a:endParaRPr/>
          </a:p>
        </p:txBody>
      </p:sp>
      <p:sp>
        <p:nvSpPr>
          <p:cNvPr id="882" name="Google Shape;882;p53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83" name="Google Shape;883;p53"/>
          <p:cNvSpPr txBox="1"/>
          <p:nvPr/>
        </p:nvSpPr>
        <p:spPr>
          <a:xfrm>
            <a:off x="5367337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884" name="Google Shape;884;p53"/>
          <p:cNvSpPr txBox="1"/>
          <p:nvPr/>
        </p:nvSpPr>
        <p:spPr>
          <a:xfrm>
            <a:off x="10839450" y="6534150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41 of 49</a:t>
            </a:r>
            <a:endParaRPr/>
          </a:p>
        </p:txBody>
      </p:sp>
      <p:sp>
        <p:nvSpPr>
          <p:cNvPr id="885" name="Google Shape;885;p53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Patch and Asset Audits</a:t>
            </a:r>
            <a:endParaRPr/>
          </a:p>
        </p:txBody>
      </p:sp>
      <p:sp>
        <p:nvSpPr>
          <p:cNvPr id="886" name="Google Shape;886;p53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54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894" name="Google Shape;894;p54"/>
          <p:cNvSpPr txBox="1"/>
          <p:nvPr/>
        </p:nvSpPr>
        <p:spPr>
          <a:xfrm>
            <a:off x="5357812" y="65341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5: Securing Endpoints</a:t>
            </a:r>
            <a:endParaRPr/>
          </a:p>
        </p:txBody>
      </p:sp>
      <p:sp>
        <p:nvSpPr>
          <p:cNvPr id="895" name="Google Shape;895;p54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42 of 49</a:t>
            </a:r>
            <a:endParaRPr/>
          </a:p>
        </p:txBody>
      </p:sp>
      <p:sp>
        <p:nvSpPr>
          <p:cNvPr id="896" name="Google Shape;896;p54"/>
          <p:cNvSpPr txBox="1"/>
          <p:nvPr/>
        </p:nvSpPr>
        <p:spPr>
          <a:xfrm>
            <a:off x="1000125" y="1070520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Mandatory Device Registration: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Require all personal devices accessing network systems to register with the corporate unified management platform.</a:t>
            </a:r>
            <a:endParaRPr/>
          </a:p>
        </p:txBody>
      </p:sp>
      <p:sp>
        <p:nvSpPr>
          <p:cNvPr id="897" name="Google Shape;897;p54"/>
          <p:cNvSpPr txBox="1"/>
          <p:nvPr/>
        </p:nvSpPr>
        <p:spPr>
          <a:xfrm>
            <a:off x="1000125" y="1434851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Strict Storage Isolation: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Enforce separate secure workplace storage zones to prevent corporate data leakages to personal personal memory sectors.</a:t>
            </a:r>
            <a:endParaRPr/>
          </a:p>
        </p:txBody>
      </p:sp>
      <p:sp>
        <p:nvSpPr>
          <p:cNvPr id="898" name="Google Shape;898;p54"/>
          <p:cNvSpPr txBox="1"/>
          <p:nvPr/>
        </p:nvSpPr>
        <p:spPr>
          <a:xfrm>
            <a:off x="1000125" y="1799183"/>
            <a:ext cx="105251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Ongoing Posture Scanning: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Block access from personal devices containing root software configurations or unpatched operating systems.</a:t>
            </a:r>
            <a:endParaRPr/>
          </a:p>
        </p:txBody>
      </p:sp>
      <p:sp>
        <p:nvSpPr>
          <p:cNvPr id="899" name="Google Shape;899;p54"/>
          <p:cNvSpPr txBox="1"/>
          <p:nvPr/>
        </p:nvSpPr>
        <p:spPr>
          <a:xfrm>
            <a:off x="1000125" y="2163514"/>
            <a:ext cx="105251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Coordinated Wipe Protocols: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Ensure clear operational guidelines to wipe only corporate data segments, leaving personal photos and applications untouched.</a:t>
            </a:r>
            <a:endParaRPr/>
          </a:p>
        </p:txBody>
      </p:sp>
      <p:pic>
        <p:nvPicPr>
          <p:cNvPr id="900" name="Google Shape;900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094333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45866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18229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187326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54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BYOD Policy Execution</a:t>
            </a:r>
            <a:endParaRPr/>
          </a:p>
        </p:txBody>
      </p:sp>
      <p:sp>
        <p:nvSpPr>
          <p:cNvPr id="905" name="Google Shape;905;p54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55"/>
          <p:cNvSpPr txBox="1"/>
          <p:nvPr/>
        </p:nvSpPr>
        <p:spPr>
          <a:xfrm>
            <a:off x="5514975" y="226695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Montserrat"/>
                <a:ea typeface="Montserrat"/>
                <a:cs typeface="Montserrat"/>
                <a:sym typeface="Montserrat"/>
              </a:rPr>
              <a:t>MODULE 06</a:t>
            </a:r>
            <a:endParaRPr/>
          </a:p>
        </p:txBody>
      </p:sp>
      <p:sp>
        <p:nvSpPr>
          <p:cNvPr id="913" name="Google Shape;913;p55"/>
          <p:cNvSpPr txBox="1"/>
          <p:nvPr/>
        </p:nvSpPr>
        <p:spPr>
          <a:xfrm>
            <a:off x="3683793" y="2590800"/>
            <a:ext cx="49006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Developing an Incident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Response Team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5657850" y="369570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5"/>
          <p:cNvSpPr txBox="1"/>
          <p:nvPr/>
        </p:nvSpPr>
        <p:spPr>
          <a:xfrm>
            <a:off x="2800350" y="39243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Structuring highly effective incident response teams, defining tactical operational roles, and engineering clear response playbooks to contain cyber breaches.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70520"/>
            <a:ext cx="3492549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070520"/>
            <a:ext cx="3492400" cy="2073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56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26" name="Google Shape;926;p56"/>
          <p:cNvSpPr txBox="1"/>
          <p:nvPr/>
        </p:nvSpPr>
        <p:spPr>
          <a:xfrm>
            <a:off x="5243512" y="6534150"/>
            <a:ext cx="1762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Incident Response Team</a:t>
            </a:r>
            <a:endParaRPr/>
          </a:p>
        </p:txBody>
      </p:sp>
      <p:sp>
        <p:nvSpPr>
          <p:cNvPr id="927" name="Google Shape;927;p56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44 of 49</a:t>
            </a:r>
            <a:endParaRPr/>
          </a:p>
        </p:txBody>
      </p:sp>
      <p:pic>
        <p:nvPicPr>
          <p:cNvPr id="928" name="Google Shape;928;p5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56"/>
          <p:cNvSpPr txBox="1"/>
          <p:nvPr/>
        </p:nvSpPr>
        <p:spPr>
          <a:xfrm>
            <a:off x="1597848" y="2070645"/>
            <a:ext cx="163020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Incident Manager</a:t>
            </a:r>
            <a:endParaRPr/>
          </a:p>
        </p:txBody>
      </p:sp>
      <p:sp>
        <p:nvSpPr>
          <p:cNvPr id="930" name="Google Shape;930;p56"/>
          <p:cNvSpPr txBox="1"/>
          <p:nvPr/>
        </p:nvSpPr>
        <p:spPr>
          <a:xfrm>
            <a:off x="86677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Orchestrates response activities, coordinates department tasks, manages executive reporting channels, and owns final containment sign-offs.</a:t>
            </a:r>
            <a:endParaRPr/>
          </a:p>
        </p:txBody>
      </p:sp>
      <p:pic>
        <p:nvPicPr>
          <p:cNvPr id="931" name="Google Shape;931;p5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6"/>
          <p:cNvSpPr txBox="1"/>
          <p:nvPr/>
        </p:nvSpPr>
        <p:spPr>
          <a:xfrm>
            <a:off x="5415766" y="2070645"/>
            <a:ext cx="136017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 Lead</a:t>
            </a:r>
            <a:endParaRPr/>
          </a:p>
        </p:txBody>
      </p:sp>
      <p:sp>
        <p:nvSpPr>
          <p:cNvPr id="933" name="Google Shape;933;p56"/>
          <p:cNvSpPr txBox="1"/>
          <p:nvPr/>
        </p:nvSpPr>
        <p:spPr>
          <a:xfrm>
            <a:off x="4549675" y="2356395"/>
            <a:ext cx="3092499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Coordinates system analysis and containment efforts, performs digital forensics, and guides the technical recovery of network systems.</a:t>
            </a:r>
            <a:endParaRPr/>
          </a:p>
        </p:txBody>
      </p:sp>
      <p:pic>
        <p:nvPicPr>
          <p:cNvPr id="934" name="Google Shape;934;p5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93150" y="13562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56"/>
          <p:cNvSpPr txBox="1"/>
          <p:nvPr/>
        </p:nvSpPr>
        <p:spPr>
          <a:xfrm>
            <a:off x="8888789" y="2070645"/>
            <a:ext cx="178022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Legal &amp; PR Counsel</a:t>
            </a:r>
            <a:endParaRPr/>
          </a:p>
        </p:txBody>
      </p:sp>
      <p:sp>
        <p:nvSpPr>
          <p:cNvPr id="936" name="Google Shape;936;p56"/>
          <p:cNvSpPr txBox="1"/>
          <p:nvPr/>
        </p:nvSpPr>
        <p:spPr>
          <a:xfrm>
            <a:off x="8232725" y="2356395"/>
            <a:ext cx="3092350" cy="53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Ensures legal compliance, drafts regulatory notification letters, and manages all external public communication channels.</a:t>
            </a:r>
            <a:endParaRPr/>
          </a:p>
        </p:txBody>
      </p:sp>
      <p:pic>
        <p:nvPicPr>
          <p:cNvPr id="937" name="Google Shape;937;p5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55787" y="151819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57738" y="1518195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55075" y="151819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56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CSIRT Structural Architecture</a:t>
            </a:r>
            <a:endParaRPr/>
          </a:p>
        </p:txBody>
      </p:sp>
      <p:sp>
        <p:nvSpPr>
          <p:cNvPr id="941" name="Google Shape;941;p56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57"/>
          <p:cNvSpPr/>
          <p:nvPr/>
        </p:nvSpPr>
        <p:spPr>
          <a:xfrm>
            <a:off x="666750" y="1070520"/>
            <a:ext cx="10858500" cy="15811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9" name="Google Shape;949;p57"/>
          <p:cNvGraphicFramePr/>
          <p:nvPr/>
        </p:nvGraphicFramePr>
        <p:xfrm>
          <a:off x="666750" y="1070520"/>
          <a:ext cx="10849000" cy="1581125"/>
        </p:xfrm>
        <a:graphic>
          <a:graphicData uri="http://schemas.openxmlformats.org/drawingml/2006/table">
            <a:tbl>
              <a:tblPr firstRow="1" bandRow="1">
                <a:noFill/>
                <a:tableStyleId>{80CF158B-6D6E-4181-99FF-11F4043EFF3D}</a:tableStyleId>
              </a:tblPr>
              <a:tblGrid>
                <a:gridCol w="259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Tactical Phase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Incident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Forensics Analyst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Executive Sponsor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37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 Counsel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Triage &amp;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Accountable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Responsible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Host Network Isolation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Accountable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Responsible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 Press Disclosures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Consulted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Informed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Accountable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7" b="0" i="0" u="none" strike="noStrike" cap="none"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Responsible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50" name="Google Shape;950;p57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51" name="Google Shape;951;p57"/>
          <p:cNvSpPr txBox="1"/>
          <p:nvPr/>
        </p:nvSpPr>
        <p:spPr>
          <a:xfrm>
            <a:off x="5243512" y="6534150"/>
            <a:ext cx="1762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Incident Response Team</a:t>
            </a:r>
            <a:endParaRPr/>
          </a:p>
        </p:txBody>
      </p:sp>
      <p:sp>
        <p:nvSpPr>
          <p:cNvPr id="952" name="Google Shape;952;p57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45 of 49</a:t>
            </a:r>
            <a:endParaRPr/>
          </a:p>
        </p:txBody>
      </p:sp>
      <p:sp>
        <p:nvSpPr>
          <p:cNvPr id="953" name="Google Shape;953;p57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Response Escalation RACI</a:t>
            </a:r>
            <a:endParaRPr/>
          </a:p>
        </p:txBody>
      </p:sp>
      <p:sp>
        <p:nvSpPr>
          <p:cNvPr id="954" name="Google Shape;954;p57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oogle Shape;959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6150" y="1868685"/>
            <a:ext cx="42291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8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63" name="Google Shape;963;p58"/>
          <p:cNvSpPr txBox="1"/>
          <p:nvPr/>
        </p:nvSpPr>
        <p:spPr>
          <a:xfrm>
            <a:off x="5243512" y="6534150"/>
            <a:ext cx="1762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Incident Response Team</a:t>
            </a:r>
            <a:endParaRPr/>
          </a:p>
        </p:txBody>
      </p:sp>
      <p:sp>
        <p:nvSpPr>
          <p:cNvPr id="964" name="Google Shape;964;p58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46 of 49</a:t>
            </a:r>
            <a:endParaRPr/>
          </a:p>
        </p:txBody>
      </p:sp>
      <p:sp>
        <p:nvSpPr>
          <p:cNvPr id="965" name="Google Shape;965;p58"/>
          <p:cNvSpPr txBox="1"/>
          <p:nvPr/>
        </p:nvSpPr>
        <p:spPr>
          <a:xfrm>
            <a:off x="666750" y="2558057"/>
            <a:ext cx="66608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Bridging Detection and Response</a:t>
            </a:r>
            <a:endParaRPr/>
          </a:p>
        </p:txBody>
      </p:sp>
      <p:sp>
        <p:nvSpPr>
          <p:cNvPr id="966" name="Google Shape;966;p58"/>
          <p:cNvSpPr txBox="1"/>
          <p:nvPr/>
        </p:nvSpPr>
        <p:spPr>
          <a:xfrm>
            <a:off x="666750" y="2929532"/>
            <a:ext cx="6343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operate effectively, the Incident Response Team (CSIRT) must integrate directly with the Security Operations Center (SOC) to streamline threat handoffs.</a:t>
            </a:r>
            <a:endParaRPr/>
          </a:p>
        </p:txBody>
      </p:sp>
      <p:pic>
        <p:nvPicPr>
          <p:cNvPr id="967" name="Google Shape;967;p5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5675" y="1878210"/>
            <a:ext cx="4210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58"/>
          <p:cNvSpPr txBox="1"/>
          <p:nvPr/>
        </p:nvSpPr>
        <p:spPr>
          <a:xfrm>
            <a:off x="1000125" y="3501032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Unified Alerts: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Real-time event telemetry routing from the SOC directly to response queues.</a:t>
            </a:r>
            <a:endParaRPr/>
          </a:p>
        </p:txBody>
      </p:sp>
      <p:sp>
        <p:nvSpPr>
          <p:cNvPr id="969" name="Google Shape;969;p58"/>
          <p:cNvSpPr txBox="1"/>
          <p:nvPr/>
        </p:nvSpPr>
        <p:spPr>
          <a:xfrm>
            <a:off x="1000125" y="4039195"/>
            <a:ext cx="60102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Shared Telemetry: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Providing analysts with direct access to containment status data.</a:t>
            </a:r>
            <a:endParaRPr/>
          </a:p>
        </p:txBody>
      </p:sp>
      <p:sp>
        <p:nvSpPr>
          <p:cNvPr id="970" name="Google Shape;970;p58"/>
          <p:cNvSpPr txBox="1"/>
          <p:nvPr/>
        </p:nvSpPr>
        <p:spPr>
          <a:xfrm>
            <a:off x="1000125" y="4355901"/>
            <a:ext cx="60102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0A19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Coordinated Feedback:</a:t>
            </a:r>
            <a:r>
              <a:rPr lang="en-US" sz="1162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Translating response findings into new system detection rules.</a:t>
            </a:r>
            <a:endParaRPr/>
          </a:p>
        </p:txBody>
      </p:sp>
      <p:pic>
        <p:nvPicPr>
          <p:cNvPr id="971" name="Google Shape;971;p5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352484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406300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4379714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8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SOC Integration and Roles</a:t>
            </a:r>
            <a:endParaRPr/>
          </a:p>
        </p:txBody>
      </p:sp>
      <p:sp>
        <p:nvSpPr>
          <p:cNvPr id="975" name="Google Shape;975;p58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89833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189833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36112" y="1886991"/>
            <a:ext cx="2388840" cy="969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59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987" name="Google Shape;987;p59"/>
          <p:cNvSpPr txBox="1"/>
          <p:nvPr/>
        </p:nvSpPr>
        <p:spPr>
          <a:xfrm>
            <a:off x="5248275" y="6534150"/>
            <a:ext cx="1762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Incident Response Team</a:t>
            </a:r>
            <a:endParaRPr/>
          </a:p>
        </p:txBody>
      </p:sp>
      <p:sp>
        <p:nvSpPr>
          <p:cNvPr id="988" name="Google Shape;988;p59"/>
          <p:cNvSpPr txBox="1"/>
          <p:nvPr/>
        </p:nvSpPr>
        <p:spPr>
          <a:xfrm>
            <a:off x="10829925" y="6534150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47 of 49</a:t>
            </a:r>
            <a:endParaRPr/>
          </a:p>
        </p:txBody>
      </p:sp>
      <p:sp>
        <p:nvSpPr>
          <p:cNvPr id="989" name="Google Shape;989;p59"/>
          <p:cNvSpPr/>
          <p:nvPr/>
        </p:nvSpPr>
        <p:spPr>
          <a:xfrm>
            <a:off x="666750" y="3004095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9"/>
          <p:cNvSpPr txBox="1"/>
          <p:nvPr/>
        </p:nvSpPr>
        <p:spPr>
          <a:xfrm>
            <a:off x="767048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Design</a:t>
            </a:r>
            <a:endParaRPr/>
          </a:p>
        </p:txBody>
      </p:sp>
      <p:sp>
        <p:nvSpPr>
          <p:cNvPr id="991" name="Google Shape;991;p59"/>
          <p:cNvSpPr txBox="1"/>
          <p:nvPr/>
        </p:nvSpPr>
        <p:spPr>
          <a:xfrm>
            <a:off x="819150" y="3561308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Draft response playbooks targeting critical threat types (e.g. ransomware, breaches).</a:t>
            </a:r>
            <a:endParaRPr/>
          </a:p>
        </p:txBody>
      </p:sp>
      <p:sp>
        <p:nvSpPr>
          <p:cNvPr id="992" name="Google Shape;992;p59"/>
          <p:cNvSpPr txBox="1"/>
          <p:nvPr/>
        </p:nvSpPr>
        <p:spPr>
          <a:xfrm>
            <a:off x="3590169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Desktop Drill</a:t>
            </a:r>
            <a:endParaRPr/>
          </a:p>
        </p:txBody>
      </p:sp>
      <p:sp>
        <p:nvSpPr>
          <p:cNvPr id="993" name="Google Shape;993;p59"/>
          <p:cNvSpPr txBox="1"/>
          <p:nvPr/>
        </p:nvSpPr>
        <p:spPr>
          <a:xfrm>
            <a:off x="3642270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Execute hypothetical table-top walkthrough exercises with critical personnel.</a:t>
            </a:r>
            <a:endParaRPr/>
          </a:p>
        </p:txBody>
      </p:sp>
      <p:sp>
        <p:nvSpPr>
          <p:cNvPr id="994" name="Google Shape;994;p59"/>
          <p:cNvSpPr txBox="1"/>
          <p:nvPr/>
        </p:nvSpPr>
        <p:spPr>
          <a:xfrm>
            <a:off x="6413290" y="3342233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Live Simulation</a:t>
            </a:r>
            <a:endParaRPr/>
          </a:p>
        </p:txBody>
      </p:sp>
      <p:sp>
        <p:nvSpPr>
          <p:cNvPr id="995" name="Google Shape;995;p59"/>
          <p:cNvSpPr txBox="1"/>
          <p:nvPr/>
        </p:nvSpPr>
        <p:spPr>
          <a:xfrm>
            <a:off x="6465391" y="3561308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non-disruptive, live simulations to test team coordination under stress.</a:t>
            </a:r>
            <a:endParaRPr/>
          </a:p>
        </p:txBody>
      </p:sp>
      <p:sp>
        <p:nvSpPr>
          <p:cNvPr id="996" name="Google Shape;996;p59"/>
          <p:cNvSpPr txBox="1"/>
          <p:nvPr/>
        </p:nvSpPr>
        <p:spPr>
          <a:xfrm>
            <a:off x="9236411" y="2039391"/>
            <a:ext cx="218824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A192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Post-Mortem</a:t>
            </a:r>
            <a:endParaRPr/>
          </a:p>
        </p:txBody>
      </p:sp>
      <p:sp>
        <p:nvSpPr>
          <p:cNvPr id="997" name="Google Shape;997;p59"/>
          <p:cNvSpPr txBox="1"/>
          <p:nvPr/>
        </p:nvSpPr>
        <p:spPr>
          <a:xfrm>
            <a:off x="9288512" y="2258466"/>
            <a:ext cx="2084040" cy="44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 testing performance to identify and resolve response process bottlenecks.</a:t>
            </a:r>
            <a:endParaRPr/>
          </a:p>
        </p:txBody>
      </p:sp>
      <p:sp>
        <p:nvSpPr>
          <p:cNvPr id="998" name="Google Shape;998;p59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Playbook Testing Frameworks</a:t>
            </a:r>
            <a:endParaRPr/>
          </a:p>
        </p:txBody>
      </p:sp>
      <p:sp>
        <p:nvSpPr>
          <p:cNvPr id="999" name="Google Shape;999;p59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9"/>
          <p:cNvSpPr/>
          <p:nvPr/>
        </p:nvSpPr>
        <p:spPr>
          <a:xfrm>
            <a:off x="177544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9"/>
          <p:cNvSpPr/>
          <p:nvPr/>
        </p:nvSpPr>
        <p:spPr>
          <a:xfrm>
            <a:off x="4598565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9"/>
          <p:cNvSpPr/>
          <p:nvPr/>
        </p:nvSpPr>
        <p:spPr>
          <a:xfrm>
            <a:off x="7421686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9"/>
          <p:cNvSpPr/>
          <p:nvPr/>
        </p:nvSpPr>
        <p:spPr>
          <a:xfrm>
            <a:off x="10244807" y="293742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070520"/>
            <a:ext cx="10858500" cy="521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6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410325"/>
            <a:ext cx="10858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60"/>
          <p:cNvSpPr txBox="1"/>
          <p:nvPr/>
        </p:nvSpPr>
        <p:spPr>
          <a:xfrm>
            <a:off x="666750" y="3880395"/>
            <a:ext cx="108585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Continuous monitoring of operational metrics helps teams optimize incident detection and containment workflows.</a:t>
            </a:r>
            <a:endParaRPr/>
          </a:p>
        </p:txBody>
      </p:sp>
      <p:sp>
        <p:nvSpPr>
          <p:cNvPr id="1012" name="Google Shape;1012;p60"/>
          <p:cNvSpPr txBox="1"/>
          <p:nvPr/>
        </p:nvSpPr>
        <p:spPr>
          <a:xfrm>
            <a:off x="666750" y="65341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0A192F"/>
                </a:solidFill>
                <a:latin typeface="Inter"/>
                <a:ea typeface="Inter"/>
                <a:cs typeface="Inter"/>
                <a:sym typeface="Inter"/>
              </a:rPr>
              <a:t>CSK</a:t>
            </a:r>
            <a:r>
              <a:rPr lang="en-US" sz="825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Mombasa</a:t>
            </a:r>
            <a:endParaRPr/>
          </a:p>
        </p:txBody>
      </p:sp>
      <p:sp>
        <p:nvSpPr>
          <p:cNvPr id="1013" name="Google Shape;1013;p60"/>
          <p:cNvSpPr txBox="1"/>
          <p:nvPr/>
        </p:nvSpPr>
        <p:spPr>
          <a:xfrm>
            <a:off x="5243512" y="6534150"/>
            <a:ext cx="17621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Module 6: Incident Response Team</a:t>
            </a:r>
            <a:endParaRPr/>
          </a:p>
        </p:txBody>
      </p:sp>
      <p:sp>
        <p:nvSpPr>
          <p:cNvPr id="1014" name="Google Shape;1014;p60"/>
          <p:cNvSpPr txBox="1"/>
          <p:nvPr/>
        </p:nvSpPr>
        <p:spPr>
          <a:xfrm>
            <a:off x="10820400" y="65341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48 of 49</a:t>
            </a:r>
            <a:endParaRPr/>
          </a:p>
        </p:txBody>
      </p:sp>
      <p:sp>
        <p:nvSpPr>
          <p:cNvPr id="1015" name="Google Shape;1015;p60"/>
          <p:cNvSpPr txBox="1"/>
          <p:nvPr/>
        </p:nvSpPr>
        <p:spPr>
          <a:xfrm>
            <a:off x="838200" y="476250"/>
            <a:ext cx="1122140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A192F"/>
                </a:solidFill>
                <a:latin typeface="Montserrat"/>
                <a:ea typeface="Montserrat"/>
                <a:cs typeface="Montserrat"/>
                <a:sym typeface="Montserrat"/>
              </a:rPr>
              <a:t>IR Performance KPI Metrics</a:t>
            </a:r>
            <a:endParaRPr/>
          </a:p>
        </p:txBody>
      </p:sp>
      <p:sp>
        <p:nvSpPr>
          <p:cNvPr id="1016" name="Google Shape;1016;p60"/>
          <p:cNvSpPr/>
          <p:nvPr/>
        </p:nvSpPr>
        <p:spPr>
          <a:xfrm>
            <a:off x="666750" y="476250"/>
            <a:ext cx="57150" cy="35614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6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0012" y="3760291"/>
            <a:ext cx="43719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6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76250"/>
            <a:ext cx="10858500" cy="58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1"/>
          <p:cNvSpPr txBox="1"/>
          <p:nvPr/>
        </p:nvSpPr>
        <p:spPr>
          <a:xfrm>
            <a:off x="3275647" y="2564159"/>
            <a:ext cx="564070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Seminar Concluded &amp; Q&amp;A</a:t>
            </a:r>
            <a:endParaRPr/>
          </a:p>
        </p:txBody>
      </p:sp>
      <p:sp>
        <p:nvSpPr>
          <p:cNvPr id="1025" name="Google Shape;1025;p61"/>
          <p:cNvSpPr txBox="1"/>
          <p:nvPr/>
        </p:nvSpPr>
        <p:spPr>
          <a:xfrm>
            <a:off x="3581400" y="3187005"/>
            <a:ext cx="50292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Interactive Discussion • Advanced Cybersecurity Operations</a:t>
            </a:r>
            <a:endParaRPr/>
          </a:p>
        </p:txBody>
      </p:sp>
      <p:sp>
        <p:nvSpPr>
          <p:cNvPr id="1026" name="Google Shape;1026;p61"/>
          <p:cNvSpPr txBox="1"/>
          <p:nvPr/>
        </p:nvSpPr>
        <p:spPr>
          <a:xfrm>
            <a:off x="3910012" y="3960316"/>
            <a:ext cx="1390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training@csk.or.ke</a:t>
            </a:r>
            <a:endParaRPr/>
          </a:p>
        </p:txBody>
      </p:sp>
      <p:sp>
        <p:nvSpPr>
          <p:cNvPr id="1027" name="Google Shape;1027;p61"/>
          <p:cNvSpPr txBox="1"/>
          <p:nvPr/>
        </p:nvSpPr>
        <p:spPr>
          <a:xfrm>
            <a:off x="5586412" y="3960316"/>
            <a:ext cx="1133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www.csk.or.ke</a:t>
            </a:r>
            <a:endParaRPr/>
          </a:p>
        </p:txBody>
      </p:sp>
      <p:sp>
        <p:nvSpPr>
          <p:cNvPr id="1028" name="Google Shape;1028;p61"/>
          <p:cNvSpPr txBox="1"/>
          <p:nvPr/>
        </p:nvSpPr>
        <p:spPr>
          <a:xfrm>
            <a:off x="7005637" y="3960316"/>
            <a:ext cx="12763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Mombasa, Kenya</a:t>
            </a:r>
            <a:endParaRPr/>
          </a:p>
        </p:txBody>
      </p:sp>
      <p:pic>
        <p:nvPicPr>
          <p:cNvPr id="1029" name="Google Shape;1029;p6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10012" y="397936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86412" y="397936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6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05637" y="3979366"/>
            <a:ext cx="1047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3415</Words>
  <Application>Microsoft Office PowerPoint</Application>
  <PresentationFormat>Widescreen</PresentationFormat>
  <Paragraphs>500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Calibri</vt:lpstr>
      <vt:lpstr>Montserrat SemiBold</vt:lpstr>
      <vt:lpstr>Arial</vt:lpstr>
      <vt:lpstr>Montserrat Medium</vt:lpstr>
      <vt:lpstr>Montserrat</vt:lpstr>
      <vt:lpstr>Inter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1</cp:revision>
  <dcterms:modified xsi:type="dcterms:W3CDTF">2026-05-20T06:00:23Z</dcterms:modified>
</cp:coreProperties>
</file>