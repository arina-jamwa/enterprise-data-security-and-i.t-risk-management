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embeddedFontLst>
    <p:embeddedFont>
      <p:font typeface="Calibri" panose="020F0502020204030204" pitchFamily="34" charset="0"/>
      <p:regular r:id="rId51"/>
      <p:bold r:id="rId52"/>
      <p:italic r:id="rId53"/>
      <p:boldItalic r:id="rId54"/>
    </p:embeddedFont>
    <p:embeddedFont>
      <p:font typeface="Inter" panose="020B0604020202020204" charset="0"/>
      <p:regular r:id="rId55"/>
      <p:bold r:id="rId56"/>
      <p:italic r:id="rId57"/>
      <p:boldItalic r:id="rId58"/>
    </p:embeddedFont>
    <p:embeddedFont>
      <p:font typeface="Inter SemiBold" panose="020B0604020202020204" charset="0"/>
      <p:regular r:id="rId59"/>
      <p:bold r:id="rId60"/>
      <p:italic r:id="rId61"/>
      <p:boldItalic r:id="rId62"/>
    </p:embeddedFont>
    <p:embeddedFont>
      <p:font typeface="Plus Jakarta Sans" panose="020B0604020202020204" charset="0"/>
      <p:regular r:id="rId63"/>
      <p:bold r:id="rId64"/>
      <p:italic r:id="rId65"/>
      <p:boldItalic r:id="rId66"/>
    </p:embeddedFont>
    <p:embeddedFont>
      <p:font typeface="Plus Jakarta Sans Medium" panose="020B0604020202020204" charset="0"/>
      <p:regular r:id="rId67"/>
      <p:bold r:id="rId68"/>
      <p:italic r:id="rId69"/>
      <p:boldItalic r:id="rId70"/>
    </p:embeddedFont>
    <p:embeddedFont>
      <p:font typeface="Times" panose="02020603050405020304" pitchFamily="18" charset="0"/>
      <p:regular r:id="rId71"/>
      <p:bold r:id="rId72"/>
      <p:italic r:id="rId73"/>
      <p:boldItalic r:id="rId7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14DC12-F8E7-475D-9420-A6BF1F1BE91B}">
  <a:tblStyle styleId="{BF14DC12-F8E7-475D-9420-A6BF1F1BE91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3.fntdata"/><Relationship Id="rId68" Type="http://schemas.openxmlformats.org/officeDocument/2006/relationships/font" Target="fonts/font18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openxmlformats.org/officeDocument/2006/relationships/font" Target="fonts/font16.fntdata"/><Relationship Id="rId74" Type="http://schemas.openxmlformats.org/officeDocument/2006/relationships/font" Target="fonts/font24.fntdata"/><Relationship Id="rId5" Type="http://schemas.openxmlformats.org/officeDocument/2006/relationships/slide" Target="slides/slide4.xml"/><Relationship Id="rId61" Type="http://schemas.openxmlformats.org/officeDocument/2006/relationships/font" Target="fonts/font1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64" Type="http://schemas.openxmlformats.org/officeDocument/2006/relationships/font" Target="fonts/font14.fntdata"/><Relationship Id="rId69" Type="http://schemas.openxmlformats.org/officeDocument/2006/relationships/font" Target="fonts/font19.fntdata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72" Type="http://schemas.openxmlformats.org/officeDocument/2006/relationships/font" Target="fonts/font2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9.fntdata"/><Relationship Id="rId67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font" Target="fonts/font12.fntdata"/><Relationship Id="rId70" Type="http://schemas.openxmlformats.org/officeDocument/2006/relationships/font" Target="fonts/font20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font" Target="fonts/font15.fntdata"/><Relationship Id="rId73" Type="http://schemas.openxmlformats.org/officeDocument/2006/relationships/font" Target="fonts/font23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font" Target="fonts/font2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2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41.png"/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39.png"/><Relationship Id="rId5" Type="http://schemas.openxmlformats.org/officeDocument/2006/relationships/image" Target="../media/image36.png"/><Relationship Id="rId10" Type="http://schemas.openxmlformats.org/officeDocument/2006/relationships/image" Target="../media/image13.png"/><Relationship Id="rId4" Type="http://schemas.openxmlformats.org/officeDocument/2006/relationships/image" Target="../media/image35.png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57.png"/><Relationship Id="rId3" Type="http://schemas.openxmlformats.org/officeDocument/2006/relationships/image" Target="../media/image3.png"/><Relationship Id="rId7" Type="http://schemas.openxmlformats.org/officeDocument/2006/relationships/image" Target="../media/image54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55.png"/><Relationship Id="rId5" Type="http://schemas.openxmlformats.org/officeDocument/2006/relationships/image" Target="../media/image36.png"/><Relationship Id="rId10" Type="http://schemas.openxmlformats.org/officeDocument/2006/relationships/image" Target="../media/image13.png"/><Relationship Id="rId4" Type="http://schemas.openxmlformats.org/officeDocument/2006/relationships/image" Target="../media/image35.png"/><Relationship Id="rId9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67.png"/><Relationship Id="rId3" Type="http://schemas.openxmlformats.org/officeDocument/2006/relationships/image" Target="../media/image3.png"/><Relationship Id="rId7" Type="http://schemas.openxmlformats.org/officeDocument/2006/relationships/image" Target="../media/image64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65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82.png"/><Relationship Id="rId3" Type="http://schemas.openxmlformats.org/officeDocument/2006/relationships/image" Target="../media/image3.png"/><Relationship Id="rId7" Type="http://schemas.openxmlformats.org/officeDocument/2006/relationships/image" Target="../media/image79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80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90.png"/><Relationship Id="rId3" Type="http://schemas.openxmlformats.org/officeDocument/2006/relationships/image" Target="../media/image3.png"/><Relationship Id="rId7" Type="http://schemas.openxmlformats.org/officeDocument/2006/relationships/image" Target="../media/image87.png"/><Relationship Id="rId12" Type="http://schemas.openxmlformats.org/officeDocument/2006/relationships/image" Target="../media/image8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88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05.png"/><Relationship Id="rId3" Type="http://schemas.openxmlformats.org/officeDocument/2006/relationships/image" Target="../media/image3.png"/><Relationship Id="rId7" Type="http://schemas.openxmlformats.org/officeDocument/2006/relationships/image" Target="../media/image102.png"/><Relationship Id="rId12" Type="http://schemas.openxmlformats.org/officeDocument/2006/relationships/image" Target="../media/image10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03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90449" y="2828478"/>
            <a:ext cx="8811101" cy="59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Business of IT Risk Management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533115" y="4586466"/>
            <a:ext cx="7372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Aligning Security, Compliance, and Business Objectives for Enterprise Resilience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755582" y="2614612"/>
            <a:ext cx="668083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1: IT Risk Management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3238500" y="3338512"/>
            <a:ext cx="5715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Understanding IT risks, quantification, frameworks, and executive governance.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5621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32615" y="523875"/>
            <a:ext cx="1792634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62025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Business Continuity Focus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22383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 Risk Management is the process of identifying, analyzing, and mitigating technological threats that could disrupt business operations, damage brand reputation, or lead to financial losses.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534150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Enablement Paradigm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534150" y="22383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Rather than restricting innovation, effective IT risk governance allows enterprises to pursue high-risk, high-return digital projects with the confidence that systematic safeguards are in place.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Risk Governance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is IT Risk Management?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34925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62100"/>
            <a:ext cx="34925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49" y="1562100"/>
            <a:ext cx="34925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32975" y="523875"/>
            <a:ext cx="1292274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875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904875" y="2428875"/>
            <a:ext cx="16402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Risks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04875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Infrastructure outages, system downtime, software failures, and supply chain disruptions.</a:t>
            </a:r>
            <a:endParaRPr/>
          </a:p>
        </p:txBody>
      </p:sp>
      <p:pic>
        <p:nvPicPr>
          <p:cNvPr id="121" name="Google Shape;12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87924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587924" y="2428875"/>
            <a:ext cx="130016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 Risks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587924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Cyberattacks, advanced persistent threats (APTs), data breaches, and insider threats.</a:t>
            </a:r>
            <a:endParaRPr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70974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270974" y="2428875"/>
            <a:ext cx="166020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Compliance Risks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270974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Failure to meet regulatory standards like GDPR, HIPAA, PCI-DSS, resulting in legal fines.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09650" y="19050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659362" y="190500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42411" y="190500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Typologies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Categories of IT Risk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0926" y="523875"/>
            <a:ext cx="1254323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666750" y="174307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$4.8M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66750" y="2752725"/>
            <a:ext cx="5238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Avg. Cost of a Data Breach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286500" y="1562100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Compounding Economic Damages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286500" y="2019300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Corporate loss consists of direct incident response, litigation fees, legal penalties, and long-term brand equity erosion.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286500" y="2590800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Organizations with high security posture automation save up to 40% in overall incident handling costs.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Analytics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High Cost of IT Breaches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76387"/>
            <a:ext cx="5286375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562100"/>
            <a:ext cx="5286375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9220" y="523875"/>
            <a:ext cx="1806029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962025" y="1871662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Annualized Loss Expectancy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62025" y="2252662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 prioritize security budgets, risk managers formulate expectations in actual dollar terms using standard quantitative metrics.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534150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Metric Definitions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534150" y="2238375"/>
            <a:ext cx="46958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Single Loss Expectancy (SLE):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Financial loss per incident, including restoration cost.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534150" y="2809875"/>
            <a:ext cx="46958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Annualized Rate of Occurrence (ARO):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Estimated frequency of the incident per year.</a:t>
            </a:r>
            <a:endParaRPr/>
          </a:p>
        </p:txBody>
      </p:sp>
      <p:pic>
        <p:nvPicPr>
          <p:cNvPr id="160" name="Google Shape;16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3224212"/>
            <a:ext cx="1230213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Quantification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Financial Cyber Risk Metrics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62604" y="523875"/>
            <a:ext cx="116264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1000125" y="1562100"/>
            <a:ext cx="1052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NIST SP 800-30: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Provides a rigorous structural guide for conducting comprehensive threat assessments across federal and corporate networks.</a:t>
            </a:r>
            <a:endParaRPr dirty="0"/>
          </a:p>
        </p:txBody>
      </p:sp>
      <p:sp>
        <p:nvSpPr>
          <p:cNvPr id="171" name="Google Shape;171;p19"/>
          <p:cNvSpPr txBox="1"/>
          <p:nvPr/>
        </p:nvSpPr>
        <p:spPr>
          <a:xfrm>
            <a:off x="1000125" y="1962150"/>
            <a:ext cx="1052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COBIT (ISACA):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Links IT processes directly to business goals, placing risk management at the core of enterprise governance.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000125" y="2362200"/>
            <a:ext cx="1052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 27005: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Standardizes risk treatment methodologies, establishing an iterative cycle of context definition, assessment, and threat mitigation.</a:t>
            </a:r>
            <a:endParaRPr/>
          </a:p>
        </p:txBody>
      </p:sp>
      <p:pic>
        <p:nvPicPr>
          <p:cNvPr id="173" name="Google Shape;17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5954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19954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239553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Standards &amp; Guides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 Risk Management Frameworks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22519" y="523875"/>
            <a:ext cx="160273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/>
          <p:nvPr/>
        </p:nvSpPr>
        <p:spPr>
          <a:xfrm>
            <a:off x="666750" y="3543300"/>
            <a:ext cx="108585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07028" y="3848100"/>
            <a:ext cx="250828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Identify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66750" y="4124325"/>
            <a:ext cx="2388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Map out all hardware, software, cloud instances, and sensitive corporate data assets.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3430149" y="1971675"/>
            <a:ext cx="250828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Assess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3489870" y="2247900"/>
            <a:ext cx="2388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Determine threat likelihood and calculate expected financial impact using quantitative formulas.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253270" y="3848100"/>
            <a:ext cx="250828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Prioritize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312991" y="4124325"/>
            <a:ext cx="2388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Allocate cybersecurity resources based on the highest calculated Risk Exposure levels.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9076391" y="1971675"/>
            <a:ext cx="250828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Remediate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9136112" y="2247900"/>
            <a:ext cx="2388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 security controls, monitor anomalies, and update response playbooks continuously.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 Planning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Designing Mitigation Strategy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1784970" y="34861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608090" y="34861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7431211" y="34861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10254332" y="34861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5621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82708" y="523875"/>
            <a:ext cx="104254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962025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 Appetite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962025" y="22383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broad, high-level statement representing the amount of risk an organization is willing to pursue or accept in search of business innovation and growth.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534150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 Tolerance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534150" y="22383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tactical, measurable operational boundaries detailing the specific variations from appetite that a business unit can withstand before escalation.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Tolerance Profiles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 Appetite vs. Tolerance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43045" y="523875"/>
            <a:ext cx="1682204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2047875" y="3149054"/>
            <a:ext cx="8096250" cy="1159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"Cybersecurity is no longer a technical concern reserved for server rooms. It has evolved into a strategic pillar of board-level corporate risk management."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4364831" y="4547145"/>
            <a:ext cx="346233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Times"/>
                <a:ea typeface="Times"/>
                <a:cs typeface="Times"/>
                <a:sym typeface="Times"/>
              </a:rPr>
              <a:t>— Enterprise Risk Institute Leadership Report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Executive Leadership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Leadership in Risk Governance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2575560" y="2614612"/>
            <a:ext cx="704088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2: Data Loss Prevention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3238500" y="3338512"/>
            <a:ext cx="5715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Exploring data states, policy architecture, legacy gaps, and modern SaaS-native protection.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5286375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6764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11407" y="523875"/>
            <a:ext cx="121384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/>
        </p:nvSpPr>
        <p:spPr>
          <a:xfrm>
            <a:off x="962025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Definition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962025" y="2238375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 Loss Prevention (DLP) is a comprehensive framework combining security tools, training, and operational processes to prevent unauthorized sharing, exposure, or exfiltration of proprietary data.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6534150" y="19716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Regulatory Catalyst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6534150" y="23526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Strict rules like GDPR, CCPA, and HIPAA require rigorous data accounting. DLP ensures compliance by preventing sensitive numbers (like SSNs or financial cards) from leaking.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DLP Foundations</a:t>
            </a:r>
            <a:endParaRPr/>
          </a:p>
        </p:txBody>
      </p:sp>
      <p:sp>
        <p:nvSpPr>
          <p:cNvPr id="247" name="Google Shape;247;p24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Introduction to DLP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34925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62100"/>
            <a:ext cx="34925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49" y="1562100"/>
            <a:ext cx="34925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31610" y="523875"/>
            <a:ext cx="1493639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875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904875" y="2428875"/>
            <a:ext cx="66008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People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904875" y="2752725"/>
            <a:ext cx="30162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Educating staff on data classification, email security, and secure handling rules.</a:t>
            </a:r>
            <a:endParaRPr/>
          </a:p>
        </p:txBody>
      </p:sp>
      <p:pic>
        <p:nvPicPr>
          <p:cNvPr id="261" name="Google Shape;261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87924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4587924" y="2428875"/>
            <a:ext cx="75009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Process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4587924" y="2752725"/>
            <a:ext cx="30162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Defining clear rules regarding who can access, modify, or transmit corporate IP.</a:t>
            </a:r>
            <a:endParaRPr/>
          </a:p>
        </p:txBody>
      </p:sp>
      <p:pic>
        <p:nvPicPr>
          <p:cNvPr id="264" name="Google Shape;264;p2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70974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8270974" y="2428875"/>
            <a:ext cx="107013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8270974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Deploying software agents and APIs to detect and actively block unsafe data transfers.</a:t>
            </a:r>
            <a:endParaRPr/>
          </a:p>
        </p:txBody>
      </p:sp>
      <p:pic>
        <p:nvPicPr>
          <p:cNvPr id="267" name="Google Shape;267;p2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6312" y="190500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659362" y="190500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42411" y="190500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Pillars</a:t>
            </a:r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DLP Works: Three Pillars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3492549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62100"/>
            <a:ext cx="3492549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49" y="1562100"/>
            <a:ext cx="3492549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57370" y="523875"/>
            <a:ext cx="1367879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875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 txBox="1"/>
          <p:nvPr/>
        </p:nvSpPr>
        <p:spPr>
          <a:xfrm>
            <a:off x="904875" y="2428875"/>
            <a:ext cx="111013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at Rest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904875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Files resting in databases, servers, or cloud storage. Protected via automatic encryption and database access policies.</a:t>
            </a:r>
            <a:endParaRPr/>
          </a:p>
        </p:txBody>
      </p:sp>
      <p:pic>
        <p:nvPicPr>
          <p:cNvPr id="285" name="Google Shape;285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87924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6"/>
          <p:cNvSpPr txBox="1"/>
          <p:nvPr/>
        </p:nvSpPr>
        <p:spPr>
          <a:xfrm>
            <a:off x="4587924" y="2428875"/>
            <a:ext cx="13101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in Motion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4587924" y="2752725"/>
            <a:ext cx="30162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 traveling across internal or external networks. Secured using Transport Layer Security (TLS) and network gateway filters.</a:t>
            </a:r>
            <a:endParaRPr/>
          </a:p>
        </p:txBody>
      </p:sp>
      <p:pic>
        <p:nvPicPr>
          <p:cNvPr id="288" name="Google Shape;288;p2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70974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6"/>
          <p:cNvSpPr txBox="1"/>
          <p:nvPr/>
        </p:nvSpPr>
        <p:spPr>
          <a:xfrm>
            <a:off x="8270974" y="2428875"/>
            <a:ext cx="102012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in Use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8270974" y="2752725"/>
            <a:ext cx="30162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Active information at endpoints or in memory. Protected by blocking print-screens, USB copying, and clipboard sharing.</a:t>
            </a:r>
            <a:endParaRPr/>
          </a:p>
        </p:txBody>
      </p:sp>
      <p:pic>
        <p:nvPicPr>
          <p:cNvPr id="291" name="Google Shape;291;p2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3937" y="190500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692699" y="19050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56699" y="190500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6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Architecture</a:t>
            </a:r>
            <a:endParaRPr/>
          </a:p>
        </p:txBody>
      </p:sp>
      <p:sp>
        <p:nvSpPr>
          <p:cNvPr id="295" name="Google Shape;295;p26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States: Rest, Motion, Use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21081" y="523875"/>
            <a:ext cx="1204168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 txBox="1"/>
          <p:nvPr/>
        </p:nvSpPr>
        <p:spPr>
          <a:xfrm>
            <a:off x="1000125" y="1562100"/>
            <a:ext cx="1052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Classification: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Assigning sensitivity tags (e.g., Confidential, Internal Only, Public) to files automatically based on context or user actions.</a:t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1000125" y="1962150"/>
            <a:ext cx="1052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Content Inspection: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Utilizing Regular Expressions (Regex) and fingerprinting to identify Social Security, Credit Card, or proprietary license keys.</a:t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1000125" y="2362200"/>
            <a:ext cx="1052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Enforcement Rules: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Instructing the DLP engine to audit, alert, encrypt, or block transmissions that violate the defined data rules.</a:t>
            </a:r>
            <a:endParaRPr/>
          </a:p>
        </p:txBody>
      </p:sp>
      <p:pic>
        <p:nvPicPr>
          <p:cNvPr id="306" name="Google Shape;306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59543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1995487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2395537"/>
            <a:ext cx="1047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7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Policy Architecture</a:t>
            </a:r>
            <a:endParaRPr/>
          </a:p>
        </p:txBody>
      </p:sp>
      <p:sp>
        <p:nvSpPr>
          <p:cNvPr id="310" name="Google Shape;310;p27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7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DLP Policy Components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03668" y="523875"/>
            <a:ext cx="122158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8"/>
          <p:cNvSpPr txBox="1"/>
          <p:nvPr/>
        </p:nvSpPr>
        <p:spPr>
          <a:xfrm>
            <a:off x="1000125" y="1562100"/>
            <a:ext cx="1052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Phase Your Deployment: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Start with non-intrusive monitoring before shifting policies to active enforcement and blocking mode.</a:t>
            </a:r>
            <a:endParaRPr/>
          </a:p>
        </p:txBody>
      </p:sp>
      <p:sp>
        <p:nvSpPr>
          <p:cNvPr id="319" name="Google Shape;319;p28"/>
          <p:cNvSpPr txBox="1"/>
          <p:nvPr/>
        </p:nvSpPr>
        <p:spPr>
          <a:xfrm>
            <a:off x="1000125" y="1962150"/>
            <a:ext cx="1052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Automate Data Scanning: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Manual classification cannot scale. Leverage ML engines to tag files based on semantics.</a:t>
            </a:r>
            <a:endParaRPr/>
          </a:p>
        </p:txBody>
      </p:sp>
      <p:sp>
        <p:nvSpPr>
          <p:cNvPr id="320" name="Google Shape;320;p28"/>
          <p:cNvSpPr txBox="1"/>
          <p:nvPr/>
        </p:nvSpPr>
        <p:spPr>
          <a:xfrm>
            <a:off x="1000125" y="2362200"/>
            <a:ext cx="1052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Establish Performance Metrics: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Track key performance indicators (KPIs) like false positive ratios and resolution times to refine policies.</a:t>
            </a:r>
            <a:endParaRPr/>
          </a:p>
        </p:txBody>
      </p:sp>
      <p:pic>
        <p:nvPicPr>
          <p:cNvPr id="321" name="Google Shape;321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5954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19954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239553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8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Strategic Deployment</a:t>
            </a:r>
            <a:endParaRPr/>
          </a:p>
        </p:txBody>
      </p:sp>
      <p:sp>
        <p:nvSpPr>
          <p:cNvPr id="325" name="Google Shape;325;p28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DLP Implementation Best Practices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5621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87148" y="523875"/>
            <a:ext cx="123810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9"/>
          <p:cNvSpPr txBox="1"/>
          <p:nvPr/>
        </p:nvSpPr>
        <p:spPr>
          <a:xfrm>
            <a:off x="962025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Legacy Agent-Based DLP</a:t>
            </a:r>
            <a:endParaRPr/>
          </a:p>
        </p:txBody>
      </p:sp>
      <p:sp>
        <p:nvSpPr>
          <p:cNvPr id="336" name="Google Shape;336;p29"/>
          <p:cNvSpPr txBox="1"/>
          <p:nvPr/>
        </p:nvSpPr>
        <p:spPr>
          <a:xfrm>
            <a:off x="962025" y="22383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Relies on static keyword rules and heavy endpoint software. Struggles to track data across remote SaaS environments, frustrating users with false alarms.</a:t>
            </a:r>
            <a:endParaRPr/>
          </a:p>
        </p:txBody>
      </p:sp>
      <p:sp>
        <p:nvSpPr>
          <p:cNvPr id="337" name="Google Shape;337;p29"/>
          <p:cNvSpPr txBox="1"/>
          <p:nvPr/>
        </p:nvSpPr>
        <p:spPr>
          <a:xfrm>
            <a:off x="6534150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Modern Data Posture Security</a:t>
            </a:r>
            <a:endParaRPr/>
          </a:p>
        </p:txBody>
      </p:sp>
      <p:sp>
        <p:nvSpPr>
          <p:cNvPr id="338" name="Google Shape;338;p29"/>
          <p:cNvSpPr txBox="1"/>
          <p:nvPr/>
        </p:nvSpPr>
        <p:spPr>
          <a:xfrm>
            <a:off x="6534150" y="22383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Integrates directly via APIs. Uses behavior heuristics, understanding identity, file location, and intention to dynamically evaluate risks.</a:t>
            </a:r>
            <a:endParaRPr/>
          </a:p>
        </p:txBody>
      </p:sp>
      <p:sp>
        <p:nvSpPr>
          <p:cNvPr id="339" name="Google Shape;339;p29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DLP Evolution</a:t>
            </a:r>
            <a:endParaRPr/>
          </a:p>
        </p:txBody>
      </p:sp>
      <p:sp>
        <p:nvSpPr>
          <p:cNvPr id="340" name="Google Shape;340;p29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9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Legacy DLP vs. Modern Security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562100"/>
            <a:ext cx="52387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93387" y="523875"/>
            <a:ext cx="133186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0"/>
          <p:cNvSpPr txBox="1"/>
          <p:nvPr/>
        </p:nvSpPr>
        <p:spPr>
          <a:xfrm>
            <a:off x="666750" y="222795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Continuous API Inspection</a:t>
            </a:r>
            <a:endParaRPr/>
          </a:p>
        </p:txBody>
      </p:sp>
      <p:sp>
        <p:nvSpPr>
          <p:cNvPr id="350" name="Google Shape;350;p30"/>
          <p:cNvSpPr txBox="1"/>
          <p:nvPr/>
        </p:nvSpPr>
        <p:spPr>
          <a:xfrm>
            <a:off x="666750" y="2447032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 corporate work environments migrate to modern platforms (such as Salesforce, Slack, or M365), old-school network borders dissolve.</a:t>
            </a:r>
            <a:endParaRPr/>
          </a:p>
        </p:txBody>
      </p:sp>
      <p:sp>
        <p:nvSpPr>
          <p:cNvPr id="351" name="Google Shape;351;p30"/>
          <p:cNvSpPr txBox="1"/>
          <p:nvPr/>
        </p:nvSpPr>
        <p:spPr>
          <a:xfrm>
            <a:off x="666750" y="3018532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Modern cloud security posture management secures modern digital operations:</a:t>
            </a: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771525" y="3620512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3" name="Google Shape;353;p30"/>
          <p:cNvSpPr txBox="1"/>
          <p:nvPr/>
        </p:nvSpPr>
        <p:spPr>
          <a:xfrm>
            <a:off x="857250" y="3618607"/>
            <a:ext cx="50482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Direct REST API connection prevents browser lagging.</a:t>
            </a:r>
            <a:endParaRPr/>
          </a:p>
        </p:txBody>
      </p:sp>
      <p:sp>
        <p:nvSpPr>
          <p:cNvPr id="354" name="Google Shape;354;p30"/>
          <p:cNvSpPr txBox="1"/>
          <p:nvPr/>
        </p:nvSpPr>
        <p:spPr>
          <a:xfrm>
            <a:off x="771525" y="3890932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5" name="Google Shape;355;p30"/>
          <p:cNvSpPr txBox="1"/>
          <p:nvPr/>
        </p:nvSpPr>
        <p:spPr>
          <a:xfrm>
            <a:off x="857250" y="3889027"/>
            <a:ext cx="50482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Scans cloud storage in real-time for public link exposures.</a:t>
            </a:r>
            <a:endParaRPr/>
          </a:p>
        </p:txBody>
      </p:sp>
      <p:sp>
        <p:nvSpPr>
          <p:cNvPr id="356" name="Google Shape;356;p30"/>
          <p:cNvSpPr txBox="1"/>
          <p:nvPr/>
        </p:nvSpPr>
        <p:spPr>
          <a:xfrm>
            <a:off x="771525" y="4161353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7" name="Google Shape;357;p30"/>
          <p:cNvSpPr txBox="1"/>
          <p:nvPr/>
        </p:nvSpPr>
        <p:spPr>
          <a:xfrm>
            <a:off x="857250" y="4159448"/>
            <a:ext cx="50482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Ensures remote workers do not exfiltrate assets to private drives.</a:t>
            </a:r>
            <a:endParaRPr/>
          </a:p>
        </p:txBody>
      </p:sp>
      <p:pic>
        <p:nvPicPr>
          <p:cNvPr id="358" name="Google Shape;358;p3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5905500" y="1238250"/>
            <a:ext cx="6000749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0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Integration</a:t>
            </a:r>
            <a:endParaRPr/>
          </a:p>
        </p:txBody>
      </p:sp>
      <p:sp>
        <p:nvSpPr>
          <p:cNvPr id="360" name="Google Shape;360;p30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0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SaaS-Native Data Protection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3492549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62100"/>
            <a:ext cx="3492549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49" y="1562100"/>
            <a:ext cx="3492549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67664" y="523875"/>
            <a:ext cx="115758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875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1"/>
          <p:cNvSpPr txBox="1"/>
          <p:nvPr/>
        </p:nvSpPr>
        <p:spPr>
          <a:xfrm>
            <a:off x="904875" y="2428875"/>
            <a:ext cx="137017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Rigid Rule Sets</a:t>
            </a:r>
            <a:endParaRPr/>
          </a:p>
        </p:txBody>
      </p:sp>
      <p:sp>
        <p:nvSpPr>
          <p:cNvPr id="373" name="Google Shape;373;p31"/>
          <p:cNvSpPr txBox="1"/>
          <p:nvPr/>
        </p:nvSpPr>
        <p:spPr>
          <a:xfrm>
            <a:off x="904875" y="2752725"/>
            <a:ext cx="30162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Traditional regex misses paraphrased text. Modern natural language classifiers evaluate meaning instead of literal syntax.</a:t>
            </a:r>
            <a:endParaRPr/>
          </a:p>
        </p:txBody>
      </p:sp>
      <p:pic>
        <p:nvPicPr>
          <p:cNvPr id="374" name="Google Shape;374;p3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87924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4587924" y="2428875"/>
            <a:ext cx="105013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Blind Spots</a:t>
            </a:r>
            <a:endParaRPr/>
          </a:p>
        </p:txBody>
      </p:sp>
      <p:sp>
        <p:nvSpPr>
          <p:cNvPr id="376" name="Google Shape;376;p31"/>
          <p:cNvSpPr txBox="1"/>
          <p:nvPr/>
        </p:nvSpPr>
        <p:spPr>
          <a:xfrm>
            <a:off x="4587924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Legacy agents fail to monitor cloud-to-cloud file transfers. API connectors close these visibility gaps permanently.</a:t>
            </a:r>
            <a:endParaRPr/>
          </a:p>
        </p:txBody>
      </p:sp>
      <p:pic>
        <p:nvPicPr>
          <p:cNvPr id="377" name="Google Shape;377;p3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70974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1"/>
          <p:cNvSpPr txBox="1"/>
          <p:nvPr/>
        </p:nvSpPr>
        <p:spPr>
          <a:xfrm>
            <a:off x="8270974" y="2428875"/>
            <a:ext cx="152019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Insider Collusion</a:t>
            </a:r>
            <a:endParaRPr/>
          </a:p>
        </p:txBody>
      </p:sp>
      <p:sp>
        <p:nvSpPr>
          <p:cNvPr id="379" name="Google Shape;379;p31"/>
          <p:cNvSpPr txBox="1"/>
          <p:nvPr/>
        </p:nvSpPr>
        <p:spPr>
          <a:xfrm>
            <a:off x="8270974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Old tools miss slow data exfiltration. Behavioral metrics analyze baseline usage to identify anomaly drift.</a:t>
            </a:r>
            <a:endParaRPr/>
          </a:p>
        </p:txBody>
      </p:sp>
      <p:pic>
        <p:nvPicPr>
          <p:cNvPr id="380" name="Google Shape;380;p3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09650" y="19050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659362" y="190500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42411" y="190500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1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Threat Remediation</a:t>
            </a:r>
            <a:endParaRPr/>
          </a:p>
        </p:txBody>
      </p:sp>
      <p:sp>
        <p:nvSpPr>
          <p:cNvPr id="384" name="Google Shape;384;p31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1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Addressing Gaps in Legacy DLP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1085850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80873" y="523875"/>
            <a:ext cx="1444376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2"/>
          <p:cNvSpPr/>
          <p:nvPr/>
        </p:nvSpPr>
        <p:spPr>
          <a:xfrm>
            <a:off x="676275" y="1571625"/>
            <a:ext cx="10839450" cy="19335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4" name="Google Shape;394;p32"/>
          <p:cNvGraphicFramePr/>
          <p:nvPr/>
        </p:nvGraphicFramePr>
        <p:xfrm>
          <a:off x="676275" y="1571625"/>
          <a:ext cx="10839450" cy="1933600"/>
        </p:xfrm>
        <a:graphic>
          <a:graphicData uri="http://schemas.openxmlformats.org/drawingml/2006/table">
            <a:tbl>
              <a:tblPr firstRow="1" bandRow="1">
                <a:noFill/>
                <a:tableStyleId>{BF14DC12-F8E7-475D-9420-A6BF1F1BE91B}</a:tableStyleId>
              </a:tblPr>
              <a:tblGrid>
                <a:gridCol w="129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Regulation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Target Data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DLP Requirement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Penalty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GDPR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EU Citizen Identities / PII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Active leakage prevention, breach disclosure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Up to 4% global revenue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HIPAA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Patient Health Info (PHI)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Strict access audit, encrypted transfer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 civil &amp; criminal fines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PCI-DSS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Credit Card / Payment Info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Masking primary numbers, secure networks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Operational suspension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5" name="Google Shape;395;p32"/>
          <p:cNvSpPr/>
          <p:nvPr/>
        </p:nvSpPr>
        <p:spPr>
          <a:xfrm>
            <a:off x="676275" y="2043112"/>
            <a:ext cx="1297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1973907" y="2043112"/>
            <a:ext cx="2584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2"/>
          <p:cNvSpPr/>
          <p:nvPr/>
        </p:nvSpPr>
        <p:spPr>
          <a:xfrm>
            <a:off x="4558754" y="2043112"/>
            <a:ext cx="40421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2"/>
          <p:cNvSpPr/>
          <p:nvPr/>
        </p:nvSpPr>
        <p:spPr>
          <a:xfrm>
            <a:off x="8600926" y="2043112"/>
            <a:ext cx="29147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676275" y="2528887"/>
            <a:ext cx="1297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1973907" y="2528887"/>
            <a:ext cx="2584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4558754" y="2528887"/>
            <a:ext cx="40421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8600926" y="2528887"/>
            <a:ext cx="29147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676275" y="3014662"/>
            <a:ext cx="1297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1973907" y="3014662"/>
            <a:ext cx="2584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2"/>
          <p:cNvSpPr/>
          <p:nvPr/>
        </p:nvSpPr>
        <p:spPr>
          <a:xfrm>
            <a:off x="4558754" y="3014662"/>
            <a:ext cx="40421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2"/>
          <p:cNvSpPr/>
          <p:nvPr/>
        </p:nvSpPr>
        <p:spPr>
          <a:xfrm>
            <a:off x="8600926" y="3014662"/>
            <a:ext cx="29147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2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Compliance Mapping</a:t>
            </a:r>
            <a:endParaRPr/>
          </a:p>
        </p:txBody>
      </p:sp>
      <p:sp>
        <p:nvSpPr>
          <p:cNvPr id="408" name="Google Shape;408;p32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2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Global Compliance &amp; Regulations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3"/>
          <p:cNvSpPr txBox="1"/>
          <p:nvPr/>
        </p:nvSpPr>
        <p:spPr>
          <a:xfrm>
            <a:off x="2655570" y="2614612"/>
            <a:ext cx="688086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3: AI and ML in Security</a:t>
            </a:r>
            <a:endParaRPr/>
          </a:p>
        </p:txBody>
      </p:sp>
      <p:sp>
        <p:nvSpPr>
          <p:cNvPr id="416" name="Google Shape;416;p33"/>
          <p:cNvSpPr txBox="1"/>
          <p:nvPr/>
        </p:nvSpPr>
        <p:spPr>
          <a:xfrm>
            <a:off x="3238500" y="3338512"/>
            <a:ext cx="5715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Exploring behavioral analytics, NLP, prompt injection, training dataset protection, and healthcare applications.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5286375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6764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71955" y="523875"/>
            <a:ext cx="1353294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4"/>
          <p:cNvSpPr txBox="1"/>
          <p:nvPr/>
        </p:nvSpPr>
        <p:spPr>
          <a:xfrm>
            <a:off x="962025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Protection</a:t>
            </a:r>
            <a:endParaRPr/>
          </a:p>
        </p:txBody>
      </p:sp>
      <p:sp>
        <p:nvSpPr>
          <p:cNvPr id="426" name="Google Shape;426;p34"/>
          <p:cNvSpPr txBox="1"/>
          <p:nvPr/>
        </p:nvSpPr>
        <p:spPr>
          <a:xfrm>
            <a:off x="962025" y="2238375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 transforms security from reactive signature matching to proactive threat prevention. By recognizing underlying code patterns, AI blocks malware that has never been cataloged before.</a:t>
            </a:r>
            <a:endParaRPr/>
          </a:p>
        </p:txBody>
      </p:sp>
      <p:sp>
        <p:nvSpPr>
          <p:cNvPr id="427" name="Google Shape;427;p34"/>
          <p:cNvSpPr txBox="1"/>
          <p:nvPr/>
        </p:nvSpPr>
        <p:spPr>
          <a:xfrm>
            <a:off x="6534150" y="19716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Efficacy</a:t>
            </a:r>
            <a:endParaRPr/>
          </a:p>
        </p:txBody>
      </p:sp>
      <p:sp>
        <p:nvSpPr>
          <p:cNvPr id="428" name="Google Shape;428;p34"/>
          <p:cNvSpPr txBox="1"/>
          <p:nvPr/>
        </p:nvSpPr>
        <p:spPr>
          <a:xfrm>
            <a:off x="6534150" y="23526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Security teams process thousands of daily alarms. Machine learning prioritizes warnings, automatically dismissing benign notifications and reducing fatigue.</a:t>
            </a:r>
            <a:endParaRPr/>
          </a:p>
        </p:txBody>
      </p:sp>
      <p:sp>
        <p:nvSpPr>
          <p:cNvPr id="429" name="Google Shape;429;p34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Revolution</a:t>
            </a:r>
            <a:endParaRPr/>
          </a:p>
        </p:txBody>
      </p:sp>
      <p:sp>
        <p:nvSpPr>
          <p:cNvPr id="430" name="Google Shape;430;p34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4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Cyber Defense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5"/>
          <p:cNvSpPr txBox="1"/>
          <p:nvPr/>
        </p:nvSpPr>
        <p:spPr>
          <a:xfrm>
            <a:off x="666750" y="523875"/>
            <a:ext cx="50006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Anomaly Detection</a:t>
            </a:r>
            <a:endParaRPr/>
          </a:p>
        </p:txBody>
      </p:sp>
      <p:pic>
        <p:nvPicPr>
          <p:cNvPr id="436" name="Google Shape;436;p3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667375" y="821932"/>
            <a:ext cx="5552005" cy="4654193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666750" y="933450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Behavioral Baselining</a:t>
            </a:r>
            <a:endParaRPr dirty="0"/>
          </a:p>
        </p:txBody>
      </p:sp>
      <p:sp>
        <p:nvSpPr>
          <p:cNvPr id="440" name="Google Shape;440;p35"/>
          <p:cNvSpPr txBox="1"/>
          <p:nvPr/>
        </p:nvSpPr>
        <p:spPr>
          <a:xfrm>
            <a:off x="666750" y="1314450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Traditional firewalls cannot detect authorized credentials being misused. AI engines construct customized activity baselines for every corporate machine and identity.</a:t>
            </a:r>
            <a:endParaRPr dirty="0"/>
          </a:p>
        </p:txBody>
      </p:sp>
      <p:sp>
        <p:nvSpPr>
          <p:cNvPr id="441" name="Google Shape;441;p35"/>
          <p:cNvSpPr txBox="1"/>
          <p:nvPr/>
        </p:nvSpPr>
        <p:spPr>
          <a:xfrm>
            <a:off x="666750" y="2114550"/>
            <a:ext cx="4762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If an account accesses bulk databases at 3 AM from an unusual subnet, the system instantly intervenes, securing the assets.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10858500" cy="47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04809" y="523875"/>
            <a:ext cx="162044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6"/>
          <p:cNvSpPr txBox="1"/>
          <p:nvPr/>
        </p:nvSpPr>
        <p:spPr>
          <a:xfrm>
            <a:off x="666750" y="4467225"/>
            <a:ext cx="10858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Anomalous internal behavioral vectors (insiders and credential compromise) constitute 75% of events intercepted by behavioral ML algorithms.</a:t>
            </a:r>
            <a:endParaRPr/>
          </a:p>
        </p:txBody>
      </p:sp>
      <p:sp>
        <p:nvSpPr>
          <p:cNvPr id="450" name="Google Shape;450;p36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Threat Classification</a:t>
            </a:r>
            <a:endParaRPr/>
          </a:p>
        </p:txBody>
      </p:sp>
      <p:sp>
        <p:nvSpPr>
          <p:cNvPr id="451" name="Google Shape;451;p36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6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Behavioral Analytics &amp; ML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34925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62100"/>
            <a:ext cx="34925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49" y="1562100"/>
            <a:ext cx="34925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13764" y="523875"/>
            <a:ext cx="141148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875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7"/>
          <p:cNvSpPr txBox="1"/>
          <p:nvPr/>
        </p:nvSpPr>
        <p:spPr>
          <a:xfrm>
            <a:off x="904875" y="2428875"/>
            <a:ext cx="166020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Targeted Isolation</a:t>
            </a:r>
            <a:endParaRPr/>
          </a:p>
        </p:txBody>
      </p:sp>
      <p:sp>
        <p:nvSpPr>
          <p:cNvPr id="464" name="Google Shape;464;p37"/>
          <p:cNvSpPr txBox="1"/>
          <p:nvPr/>
        </p:nvSpPr>
        <p:spPr>
          <a:xfrm>
            <a:off x="904875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Instantly severs compromised systems from the network, containing lateral active movement.</a:t>
            </a:r>
            <a:endParaRPr/>
          </a:p>
        </p:txBody>
      </p:sp>
      <p:pic>
        <p:nvPicPr>
          <p:cNvPr id="465" name="Google Shape;465;p3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87924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37"/>
          <p:cNvSpPr txBox="1"/>
          <p:nvPr/>
        </p:nvSpPr>
        <p:spPr>
          <a:xfrm>
            <a:off x="4587924" y="2428875"/>
            <a:ext cx="190023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Account Suspension</a:t>
            </a:r>
            <a:endParaRPr/>
          </a:p>
        </p:txBody>
      </p:sp>
      <p:sp>
        <p:nvSpPr>
          <p:cNvPr id="467" name="Google Shape;467;p37"/>
          <p:cNvSpPr txBox="1"/>
          <p:nvPr/>
        </p:nvSpPr>
        <p:spPr>
          <a:xfrm>
            <a:off x="4587924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Locks users showing abnormal behavior, requiring multi-factor authentication resets.</a:t>
            </a:r>
            <a:endParaRPr/>
          </a:p>
        </p:txBody>
      </p:sp>
      <p:pic>
        <p:nvPicPr>
          <p:cNvPr id="468" name="Google Shape;468;p3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70974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7"/>
          <p:cNvSpPr txBox="1"/>
          <p:nvPr/>
        </p:nvSpPr>
        <p:spPr>
          <a:xfrm>
            <a:off x="8270974" y="2428875"/>
            <a:ext cx="221027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Re-Encryption</a:t>
            </a:r>
            <a:endParaRPr/>
          </a:p>
        </p:txBody>
      </p:sp>
      <p:sp>
        <p:nvSpPr>
          <p:cNvPr id="470" name="Google Shape;470;p37"/>
          <p:cNvSpPr txBox="1"/>
          <p:nvPr/>
        </p:nvSpPr>
        <p:spPr>
          <a:xfrm>
            <a:off x="8270974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Automatically isolates and encrypts exposed files on unmanaged remote drives.</a:t>
            </a:r>
            <a:endParaRPr/>
          </a:p>
        </p:txBody>
      </p:sp>
      <p:pic>
        <p:nvPicPr>
          <p:cNvPr id="471" name="Google Shape;471;p3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09650" y="19050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692699" y="19050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75749" y="19050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37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Orchestration</a:t>
            </a:r>
            <a:endParaRPr/>
          </a:p>
        </p:txBody>
      </p:sp>
      <p:sp>
        <p:nvSpPr>
          <p:cNvPr id="475" name="Google Shape;475;p37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7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Incident Response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5286375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6764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66908" y="523875"/>
            <a:ext cx="125834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8"/>
          <p:cNvSpPr txBox="1"/>
          <p:nvPr/>
        </p:nvSpPr>
        <p:spPr>
          <a:xfrm>
            <a:off x="962025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Semantic Categorization</a:t>
            </a:r>
            <a:endParaRPr/>
          </a:p>
        </p:txBody>
      </p:sp>
      <p:sp>
        <p:nvSpPr>
          <p:cNvPr id="486" name="Google Shape;486;p38"/>
          <p:cNvSpPr txBox="1"/>
          <p:nvPr/>
        </p:nvSpPr>
        <p:spPr>
          <a:xfrm>
            <a:off x="962025" y="2238375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Natural Language Processing (NLP) models inspect communications to discover proprietary source code, business proposals, and regulatory data even if altered, paraphrased, or masked.</a:t>
            </a:r>
            <a:endParaRPr/>
          </a:p>
        </p:txBody>
      </p:sp>
      <p:sp>
        <p:nvSpPr>
          <p:cNvPr id="487" name="Google Shape;487;p38"/>
          <p:cNvSpPr txBox="1"/>
          <p:nvPr/>
        </p:nvSpPr>
        <p:spPr>
          <a:xfrm>
            <a:off x="6534150" y="19716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Evolving Voice Security</a:t>
            </a:r>
            <a:endParaRPr/>
          </a:p>
        </p:txBody>
      </p:sp>
      <p:sp>
        <p:nvSpPr>
          <p:cNvPr id="488" name="Google Shape;488;p38"/>
          <p:cNvSpPr txBox="1"/>
          <p:nvPr/>
        </p:nvSpPr>
        <p:spPr>
          <a:xfrm>
            <a:off x="6534150" y="23526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NLP voice analysis allows modern DLP to analyze and monitor audio attachments and corporate meeting logs for unauthorized sensitive information exposure.</a:t>
            </a:r>
            <a:endParaRPr/>
          </a:p>
        </p:txBody>
      </p:sp>
      <p:sp>
        <p:nvSpPr>
          <p:cNvPr id="489" name="Google Shape;489;p38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Linguistics</a:t>
            </a:r>
            <a:endParaRPr/>
          </a:p>
        </p:txBody>
      </p:sp>
      <p:sp>
        <p:nvSpPr>
          <p:cNvPr id="490" name="Google Shape;490;p38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8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NLP in Modern Security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5621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44261" y="523875"/>
            <a:ext cx="1480988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9"/>
          <p:cNvSpPr txBox="1"/>
          <p:nvPr/>
        </p:nvSpPr>
        <p:spPr>
          <a:xfrm>
            <a:off x="962025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Evasion Strategies</a:t>
            </a:r>
            <a:endParaRPr/>
          </a:p>
        </p:txBody>
      </p:sp>
      <p:sp>
        <p:nvSpPr>
          <p:cNvPr id="501" name="Google Shape;501;p39"/>
          <p:cNvSpPr txBox="1"/>
          <p:nvPr/>
        </p:nvSpPr>
        <p:spPr>
          <a:xfrm>
            <a:off x="962025" y="22383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Bad actors exploit machine learning model flaws by slightly modifying code strings or adding noise to files, deceiving automated classifiers into labeling malware as safe.</a:t>
            </a:r>
            <a:endParaRPr/>
          </a:p>
        </p:txBody>
      </p:sp>
      <p:sp>
        <p:nvSpPr>
          <p:cNvPr id="502" name="Google Shape;502;p39"/>
          <p:cNvSpPr txBox="1"/>
          <p:nvPr/>
        </p:nvSpPr>
        <p:spPr>
          <a:xfrm>
            <a:off x="6534150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Robust Defense Training</a:t>
            </a:r>
            <a:endParaRPr/>
          </a:p>
        </p:txBody>
      </p:sp>
      <p:sp>
        <p:nvSpPr>
          <p:cNvPr id="503" name="Google Shape;503;p39"/>
          <p:cNvSpPr txBox="1"/>
          <p:nvPr/>
        </p:nvSpPr>
        <p:spPr>
          <a:xfrm>
            <a:off x="6534150" y="22383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Defenders safeguard classifications by exposing security models to synthetic adversarial scenarios and applying robust contextual embedding methods.</a:t>
            </a:r>
            <a:endParaRPr/>
          </a:p>
        </p:txBody>
      </p:sp>
      <p:sp>
        <p:nvSpPr>
          <p:cNvPr id="504" name="Google Shape;504;p39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Adversarial Defense</a:t>
            </a:r>
            <a:endParaRPr/>
          </a:p>
        </p:txBody>
      </p:sp>
      <p:sp>
        <p:nvSpPr>
          <p:cNvPr id="505" name="Google Shape;505;p39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9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Adversarial ML &amp; Evasion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52608" y="523875"/>
            <a:ext cx="137264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0"/>
          <p:cNvSpPr txBox="1"/>
          <p:nvPr/>
        </p:nvSpPr>
        <p:spPr>
          <a:xfrm>
            <a:off x="1000125" y="1562100"/>
            <a:ext cx="105251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Prompt Injection Vulnerabilities: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Malicious input texts can manipulate AI agents, causing them to bypass core rules and execute unauthorized actions.</a:t>
            </a:r>
            <a:endParaRPr/>
          </a:p>
        </p:txBody>
      </p:sp>
      <p:sp>
        <p:nvSpPr>
          <p:cNvPr id="514" name="Google Shape;514;p40"/>
          <p:cNvSpPr txBox="1"/>
          <p:nvPr/>
        </p:nvSpPr>
        <p:spPr>
          <a:xfrm>
            <a:off x="1000125" y="2190750"/>
            <a:ext cx="1052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SaaS Data Leaks: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Employees uploading proprietary code or customer databases into public GenAI platforms, exposing assets.</a:t>
            </a:r>
            <a:endParaRPr/>
          </a:p>
        </p:txBody>
      </p:sp>
      <p:sp>
        <p:nvSpPr>
          <p:cNvPr id="515" name="Google Shape;515;p40"/>
          <p:cNvSpPr txBox="1"/>
          <p:nvPr/>
        </p:nvSpPr>
        <p:spPr>
          <a:xfrm>
            <a:off x="1000125" y="2590800"/>
            <a:ext cx="1052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Autonomous AI Misuse: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Automated systems execution without human oversight can trigger severe policy violations.</a:t>
            </a:r>
            <a:endParaRPr/>
          </a:p>
        </p:txBody>
      </p:sp>
      <p:pic>
        <p:nvPicPr>
          <p:cNvPr id="516" name="Google Shape;516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5954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22240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4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2624137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0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GenAI Risks</a:t>
            </a:r>
            <a:endParaRPr/>
          </a:p>
        </p:txBody>
      </p:sp>
      <p:sp>
        <p:nvSpPr>
          <p:cNvPr id="520" name="Google Shape;520;p40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0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Generative AI Security Risks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5621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43691" y="523875"/>
            <a:ext cx="1281558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962025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Poisoning Safeguards</a:t>
            </a:r>
            <a:endParaRPr/>
          </a:p>
        </p:txBody>
      </p:sp>
      <p:sp>
        <p:nvSpPr>
          <p:cNvPr id="531" name="Google Shape;531;p41"/>
          <p:cNvSpPr txBox="1"/>
          <p:nvPr/>
        </p:nvSpPr>
        <p:spPr>
          <a:xfrm>
            <a:off x="962025" y="22383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Hackers corrupt models by injecting poisoned files into pipelines. Businesses must enforce strict provenance checks and scan training data for statistical oddities.</a:t>
            </a:r>
            <a:endParaRPr/>
          </a:p>
        </p:txBody>
      </p:sp>
      <p:sp>
        <p:nvSpPr>
          <p:cNvPr id="532" name="Google Shape;532;p41"/>
          <p:cNvSpPr txBox="1"/>
          <p:nvPr/>
        </p:nvSpPr>
        <p:spPr>
          <a:xfrm>
            <a:off x="6534150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Extraction Defenses</a:t>
            </a:r>
            <a:endParaRPr/>
          </a:p>
        </p:txBody>
      </p:sp>
      <p:sp>
        <p:nvSpPr>
          <p:cNvPr id="533" name="Google Shape;533;p41"/>
          <p:cNvSpPr txBox="1"/>
          <p:nvPr/>
        </p:nvSpPr>
        <p:spPr>
          <a:xfrm>
            <a:off x="6534150" y="22383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Unauthorized queries can extract confidential information from model memory. Security teams mitigate this risk using differential privacy and query rate limits.</a:t>
            </a:r>
            <a:endParaRPr/>
          </a:p>
        </p:txBody>
      </p:sp>
      <p:sp>
        <p:nvSpPr>
          <p:cNvPr id="534" name="Google Shape;534;p41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Integrity</a:t>
            </a:r>
            <a:endParaRPr/>
          </a:p>
        </p:txBody>
      </p:sp>
      <p:sp>
        <p:nvSpPr>
          <p:cNvPr id="535" name="Google Shape;535;p41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1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Protecting AI Training Data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562100"/>
            <a:ext cx="52387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55869" y="523875"/>
            <a:ext cx="146938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42"/>
          <p:cNvSpPr txBox="1"/>
          <p:nvPr/>
        </p:nvSpPr>
        <p:spPr>
          <a:xfrm>
            <a:off x="666750" y="222795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Securing Patient PHI</a:t>
            </a:r>
            <a:endParaRPr/>
          </a:p>
        </p:txBody>
      </p:sp>
      <p:sp>
        <p:nvSpPr>
          <p:cNvPr id="545" name="Google Shape;545;p42"/>
          <p:cNvSpPr txBox="1"/>
          <p:nvPr/>
        </p:nvSpPr>
        <p:spPr>
          <a:xfrm>
            <a:off x="666750" y="2447032"/>
            <a:ext cx="5238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Modern hospitals coordinate massive streams of Protected Health Information (PHI) across systems. Traditional keyword scanning triggered overwhelming false alerts.</a:t>
            </a:r>
            <a:endParaRPr/>
          </a:p>
        </p:txBody>
      </p:sp>
      <p:sp>
        <p:nvSpPr>
          <p:cNvPr id="546" name="Google Shape;546;p42"/>
          <p:cNvSpPr txBox="1"/>
          <p:nvPr/>
        </p:nvSpPr>
        <p:spPr>
          <a:xfrm>
            <a:off x="666750" y="3247132"/>
            <a:ext cx="5238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Operational Impact:</a:t>
            </a:r>
            <a:endParaRPr/>
          </a:p>
        </p:txBody>
      </p:sp>
      <p:sp>
        <p:nvSpPr>
          <p:cNvPr id="547" name="Google Shape;547;p42"/>
          <p:cNvSpPr txBox="1"/>
          <p:nvPr/>
        </p:nvSpPr>
        <p:spPr>
          <a:xfrm>
            <a:off x="771525" y="3620512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48" name="Google Shape;548;p42"/>
          <p:cNvSpPr txBox="1"/>
          <p:nvPr/>
        </p:nvSpPr>
        <p:spPr>
          <a:xfrm>
            <a:off x="857250" y="3618607"/>
            <a:ext cx="50482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 NLP analyzes actual context of unstructured notes.</a:t>
            </a:r>
            <a:endParaRPr/>
          </a:p>
        </p:txBody>
      </p:sp>
      <p:sp>
        <p:nvSpPr>
          <p:cNvPr id="549" name="Google Shape;549;p42"/>
          <p:cNvSpPr txBox="1"/>
          <p:nvPr/>
        </p:nvSpPr>
        <p:spPr>
          <a:xfrm>
            <a:off x="771525" y="3890932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50" name="Google Shape;550;p42"/>
          <p:cNvSpPr txBox="1"/>
          <p:nvPr/>
        </p:nvSpPr>
        <p:spPr>
          <a:xfrm>
            <a:off x="857250" y="3889027"/>
            <a:ext cx="50482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Reduced false alerts by 78%, resolving analyst fatigue.</a:t>
            </a:r>
            <a:endParaRPr/>
          </a:p>
        </p:txBody>
      </p:sp>
      <p:sp>
        <p:nvSpPr>
          <p:cNvPr id="551" name="Google Shape;551;p42"/>
          <p:cNvSpPr txBox="1"/>
          <p:nvPr/>
        </p:nvSpPr>
        <p:spPr>
          <a:xfrm>
            <a:off x="771525" y="4161353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52" name="Google Shape;552;p42"/>
          <p:cNvSpPr txBox="1"/>
          <p:nvPr/>
        </p:nvSpPr>
        <p:spPr>
          <a:xfrm>
            <a:off x="857250" y="4159448"/>
            <a:ext cx="50482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Secured research databases against unauthorized sharing.</a:t>
            </a:r>
            <a:endParaRPr/>
          </a:p>
        </p:txBody>
      </p:sp>
      <p:pic>
        <p:nvPicPr>
          <p:cNvPr id="553" name="Google Shape;553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6025" y="1571625"/>
            <a:ext cx="52197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42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Study</a:t>
            </a:r>
            <a:endParaRPr/>
          </a:p>
        </p:txBody>
      </p:sp>
      <p:sp>
        <p:nvSpPr>
          <p:cNvPr id="555" name="Google Shape;555;p42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2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Study: Healthcare AI-DLP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43"/>
          <p:cNvSpPr txBox="1"/>
          <p:nvPr/>
        </p:nvSpPr>
        <p:spPr>
          <a:xfrm>
            <a:off x="1835467" y="2614612"/>
            <a:ext cx="852106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4: The Future of Cybersecurity</a:t>
            </a:r>
            <a:endParaRPr/>
          </a:p>
        </p:txBody>
      </p:sp>
      <p:sp>
        <p:nvSpPr>
          <p:cNvPr id="563" name="Google Shape;563;p43"/>
          <p:cNvSpPr txBox="1"/>
          <p:nvPr/>
        </p:nvSpPr>
        <p:spPr>
          <a:xfrm>
            <a:off x="3372064" y="4255293"/>
            <a:ext cx="5715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Analyzing Zero Trust, SASE, federation, post-quantum cryptography, and automated operations.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10858500" cy="47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49495" y="523875"/>
            <a:ext cx="1275754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44"/>
          <p:cNvSpPr txBox="1"/>
          <p:nvPr/>
        </p:nvSpPr>
        <p:spPr>
          <a:xfrm>
            <a:off x="666750" y="3505200"/>
            <a:ext cx="10858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Corporate strategy has shifted heavily toward active, systemic zero-trust architectures and automated data security posture management (DSPM) platforms.</a:t>
            </a:r>
            <a:endParaRPr/>
          </a:p>
        </p:txBody>
      </p:sp>
      <p:sp>
        <p:nvSpPr>
          <p:cNvPr id="572" name="Google Shape;572;p44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Dynamics</a:t>
            </a:r>
            <a:endParaRPr/>
          </a:p>
        </p:txBody>
      </p:sp>
      <p:sp>
        <p:nvSpPr>
          <p:cNvPr id="573" name="Google Shape;573;p44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4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 Cyber Trends for 2026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34925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62100"/>
            <a:ext cx="34925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4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49" y="1562100"/>
            <a:ext cx="34925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4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09907" y="523875"/>
            <a:ext cx="131534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4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875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5"/>
          <p:cNvSpPr txBox="1"/>
          <p:nvPr/>
        </p:nvSpPr>
        <p:spPr>
          <a:xfrm>
            <a:off x="904875" y="2428875"/>
            <a:ext cx="14401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Verify Explicitly</a:t>
            </a:r>
            <a:endParaRPr/>
          </a:p>
        </p:txBody>
      </p:sp>
      <p:sp>
        <p:nvSpPr>
          <p:cNvPr id="586" name="Google Shape;586;p45"/>
          <p:cNvSpPr txBox="1"/>
          <p:nvPr/>
        </p:nvSpPr>
        <p:spPr>
          <a:xfrm>
            <a:off x="904875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Never rely on local networks. Continuously authorize identity, context, device health, and network parameters.</a:t>
            </a:r>
            <a:endParaRPr/>
          </a:p>
        </p:txBody>
      </p:sp>
      <p:pic>
        <p:nvPicPr>
          <p:cNvPr id="587" name="Google Shape;587;p4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87924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5"/>
          <p:cNvSpPr txBox="1"/>
          <p:nvPr/>
        </p:nvSpPr>
        <p:spPr>
          <a:xfrm>
            <a:off x="4587924" y="2428875"/>
            <a:ext cx="13501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Least Privilege</a:t>
            </a:r>
            <a:endParaRPr/>
          </a:p>
        </p:txBody>
      </p:sp>
      <p:sp>
        <p:nvSpPr>
          <p:cNvPr id="589" name="Google Shape;589;p45"/>
          <p:cNvSpPr txBox="1"/>
          <p:nvPr/>
        </p:nvSpPr>
        <p:spPr>
          <a:xfrm>
            <a:off x="4587924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Limit worker credentials dynamically using Just-In-Time and Just-Enough-Access frameworks.</a:t>
            </a:r>
            <a:endParaRPr/>
          </a:p>
        </p:txBody>
      </p:sp>
      <p:pic>
        <p:nvPicPr>
          <p:cNvPr id="590" name="Google Shape;590;p4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70974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5"/>
          <p:cNvSpPr txBox="1"/>
          <p:nvPr/>
        </p:nvSpPr>
        <p:spPr>
          <a:xfrm>
            <a:off x="8270974" y="2428875"/>
            <a:ext cx="14401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Assume Breach</a:t>
            </a:r>
            <a:endParaRPr/>
          </a:p>
        </p:txBody>
      </p:sp>
      <p:sp>
        <p:nvSpPr>
          <p:cNvPr id="592" name="Google Shape;592;p45"/>
          <p:cNvSpPr txBox="1"/>
          <p:nvPr/>
        </p:nvSpPr>
        <p:spPr>
          <a:xfrm>
            <a:off x="8270974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Segment networks, monitor lateral paths, encrypt traffic, and leverage analytics to limit blast radii.</a:t>
            </a:r>
            <a:endParaRPr/>
          </a:p>
        </p:txBody>
      </p:sp>
      <p:pic>
        <p:nvPicPr>
          <p:cNvPr id="593" name="Google Shape;593;p4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6312" y="190500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4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692699" y="19050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4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90036" y="190500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45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Paradigm</a:t>
            </a:r>
            <a:endParaRPr/>
          </a:p>
        </p:txBody>
      </p:sp>
      <p:sp>
        <p:nvSpPr>
          <p:cNvPr id="597" name="Google Shape;597;p45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45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Trust Architecture (ZTA)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6"/>
          <p:cNvSpPr txBox="1"/>
          <p:nvPr/>
        </p:nvSpPr>
        <p:spPr>
          <a:xfrm>
            <a:off x="666750" y="523875"/>
            <a:ext cx="50006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Secure Access Service Edge</a:t>
            </a:r>
            <a:endParaRPr dirty="0"/>
          </a:p>
        </p:txBody>
      </p:sp>
      <p:pic>
        <p:nvPicPr>
          <p:cNvPr id="605" name="Google Shape;605;p46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979561" y="1006867"/>
            <a:ext cx="5866542" cy="4777483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6"/>
          <p:cNvSpPr txBox="1"/>
          <p:nvPr/>
        </p:nvSpPr>
        <p:spPr>
          <a:xfrm>
            <a:off x="666750" y="933450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Edge Security</a:t>
            </a:r>
            <a:endParaRPr/>
          </a:p>
        </p:txBody>
      </p:sp>
      <p:sp>
        <p:nvSpPr>
          <p:cNvPr id="607" name="Google Shape;607;p46"/>
          <p:cNvSpPr txBox="1"/>
          <p:nvPr/>
        </p:nvSpPr>
        <p:spPr>
          <a:xfrm>
            <a:off x="666750" y="1314450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Cloud transformation demands modern network structures. SASE unifies WAN capabilities with comprehensive, cloud-native security services.</a:t>
            </a:r>
            <a:endParaRPr/>
          </a:p>
        </p:txBody>
      </p:sp>
      <p:sp>
        <p:nvSpPr>
          <p:cNvPr id="608" name="Google Shape;608;p46"/>
          <p:cNvSpPr txBox="1"/>
          <p:nvPr/>
        </p:nvSpPr>
        <p:spPr>
          <a:xfrm>
            <a:off x="666750" y="2114550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By routing data processing straight to the edge, companies establish consistent threat inspection and low-latency network paths.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5621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4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898" y="523875"/>
            <a:ext cx="95235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47"/>
          <p:cNvSpPr txBox="1"/>
          <p:nvPr/>
        </p:nvSpPr>
        <p:spPr>
          <a:xfrm>
            <a:off x="962025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Unified Data Posture (DSPM)</a:t>
            </a:r>
            <a:endParaRPr/>
          </a:p>
        </p:txBody>
      </p:sp>
      <p:sp>
        <p:nvSpPr>
          <p:cNvPr id="618" name="Google Shape;618;p47"/>
          <p:cNvSpPr txBox="1"/>
          <p:nvPr/>
        </p:nvSpPr>
        <p:spPr>
          <a:xfrm>
            <a:off x="962025" y="22383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Modern platforms continuously map databases, identifying who has access and where vulnerabilities lie, enabling proactive risk reduction.</a:t>
            </a:r>
            <a:endParaRPr/>
          </a:p>
        </p:txBody>
      </p:sp>
      <p:sp>
        <p:nvSpPr>
          <p:cNvPr id="619" name="Google Shape;619;p47"/>
          <p:cNvSpPr txBox="1"/>
          <p:nvPr/>
        </p:nvSpPr>
        <p:spPr>
          <a:xfrm>
            <a:off x="6534150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Coordinated Action</a:t>
            </a:r>
            <a:endParaRPr/>
          </a:p>
        </p:txBody>
      </p:sp>
      <p:sp>
        <p:nvSpPr>
          <p:cNvPr id="620" name="Google Shape;620;p47"/>
          <p:cNvSpPr txBox="1"/>
          <p:nvPr/>
        </p:nvSpPr>
        <p:spPr>
          <a:xfrm>
            <a:off x="6534150" y="22383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Security is transitioning from isolated alerts to automated, unified coordination across endpoint agents, cloud access brokers, and firewalls.</a:t>
            </a:r>
            <a:endParaRPr/>
          </a:p>
        </p:txBody>
      </p:sp>
      <p:sp>
        <p:nvSpPr>
          <p:cNvPr id="621" name="Google Shape;621;p47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Consolidation</a:t>
            </a:r>
            <a:endParaRPr/>
          </a:p>
        </p:txBody>
      </p:sp>
      <p:sp>
        <p:nvSpPr>
          <p:cNvPr id="622" name="Google Shape;622;p47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7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Convergence of Posture &amp; Protection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5621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4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45055" y="523875"/>
            <a:ext cx="1080194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8"/>
          <p:cNvSpPr txBox="1"/>
          <p:nvPr/>
        </p:nvSpPr>
        <p:spPr>
          <a:xfrm>
            <a:off x="962025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Federated Architecture</a:t>
            </a:r>
            <a:endParaRPr/>
          </a:p>
        </p:txBody>
      </p:sp>
      <p:sp>
        <p:nvSpPr>
          <p:cNvPr id="633" name="Google Shape;633;p48"/>
          <p:cNvSpPr txBox="1"/>
          <p:nvPr/>
        </p:nvSpPr>
        <p:spPr>
          <a:xfrm>
            <a:off x="962025" y="22383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Federated learning allows multiple corporate branches to collaboratively train a shared security model without transferring sensitive raw files.</a:t>
            </a:r>
            <a:endParaRPr/>
          </a:p>
        </p:txBody>
      </p:sp>
      <p:sp>
        <p:nvSpPr>
          <p:cNvPr id="634" name="Google Shape;634;p48"/>
          <p:cNvSpPr txBox="1"/>
          <p:nvPr/>
        </p:nvSpPr>
        <p:spPr>
          <a:xfrm>
            <a:off x="6534150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Mathematical Privacy</a:t>
            </a:r>
            <a:endParaRPr/>
          </a:p>
        </p:txBody>
      </p:sp>
      <p:sp>
        <p:nvSpPr>
          <p:cNvPr id="635" name="Google Shape;635;p48"/>
          <p:cNvSpPr txBox="1"/>
          <p:nvPr/>
        </p:nvSpPr>
        <p:spPr>
          <a:xfrm>
            <a:off x="6534150" y="22383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Differential privacy injects mathematically calibrated noise into model parameters, protecting individuals from data reconstruction attacks.</a:t>
            </a:r>
            <a:endParaRPr/>
          </a:p>
        </p:txBody>
      </p:sp>
      <p:sp>
        <p:nvSpPr>
          <p:cNvPr id="636" name="Google Shape;636;p48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Privacy Science</a:t>
            </a:r>
            <a:endParaRPr/>
          </a:p>
        </p:txBody>
      </p:sp>
      <p:sp>
        <p:nvSpPr>
          <p:cNvPr id="637" name="Google Shape;637;p48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8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Privacy-Preserving Learning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4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5621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4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93808" y="523875"/>
            <a:ext cx="153144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 txBox="1"/>
          <p:nvPr/>
        </p:nvSpPr>
        <p:spPr>
          <a:xfrm>
            <a:off x="962025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Shor's Threat</a:t>
            </a:r>
            <a:endParaRPr/>
          </a:p>
        </p:txBody>
      </p:sp>
      <p:sp>
        <p:nvSpPr>
          <p:cNvPr id="648" name="Google Shape;648;p49"/>
          <p:cNvSpPr txBox="1"/>
          <p:nvPr/>
        </p:nvSpPr>
        <p:spPr>
          <a:xfrm>
            <a:off x="962025" y="22383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Quantum machines pose an imminent threat, capable of decoding standard public-key algorithms (RSA, ECC) that secure modern digital commerce.</a:t>
            </a:r>
            <a:endParaRPr/>
          </a:p>
        </p:txBody>
      </p:sp>
      <p:sp>
        <p:nvSpPr>
          <p:cNvPr id="649" name="Google Shape;649;p49"/>
          <p:cNvSpPr txBox="1"/>
          <p:nvPr/>
        </p:nvSpPr>
        <p:spPr>
          <a:xfrm>
            <a:off x="6534150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Lattice-Based Standards</a:t>
            </a:r>
            <a:endParaRPr/>
          </a:p>
        </p:txBody>
      </p:sp>
      <p:sp>
        <p:nvSpPr>
          <p:cNvPr id="650" name="Google Shape;650;p49"/>
          <p:cNvSpPr txBox="1"/>
          <p:nvPr/>
        </p:nvSpPr>
        <p:spPr>
          <a:xfrm>
            <a:off x="6534150" y="22383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Enterprises must proactively inventory cryptography and begin migrating to modern lattice-based algorithms standardizing worldwide.</a:t>
            </a:r>
            <a:endParaRPr/>
          </a:p>
        </p:txBody>
      </p:sp>
      <p:sp>
        <p:nvSpPr>
          <p:cNvPr id="651" name="Google Shape;651;p49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Cryptographic Shift</a:t>
            </a:r>
            <a:endParaRPr/>
          </a:p>
        </p:txBody>
      </p:sp>
      <p:sp>
        <p:nvSpPr>
          <p:cNvPr id="652" name="Google Shape;652;p49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49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Post-Quantum Cryptography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34925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5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62100"/>
            <a:ext cx="34925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5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49" y="1562100"/>
            <a:ext cx="34925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5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51243" y="523875"/>
            <a:ext cx="1574006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5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875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50"/>
          <p:cNvSpPr txBox="1"/>
          <p:nvPr/>
        </p:nvSpPr>
        <p:spPr>
          <a:xfrm>
            <a:off x="904875" y="2428875"/>
            <a:ext cx="186023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Ransomware (RaaS)</a:t>
            </a:r>
            <a:endParaRPr/>
          </a:p>
        </p:txBody>
      </p:sp>
      <p:sp>
        <p:nvSpPr>
          <p:cNvPr id="665" name="Google Shape;665;p50"/>
          <p:cNvSpPr txBox="1"/>
          <p:nvPr/>
        </p:nvSpPr>
        <p:spPr>
          <a:xfrm>
            <a:off x="904875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Pre-packaged malicious bundles enable low-skill hackers to easily compromise corporate networks.</a:t>
            </a:r>
            <a:endParaRPr/>
          </a:p>
        </p:txBody>
      </p:sp>
      <p:pic>
        <p:nvPicPr>
          <p:cNvPr id="666" name="Google Shape;666;p5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87924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 txBox="1"/>
          <p:nvPr/>
        </p:nvSpPr>
        <p:spPr>
          <a:xfrm>
            <a:off x="4587924" y="2428875"/>
            <a:ext cx="152019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Phishing Engines</a:t>
            </a:r>
            <a:endParaRPr/>
          </a:p>
        </p:txBody>
      </p:sp>
      <p:sp>
        <p:nvSpPr>
          <p:cNvPr id="668" name="Google Shape;668;p50"/>
          <p:cNvSpPr txBox="1"/>
          <p:nvPr/>
        </p:nvSpPr>
        <p:spPr>
          <a:xfrm>
            <a:off x="4587924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GenAI dynamically designs convincing, highly personalized spear-phishing messages at scale.</a:t>
            </a:r>
            <a:endParaRPr/>
          </a:p>
        </p:txBody>
      </p:sp>
      <p:pic>
        <p:nvPicPr>
          <p:cNvPr id="669" name="Google Shape;669;p5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70974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/>
        </p:nvSpPr>
        <p:spPr>
          <a:xfrm>
            <a:off x="8270974" y="2428875"/>
            <a:ext cx="146018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DDoS Networks</a:t>
            </a:r>
            <a:endParaRPr/>
          </a:p>
        </p:txBody>
      </p:sp>
      <p:sp>
        <p:nvSpPr>
          <p:cNvPr id="671" name="Google Shape;671;p50"/>
          <p:cNvSpPr txBox="1"/>
          <p:nvPr/>
        </p:nvSpPr>
        <p:spPr>
          <a:xfrm>
            <a:off x="8270974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Distributed botnets are rented cheaply online, allowing competitors to easily disrupt enterprise systems.</a:t>
            </a:r>
            <a:endParaRPr/>
          </a:p>
        </p:txBody>
      </p:sp>
      <p:pic>
        <p:nvPicPr>
          <p:cNvPr id="672" name="Google Shape;672;p5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3937" y="190500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5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692699" y="19050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5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75749" y="19050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0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Socio-Technical Threats</a:t>
            </a:r>
            <a:endParaRPr/>
          </a:p>
        </p:txBody>
      </p:sp>
      <p:sp>
        <p:nvSpPr>
          <p:cNvPr id="676" name="Google Shape;676;p50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50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Cybercrime-as-a-Service (CaaS)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10858500" cy="47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5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03023" y="523875"/>
            <a:ext cx="1622226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1"/>
          <p:cNvSpPr txBox="1"/>
          <p:nvPr/>
        </p:nvSpPr>
        <p:spPr>
          <a:xfrm>
            <a:off x="666750" y="4600575"/>
            <a:ext cx="10858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Autonomous orchestration has consistently minimized corporate Mean Time to Detect (MTTD) from 110 minutes down to less than 4 minutes within 5 years.</a:t>
            </a:r>
            <a:endParaRPr/>
          </a:p>
        </p:txBody>
      </p:sp>
      <p:sp>
        <p:nvSpPr>
          <p:cNvPr id="686" name="Google Shape;686;p51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Operations Metrics</a:t>
            </a:r>
            <a:endParaRPr/>
          </a:p>
        </p:txBody>
      </p:sp>
      <p:sp>
        <p:nvSpPr>
          <p:cNvPr id="687" name="Google Shape;687;p51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51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Autonomous Security Operations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23016" y="523875"/>
            <a:ext cx="1202233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2"/>
          <p:cNvSpPr txBox="1"/>
          <p:nvPr/>
        </p:nvSpPr>
        <p:spPr>
          <a:xfrm>
            <a:off x="1000125" y="1562100"/>
            <a:ext cx="1052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Automated Configuration Audit: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Continually scans massive cloud operations, detecting open access paths or databases immediately.</a:t>
            </a:r>
            <a:endParaRPr/>
          </a:p>
        </p:txBody>
      </p:sp>
      <p:sp>
        <p:nvSpPr>
          <p:cNvPr id="696" name="Google Shape;696;p52"/>
          <p:cNvSpPr txBox="1"/>
          <p:nvPr/>
        </p:nvSpPr>
        <p:spPr>
          <a:xfrm>
            <a:off x="1000125" y="1962150"/>
            <a:ext cx="1052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Identity Posture Check: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Flags redundant access credentials or inactive administrative permissions to prevent exploits.</a:t>
            </a:r>
            <a:endParaRPr/>
          </a:p>
        </p:txBody>
      </p:sp>
      <p:sp>
        <p:nvSpPr>
          <p:cNvPr id="697" name="Google Shape;697;p52"/>
          <p:cNvSpPr txBox="1"/>
          <p:nvPr/>
        </p:nvSpPr>
        <p:spPr>
          <a:xfrm>
            <a:off x="1000125" y="2362200"/>
            <a:ext cx="1052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Dynamic Drift Detection: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Alerts security engineers when deployed infrastructure configurations deviate from master templates.</a:t>
            </a:r>
            <a:endParaRPr/>
          </a:p>
        </p:txBody>
      </p:sp>
      <p:pic>
        <p:nvPicPr>
          <p:cNvPr id="698" name="Google Shape;698;p5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595437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5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19954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5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239553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52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 Posture</a:t>
            </a:r>
            <a:endParaRPr/>
          </a:p>
        </p:txBody>
      </p:sp>
      <p:sp>
        <p:nvSpPr>
          <p:cNvPr id="702" name="Google Shape;702;p52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52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 Security Posture (CSPM)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8" name="Google Shape;708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53"/>
          <p:cNvSpPr txBox="1"/>
          <p:nvPr/>
        </p:nvSpPr>
        <p:spPr>
          <a:xfrm>
            <a:off x="3005613" y="2614612"/>
            <a:ext cx="618077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5: Group Workshop</a:t>
            </a:r>
            <a:endParaRPr/>
          </a:p>
        </p:txBody>
      </p:sp>
      <p:sp>
        <p:nvSpPr>
          <p:cNvPr id="710" name="Google Shape;710;p53"/>
          <p:cNvSpPr txBox="1"/>
          <p:nvPr/>
        </p:nvSpPr>
        <p:spPr>
          <a:xfrm>
            <a:off x="3238500" y="3338512"/>
            <a:ext cx="5715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Interactive group exercise designing an enterprise-grade risk mitigation and DLP action plan.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5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5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562100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5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40391" y="523875"/>
            <a:ext cx="1484858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4"/>
          <p:cNvSpPr txBox="1"/>
          <p:nvPr/>
        </p:nvSpPr>
        <p:spPr>
          <a:xfrm>
            <a:off x="962025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Learning</a:t>
            </a:r>
            <a:endParaRPr/>
          </a:p>
        </p:txBody>
      </p:sp>
      <p:sp>
        <p:nvSpPr>
          <p:cNvPr id="720" name="Google Shape;720;p54"/>
          <p:cNvSpPr txBox="1"/>
          <p:nvPr/>
        </p:nvSpPr>
        <p:spPr>
          <a:xfrm>
            <a:off x="962025" y="22383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hands-on workshop translates the theoretical security concepts, risk metrics, and data strategies discussed today into a practical enterprise defense architecture.</a:t>
            </a:r>
            <a:endParaRPr/>
          </a:p>
        </p:txBody>
      </p:sp>
      <p:sp>
        <p:nvSpPr>
          <p:cNvPr id="721" name="Google Shape;721;p54"/>
          <p:cNvSpPr txBox="1"/>
          <p:nvPr/>
        </p:nvSpPr>
        <p:spPr>
          <a:xfrm>
            <a:off x="6534150" y="1857375"/>
            <a:ext cx="493061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Tangible Deliverable</a:t>
            </a:r>
            <a:endParaRPr/>
          </a:p>
        </p:txBody>
      </p:sp>
      <p:sp>
        <p:nvSpPr>
          <p:cNvPr id="722" name="Google Shape;722;p54"/>
          <p:cNvSpPr txBox="1"/>
          <p:nvPr/>
        </p:nvSpPr>
        <p:spPr>
          <a:xfrm>
            <a:off x="6534150" y="223837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Teams will collaborate to draft a core IT Risk Mitigation Strategy and a custom DLP policy tailored to protect assets in a mock industry scenario.</a:t>
            </a:r>
            <a:endParaRPr/>
          </a:p>
        </p:txBody>
      </p:sp>
      <p:sp>
        <p:nvSpPr>
          <p:cNvPr id="723" name="Google Shape;723;p54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Workshop Prep</a:t>
            </a:r>
            <a:endParaRPr/>
          </a:p>
        </p:txBody>
      </p:sp>
      <p:sp>
        <p:nvSpPr>
          <p:cNvPr id="724" name="Google Shape;724;p54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54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Workshop Objectives &amp; Goals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Google Shape;730;p5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5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0125" y="523875"/>
            <a:ext cx="1235124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5"/>
          <p:cNvSpPr txBox="1"/>
          <p:nvPr/>
        </p:nvSpPr>
        <p:spPr>
          <a:xfrm>
            <a:off x="1000125" y="1562100"/>
            <a:ext cx="1052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Step Goal: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Identify and map the target business's most valuable technological and data assets.</a:t>
            </a:r>
            <a:endParaRPr/>
          </a:p>
        </p:txBody>
      </p:sp>
      <p:sp>
        <p:nvSpPr>
          <p:cNvPr id="733" name="Google Shape;733;p55"/>
          <p:cNvSpPr txBox="1"/>
          <p:nvPr/>
        </p:nvSpPr>
        <p:spPr>
          <a:xfrm>
            <a:off x="1000125" y="1962150"/>
            <a:ext cx="1052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Operational Actions: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Document databases, Cloud-SaaS software, corporate IP files, and employee endpoints.</a:t>
            </a:r>
            <a:endParaRPr/>
          </a:p>
        </p:txBody>
      </p:sp>
      <p:sp>
        <p:nvSpPr>
          <p:cNvPr id="734" name="Google Shape;734;p55"/>
          <p:cNvSpPr txBox="1"/>
          <p:nvPr/>
        </p:nvSpPr>
        <p:spPr>
          <a:xfrm>
            <a:off x="1000125" y="2362200"/>
            <a:ext cx="1052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Critical Analysis: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Prioritize assets by evaluating the potential operational disruption and brand damage of exposure.</a:t>
            </a:r>
            <a:endParaRPr/>
          </a:p>
        </p:txBody>
      </p:sp>
      <p:pic>
        <p:nvPicPr>
          <p:cNvPr id="735" name="Google Shape;735;p5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5954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5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1995487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5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239553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55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Step 1</a:t>
            </a:r>
            <a:endParaRPr/>
          </a:p>
        </p:txBody>
      </p:sp>
      <p:sp>
        <p:nvSpPr>
          <p:cNvPr id="739" name="Google Shape;739;p55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55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1: Asset Discovery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5" name="Google Shape;745;p5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5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34925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5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62100"/>
            <a:ext cx="34925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5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49" y="1562100"/>
            <a:ext cx="34925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5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75255" y="523875"/>
            <a:ext cx="1149994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5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875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56"/>
          <p:cNvSpPr txBox="1"/>
          <p:nvPr/>
        </p:nvSpPr>
        <p:spPr>
          <a:xfrm>
            <a:off x="904875" y="2428875"/>
            <a:ext cx="78009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Mitigate</a:t>
            </a:r>
            <a:endParaRPr/>
          </a:p>
        </p:txBody>
      </p:sp>
      <p:sp>
        <p:nvSpPr>
          <p:cNvPr id="752" name="Google Shape;752;p56"/>
          <p:cNvSpPr txBox="1"/>
          <p:nvPr/>
        </p:nvSpPr>
        <p:spPr>
          <a:xfrm>
            <a:off x="904875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 active security controls, encryption, and DLP policies to lower threat likelihood.</a:t>
            </a:r>
            <a:endParaRPr/>
          </a:p>
        </p:txBody>
      </p:sp>
      <p:pic>
        <p:nvPicPr>
          <p:cNvPr id="753" name="Google Shape;753;p5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87924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56"/>
          <p:cNvSpPr txBox="1"/>
          <p:nvPr/>
        </p:nvSpPr>
        <p:spPr>
          <a:xfrm>
            <a:off x="4587924" y="2428875"/>
            <a:ext cx="75009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Transfer</a:t>
            </a:r>
            <a:endParaRPr/>
          </a:p>
        </p:txBody>
      </p:sp>
      <p:sp>
        <p:nvSpPr>
          <p:cNvPr id="755" name="Google Shape;755;p56"/>
          <p:cNvSpPr txBox="1"/>
          <p:nvPr/>
        </p:nvSpPr>
        <p:spPr>
          <a:xfrm>
            <a:off x="4587924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Shift financial exposure externally by purchasing comprehensive cyber insurance coverage.</a:t>
            </a:r>
            <a:endParaRPr/>
          </a:p>
        </p:txBody>
      </p:sp>
      <p:pic>
        <p:nvPicPr>
          <p:cNvPr id="756" name="Google Shape;756;p5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70974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56"/>
          <p:cNvSpPr txBox="1"/>
          <p:nvPr/>
        </p:nvSpPr>
        <p:spPr>
          <a:xfrm>
            <a:off x="8270974" y="2428875"/>
            <a:ext cx="71008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Accept</a:t>
            </a:r>
            <a:endParaRPr/>
          </a:p>
        </p:txBody>
      </p:sp>
      <p:sp>
        <p:nvSpPr>
          <p:cNvPr id="758" name="Google Shape;758;p56"/>
          <p:cNvSpPr txBox="1"/>
          <p:nvPr/>
        </p:nvSpPr>
        <p:spPr>
          <a:xfrm>
            <a:off x="8270974" y="2752725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Consciously accept minor risks whose mitigation costs exceed expected damages.</a:t>
            </a:r>
            <a:endParaRPr/>
          </a:p>
        </p:txBody>
      </p:sp>
      <p:pic>
        <p:nvPicPr>
          <p:cNvPr id="759" name="Google Shape;759;p5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09650" y="19050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5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659362" y="190500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5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90036" y="190500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56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Step 2</a:t>
            </a:r>
            <a:endParaRPr/>
          </a:p>
        </p:txBody>
      </p:sp>
      <p:sp>
        <p:nvSpPr>
          <p:cNvPr id="763" name="Google Shape;763;p56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56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2: Risk Response Strategy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9" name="Google Shape;769;p5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5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1085850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5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08108" y="523875"/>
            <a:ext cx="141714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57"/>
          <p:cNvSpPr/>
          <p:nvPr/>
        </p:nvSpPr>
        <p:spPr>
          <a:xfrm>
            <a:off x="676275" y="1571625"/>
            <a:ext cx="10839450" cy="26955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73" name="Google Shape;773;p57"/>
          <p:cNvGraphicFramePr/>
          <p:nvPr/>
        </p:nvGraphicFramePr>
        <p:xfrm>
          <a:off x="676275" y="1571625"/>
          <a:ext cx="10839450" cy="2695600"/>
        </p:xfrm>
        <a:graphic>
          <a:graphicData uri="http://schemas.openxmlformats.org/drawingml/2006/table">
            <a:tbl>
              <a:tblPr firstRow="1" bandRow="1">
                <a:noFill/>
                <a:tableStyleId>{BF14DC12-F8E7-475D-9420-A6BF1F1BE91B}</a:tableStyleId>
              </a:tblPr>
              <a:tblGrid>
                <a:gridCol w="446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Identified Threat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 Security Control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Target DLP Rule Specification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Unsafe employee sharing of proprietary source code via web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 Proxy Filtering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Active block on files with structured code syntax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Unencrypted local storage of patient data on endpoints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Device Encryption Policy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Scan-and-quarantine rule for unencrypted healthcare files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Compromised remote user accounts accessing files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Adaptive MFA &amp; Segments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Lock accounts downloading large datasets off-hours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74" name="Google Shape;774;p57"/>
          <p:cNvSpPr/>
          <p:nvPr/>
        </p:nvSpPr>
        <p:spPr>
          <a:xfrm>
            <a:off x="676275" y="2233612"/>
            <a:ext cx="44657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57"/>
          <p:cNvSpPr/>
          <p:nvPr/>
        </p:nvSpPr>
        <p:spPr>
          <a:xfrm>
            <a:off x="5142011" y="2233612"/>
            <a:ext cx="21629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57"/>
          <p:cNvSpPr/>
          <p:nvPr/>
        </p:nvSpPr>
        <p:spPr>
          <a:xfrm>
            <a:off x="7304930" y="2233612"/>
            <a:ext cx="42107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57"/>
          <p:cNvSpPr/>
          <p:nvPr/>
        </p:nvSpPr>
        <p:spPr>
          <a:xfrm>
            <a:off x="676275" y="2909887"/>
            <a:ext cx="44657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57"/>
          <p:cNvSpPr/>
          <p:nvPr/>
        </p:nvSpPr>
        <p:spPr>
          <a:xfrm>
            <a:off x="5142011" y="2909887"/>
            <a:ext cx="21629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57"/>
          <p:cNvSpPr/>
          <p:nvPr/>
        </p:nvSpPr>
        <p:spPr>
          <a:xfrm>
            <a:off x="7304930" y="2909887"/>
            <a:ext cx="42107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57"/>
          <p:cNvSpPr/>
          <p:nvPr/>
        </p:nvSpPr>
        <p:spPr>
          <a:xfrm>
            <a:off x="676275" y="3586162"/>
            <a:ext cx="44657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57"/>
          <p:cNvSpPr/>
          <p:nvPr/>
        </p:nvSpPr>
        <p:spPr>
          <a:xfrm>
            <a:off x="5142011" y="3586162"/>
            <a:ext cx="21629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57"/>
          <p:cNvSpPr/>
          <p:nvPr/>
        </p:nvSpPr>
        <p:spPr>
          <a:xfrm>
            <a:off x="7304930" y="3586162"/>
            <a:ext cx="42107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57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Step 3</a:t>
            </a:r>
            <a:endParaRPr/>
          </a:p>
        </p:txBody>
      </p:sp>
      <p:sp>
        <p:nvSpPr>
          <p:cNvPr id="784" name="Google Shape;784;p57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57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3: Control Design &amp; DLP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5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5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62100"/>
            <a:ext cx="10858500" cy="47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5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88153" y="523875"/>
            <a:ext cx="1537096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58"/>
          <p:cNvSpPr txBox="1"/>
          <p:nvPr/>
        </p:nvSpPr>
        <p:spPr>
          <a:xfrm>
            <a:off x="666750" y="3505200"/>
            <a:ext cx="10858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Your designed response system must prioritize automation, targeting incident validation times under 1 hour.</a:t>
            </a:r>
            <a:endParaRPr/>
          </a:p>
        </p:txBody>
      </p:sp>
      <p:sp>
        <p:nvSpPr>
          <p:cNvPr id="794" name="Google Shape;794;p58"/>
          <p:cNvSpPr txBox="1"/>
          <p:nvPr/>
        </p:nvSpPr>
        <p:spPr>
          <a:xfrm>
            <a:off x="666750" y="52387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Step 4</a:t>
            </a:r>
            <a:endParaRPr/>
          </a:p>
        </p:txBody>
      </p:sp>
      <p:sp>
        <p:nvSpPr>
          <p:cNvPr id="795" name="Google Shape;795;p58"/>
          <p:cNvSpPr/>
          <p:nvPr/>
        </p:nvSpPr>
        <p:spPr>
          <a:xfrm>
            <a:off x="666750" y="857250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58"/>
          <p:cNvSpPr txBox="1"/>
          <p:nvPr/>
        </p:nvSpPr>
        <p:spPr>
          <a:xfrm>
            <a:off x="666750" y="115252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4: Response Metrics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5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59"/>
          <p:cNvSpPr txBox="1"/>
          <p:nvPr/>
        </p:nvSpPr>
        <p:spPr>
          <a:xfrm>
            <a:off x="4280773" y="2776537"/>
            <a:ext cx="363045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 &amp; Discussion</a:t>
            </a:r>
            <a:endParaRPr/>
          </a:p>
        </p:txBody>
      </p:sp>
      <p:sp>
        <p:nvSpPr>
          <p:cNvPr id="803" name="Google Shape;803;p59"/>
          <p:cNvSpPr txBox="1"/>
          <p:nvPr/>
        </p:nvSpPr>
        <p:spPr>
          <a:xfrm>
            <a:off x="3481387" y="3157537"/>
            <a:ext cx="5229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Open Floor for Strategic Inquiries, Workshop Reporting, and Key Insights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6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60"/>
          <p:cNvSpPr/>
          <p:nvPr/>
        </p:nvSpPr>
        <p:spPr>
          <a:xfrm>
            <a:off x="666750" y="933450"/>
            <a:ext cx="108585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60"/>
          <p:cNvSpPr/>
          <p:nvPr/>
        </p:nvSpPr>
        <p:spPr>
          <a:xfrm>
            <a:off x="666750" y="1704975"/>
            <a:ext cx="108585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60"/>
          <p:cNvSpPr/>
          <p:nvPr/>
        </p:nvSpPr>
        <p:spPr>
          <a:xfrm>
            <a:off x="666750" y="2476500"/>
            <a:ext cx="108585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60"/>
          <p:cNvSpPr/>
          <p:nvPr/>
        </p:nvSpPr>
        <p:spPr>
          <a:xfrm>
            <a:off x="666750" y="1695450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60"/>
          <p:cNvSpPr/>
          <p:nvPr/>
        </p:nvSpPr>
        <p:spPr>
          <a:xfrm>
            <a:off x="666750" y="1695450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60"/>
          <p:cNvSpPr/>
          <p:nvPr/>
        </p:nvSpPr>
        <p:spPr>
          <a:xfrm>
            <a:off x="666750" y="2466975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60"/>
          <p:cNvSpPr/>
          <p:nvPr/>
        </p:nvSpPr>
        <p:spPr>
          <a:xfrm>
            <a:off x="666750" y="2466975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60"/>
          <p:cNvSpPr/>
          <p:nvPr/>
        </p:nvSpPr>
        <p:spPr>
          <a:xfrm>
            <a:off x="666750" y="3238500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60"/>
          <p:cNvSpPr/>
          <p:nvPr/>
        </p:nvSpPr>
        <p:spPr>
          <a:xfrm>
            <a:off x="666750" y="3238500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9" name="Google Shape;819;p6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0763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60"/>
          <p:cNvSpPr txBox="1"/>
          <p:nvPr/>
        </p:nvSpPr>
        <p:spPr>
          <a:xfrm>
            <a:off x="1762125" y="1083468"/>
            <a:ext cx="97631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https://www.ateam-oracle.com/wp-content/uploads/sites/134/2025/11/FusionSaaSSecurity.jpg</a:t>
            </a:r>
            <a:endParaRPr/>
          </a:p>
        </p:txBody>
      </p:sp>
      <p:sp>
        <p:nvSpPr>
          <p:cNvPr id="821" name="Google Shape;821;p60"/>
          <p:cNvSpPr txBox="1"/>
          <p:nvPr/>
        </p:nvSpPr>
        <p:spPr>
          <a:xfrm>
            <a:off x="1762125" y="1316831"/>
            <a:ext cx="9763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www.ateam-oracle.com</a:t>
            </a:r>
            <a:endParaRPr/>
          </a:p>
        </p:txBody>
      </p:sp>
      <p:pic>
        <p:nvPicPr>
          <p:cNvPr id="822" name="Google Shape;822;p6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8478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60"/>
          <p:cNvSpPr txBox="1"/>
          <p:nvPr/>
        </p:nvSpPr>
        <p:spPr>
          <a:xfrm>
            <a:off x="1762125" y="1854993"/>
            <a:ext cx="97631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https://www.netflowlogic.com/wp-content/uploads/2025/02/AI-powered-network-monitoring.webp</a:t>
            </a:r>
            <a:endParaRPr/>
          </a:p>
        </p:txBody>
      </p:sp>
      <p:sp>
        <p:nvSpPr>
          <p:cNvPr id="824" name="Google Shape;824;p60"/>
          <p:cNvSpPr txBox="1"/>
          <p:nvPr/>
        </p:nvSpPr>
        <p:spPr>
          <a:xfrm>
            <a:off x="1762125" y="2088356"/>
            <a:ext cx="9763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www.netflowlogic.com</a:t>
            </a:r>
            <a:endParaRPr/>
          </a:p>
        </p:txBody>
      </p:sp>
      <p:pic>
        <p:nvPicPr>
          <p:cNvPr id="825" name="Google Shape;825;p6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26193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60"/>
          <p:cNvSpPr txBox="1"/>
          <p:nvPr/>
        </p:nvSpPr>
        <p:spPr>
          <a:xfrm>
            <a:off x="1762125" y="2626518"/>
            <a:ext cx="97631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https://discover.strongdm.com/hubfs/Healthcare%20Data%20Security.png</a:t>
            </a:r>
            <a:endParaRPr/>
          </a:p>
        </p:txBody>
      </p:sp>
      <p:sp>
        <p:nvSpPr>
          <p:cNvPr id="827" name="Google Shape;827;p60"/>
          <p:cNvSpPr txBox="1"/>
          <p:nvPr/>
        </p:nvSpPr>
        <p:spPr>
          <a:xfrm>
            <a:off x="1762125" y="2859881"/>
            <a:ext cx="9763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www.strongdm.com</a:t>
            </a:r>
            <a:endParaRPr/>
          </a:p>
        </p:txBody>
      </p:sp>
      <p:pic>
        <p:nvPicPr>
          <p:cNvPr id="828" name="Google Shape;828;p6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33909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60"/>
          <p:cNvSpPr txBox="1"/>
          <p:nvPr/>
        </p:nvSpPr>
        <p:spPr>
          <a:xfrm>
            <a:off x="1762125" y="3398043"/>
            <a:ext cx="97631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https://cdn.umbrella.marketops.umbrella.com/wp-content/uploads/2021/10/11113735/sase_network_security_it_central_station_graphic.png</a:t>
            </a:r>
            <a:endParaRPr/>
          </a:p>
        </p:txBody>
      </p:sp>
      <p:sp>
        <p:nvSpPr>
          <p:cNvPr id="830" name="Google Shape;830;p60"/>
          <p:cNvSpPr txBox="1"/>
          <p:nvPr/>
        </p:nvSpPr>
        <p:spPr>
          <a:xfrm>
            <a:off x="1762125" y="3631406"/>
            <a:ext cx="9763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umbrella.cisco.com</a:t>
            </a:r>
            <a:endParaRPr/>
          </a:p>
        </p:txBody>
      </p:sp>
      <p:sp>
        <p:nvSpPr>
          <p:cNvPr id="831" name="Google Shape;831;p60"/>
          <p:cNvSpPr txBox="1"/>
          <p:nvPr/>
        </p:nvSpPr>
        <p:spPr>
          <a:xfrm>
            <a:off x="666750" y="523875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2526</Words>
  <Application>Microsoft Office PowerPoint</Application>
  <PresentationFormat>Widescreen</PresentationFormat>
  <Paragraphs>291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Arial</vt:lpstr>
      <vt:lpstr>Calibri</vt:lpstr>
      <vt:lpstr>Plus Jakarta Sans Medium</vt:lpstr>
      <vt:lpstr>Plus Jakarta Sans</vt:lpstr>
      <vt:lpstr>Times New Roman</vt:lpstr>
      <vt:lpstr>Inter</vt:lpstr>
      <vt:lpstr>Inter SemiBold</vt:lpstr>
      <vt:lpstr>Times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USER</cp:lastModifiedBy>
  <cp:revision>3</cp:revision>
  <dcterms:modified xsi:type="dcterms:W3CDTF">2026-05-20T16:16:40Z</dcterms:modified>
</cp:coreProperties>
</file>