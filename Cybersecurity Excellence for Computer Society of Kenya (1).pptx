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Inter" panose="020B0604020202020204" charset="0"/>
      <p:regular r:id="rId53"/>
      <p:bold r:id="rId54"/>
      <p:italic r:id="rId55"/>
      <p:boldItalic r:id="rId56"/>
    </p:embeddedFont>
    <p:embeddedFont>
      <p:font typeface="Inter Medium" panose="020B0604020202020204" charset="0"/>
      <p:regular r:id="rId57"/>
      <p:bold r:id="rId58"/>
      <p:italic r:id="rId59"/>
      <p:boldItalic r:id="rId60"/>
    </p:embeddedFont>
    <p:embeddedFont>
      <p:font typeface="Inter SemiBold" panose="020B0604020202020204" charset="0"/>
      <p:regular r:id="rId61"/>
      <p:bold r:id="rId62"/>
      <p:italic r:id="rId63"/>
      <p:boldItalic r:id="rId64"/>
    </p:embeddedFont>
    <p:embeddedFont>
      <p:font typeface="Montserrat" panose="020B0604020202020204" charset="0"/>
      <p:regular r:id="rId65"/>
      <p:bold r:id="rId66"/>
      <p:italic r:id="rId67"/>
      <p:boldItalic r:id="rId68"/>
    </p:embeddedFont>
    <p:embeddedFont>
      <p:font typeface="Montserrat Medium" panose="020B0604020202020204" charset="0"/>
      <p:regular r:id="rId69"/>
      <p:bold r:id="rId70"/>
      <p:italic r:id="rId71"/>
      <p:boldItalic r:id="rId72"/>
    </p:embeddedFont>
    <p:embeddedFont>
      <p:font typeface="Montserrat SemiBold" panose="020B060402020202020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96C846-08C9-43A9-8587-8BFB582BA9B5}">
  <a:tblStyle styleId="{BE96C846-08C9-43A9-8587-8BFB582BA9B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74" Type="http://schemas.openxmlformats.org/officeDocument/2006/relationships/font" Target="fonts/font26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72" Type="http://schemas.openxmlformats.org/officeDocument/2006/relationships/font" Target="fonts/font24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font" Target="fonts/font22.fntdata"/><Relationship Id="rId75" Type="http://schemas.openxmlformats.org/officeDocument/2006/relationships/font" Target="fonts/font2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font" Target="fonts/font25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6" Type="http://schemas.openxmlformats.org/officeDocument/2006/relationships/font" Target="fonts/font28.fntdata"/><Relationship Id="rId7" Type="http://schemas.openxmlformats.org/officeDocument/2006/relationships/slide" Target="slides/slide6.xml"/><Relationship Id="rId71" Type="http://schemas.openxmlformats.org/officeDocument/2006/relationships/font" Target="fonts/font2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7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5.png"/><Relationship Id="rId5" Type="http://schemas.openxmlformats.org/officeDocument/2006/relationships/image" Target="../media/image53.png"/><Relationship Id="rId10" Type="http://schemas.openxmlformats.org/officeDocument/2006/relationships/image" Target="../media/image22.png"/><Relationship Id="rId4" Type="http://schemas.openxmlformats.org/officeDocument/2006/relationships/image" Target="../media/image52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8.png"/><Relationship Id="rId10" Type="http://schemas.openxmlformats.org/officeDocument/2006/relationships/image" Target="../media/image62.png"/><Relationship Id="rId4" Type="http://schemas.openxmlformats.org/officeDocument/2006/relationships/image" Target="../media/image7.png"/><Relationship Id="rId9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69.png"/><Relationship Id="rId5" Type="http://schemas.openxmlformats.org/officeDocument/2006/relationships/image" Target="../media/image53.png"/><Relationship Id="rId10" Type="http://schemas.openxmlformats.org/officeDocument/2006/relationships/image" Target="../media/image22.png"/><Relationship Id="rId4" Type="http://schemas.openxmlformats.org/officeDocument/2006/relationships/image" Target="../media/image52.png"/><Relationship Id="rId9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24.png"/><Relationship Id="rId5" Type="http://schemas.openxmlformats.org/officeDocument/2006/relationships/image" Target="../media/image78.png"/><Relationship Id="rId10" Type="http://schemas.openxmlformats.org/officeDocument/2006/relationships/image" Target="../media/image22.png"/><Relationship Id="rId4" Type="http://schemas.openxmlformats.org/officeDocument/2006/relationships/image" Target="../media/image77.png"/><Relationship Id="rId9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30.png"/><Relationship Id="rId9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1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8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1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9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1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8.png"/><Relationship Id="rId4" Type="http://schemas.openxmlformats.org/officeDocument/2006/relationships/image" Target="../media/image9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7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5.png"/><Relationship Id="rId5" Type="http://schemas.openxmlformats.org/officeDocument/2006/relationships/image" Target="../media/image103.png"/><Relationship Id="rId10" Type="http://schemas.openxmlformats.org/officeDocument/2006/relationships/image" Target="../media/image22.png"/><Relationship Id="rId4" Type="http://schemas.openxmlformats.org/officeDocument/2006/relationships/image" Target="../media/image102.png"/><Relationship Id="rId9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3112" y="4091880"/>
            <a:ext cx="81057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95387" y="2156519"/>
            <a:ext cx="98012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Advanced Cybersecurity Engineering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Enterprise Information Security Strategy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043112" y="4339530"/>
            <a:ext cx="2686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Travellers Beach Hotel, Mombasa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110162" y="4339530"/>
            <a:ext cx="27717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Computer Society of Kenya (CSK)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262937" y="4339530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2026 Executive Series</a:t>
            </a:r>
            <a:endParaRPr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43112" y="43585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10162" y="435858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62937" y="435858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9762" y="6524625"/>
            <a:ext cx="9715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Agenda Overview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915650" y="6524625"/>
            <a:ext cx="609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 / 46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9650" y="1493490"/>
            <a:ext cx="4830603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Modules 1 - 3: Foundations &amp; Intelligence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Modules 4 - 6: Defense &amp; Operations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438275" y="216024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1: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The Role of Encryption in Data Security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438275" y="2517427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2: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Advanced Risk Assessment Methodologies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438275" y="287461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3: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Threat Intelligence &amp; Vulnerability Management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10400" y="188401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4: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Practical Security Controls and Modern Tools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010400" y="248409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5: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Strategic Incident Response Planning (IRP)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010400" y="2841277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6: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Business Continuity &amp; Disaster Recovery (BCDR)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1935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55076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9079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19173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5174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8746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Executive Program Roadmap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424487" y="2075557"/>
            <a:ext cx="1419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MODULE 01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283743" y="2447032"/>
            <a:ext cx="5700712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Role of Encryption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 Data Security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562600" y="3782317"/>
            <a:ext cx="1143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2800350" y="4058542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Securing enterprise data at rest, in transit, and in processing using advanced mathematical cryptography and modern encryption protocols.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638800" y="6524625"/>
            <a:ext cx="1123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Encryption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906125" y="65246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 / 46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Symmetric Cryptography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09650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Employs a single, shared secret key for both the encipherment and decipherment of data. Requires secure key distribution channels.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Asymmetric Cryptography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581775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Utilizes mathematically linked key pairs: a Public Key for encipherment (widely shared) and a Private Key for decipherment (kept secret).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438275" y="282699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High throughput and processing speed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438275" y="3146077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Standard algorithm: AES-256 (GCM/CBC)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010400" y="282699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Eliminates physical key exchange issues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010400" y="3146077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Standard: RSA-4096, ECC (ECDSA)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8603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17941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86032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317941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Core Cryptography Concepts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666750" y="1112490"/>
            <a:ext cx="108585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7"/>
          <p:cNvGraphicFramePr/>
          <p:nvPr/>
        </p:nvGraphicFramePr>
        <p:xfrm>
          <a:off x="666750" y="1112490"/>
          <a:ext cx="10848975" cy="3076625"/>
        </p:xfrm>
        <a:graphic>
          <a:graphicData uri="http://schemas.openxmlformats.org/drawingml/2006/table">
            <a:tbl>
              <a:tblPr firstRow="1" bandRow="1">
                <a:noFill/>
                <a:tableStyleId>{BE96C846-08C9-43A9-8587-8BFB582BA9B5}</a:tableStyleId>
              </a:tblPr>
              <a:tblGrid>
                <a:gridCol w="203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Encryption Mode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Basic 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Parallel Processing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Operational 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ECB</a:t>
                      </a: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(Electronic Codebook)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Encrypts each block individually with the same 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Supported (Independent blocks)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Legacy database fields only (Insecure; leaks patterns)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CBC</a:t>
                      </a: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(Cipher Block Chaining)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Chains blocks sequentially using IV and XOR operations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Unsupported (Sequential dependency)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Legacy system storage volume protection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GCM</a:t>
                      </a: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(Galois/Counter Mode)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Counter mode with integrated authenticated tags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Supported (Parallelizable)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Modern standard for high-speed TLS 1.3 tunnels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CTR</a:t>
                      </a: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(Counter Mode)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Converts standard block cipher into a stream cipher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Supported (Parallelizable)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High-throughput streaming network communication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" name="Google Shape;165;p17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643562" y="6524625"/>
            <a:ext cx="1123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Encryption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915650" y="6524625"/>
            <a:ext cx="609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5 / 46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Symmetric Encryption Modes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666750" y="1112490"/>
            <a:ext cx="10858500" cy="3076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18"/>
          <p:cNvGraphicFramePr/>
          <p:nvPr/>
        </p:nvGraphicFramePr>
        <p:xfrm>
          <a:off x="666750" y="1112490"/>
          <a:ext cx="10848975" cy="3076625"/>
        </p:xfrm>
        <a:graphic>
          <a:graphicData uri="http://schemas.openxmlformats.org/drawingml/2006/table">
            <a:tbl>
              <a:tblPr firstRow="1" bandRow="1">
                <a:noFill/>
                <a:tableStyleId>{BE96C846-08C9-43A9-8587-8BFB582BA9B5}</a:tableStyleId>
              </a:tblPr>
              <a:tblGrid>
                <a:gridCol w="236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Key Sizes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Operational 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Security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AES</a:t>
                      </a: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(Advanced Encryption Standard)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Symmetric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128, 192, 256 bits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Bulk data storage encryption, database volume shielding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secure (industry benchmark)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RSA</a:t>
                      </a: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(Rivest-Shamir-Adleman)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Asymmetric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2048 to 4096 bits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Digital signatures, Secure Email (S/MIME) metadata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Slower; secure but legacy-prone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ECC</a:t>
                      </a: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(Elliptic Curve Cryptography)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Asymmetric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256, 384, 521 bits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Mobile device security, API gateways, TLS key exchanges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efficient, modern standard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ChaCha20-Poly1305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Symmetric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 bits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Symmetric cipher used in modern TLS/SSH protocols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Extremely fast on non-hardware-accel CPU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8" name="Google Shape;178;p18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638800" y="6524625"/>
            <a:ext cx="1123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Encryption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0906125" y="65246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6 / 46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Cryptographic Standards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643562" y="6524625"/>
            <a:ext cx="1123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Encryption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0915650" y="6524625"/>
            <a:ext cx="609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7 / 46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Diffie-Hellman Key Exchange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009650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Diffie-Hellman establishes a shared secret key over an unsecure network channel without transmitting the key itself.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Elliptic Curve Diffie-Hellman (ECDH)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581775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ECDH secures parameters using elliptic curve algebraic structures. It achieves equivalent cryptographic strength to RSA but with significantly smaller keys.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010400" y="2779365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Drastically reduces processing and power overhead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010400" y="3212752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Preferred standard for cellular and IoT networks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8127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24609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Mathematical Key Exchange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34607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1112490"/>
            <a:ext cx="346070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112490"/>
            <a:ext cx="3460849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638800" y="6524625"/>
            <a:ext cx="1123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Encryption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0906125" y="65246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8 / 46</a:t>
            </a:r>
            <a:endParaRPr/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1626929" y="2303115"/>
            <a:ext cx="15401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at Rest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914400" y="2693640"/>
            <a:ext cx="29654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stored statically on non-volatile drives, SAN, or cloud storage. Shielded using Full Disk Encryption (FDE), AES-256 transparent database encryption, and hardware modules.</a:t>
            </a:r>
            <a:endParaRPr/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2476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5195738" y="2303115"/>
            <a:ext cx="1800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in Transit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613225" y="2693640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Active data moving over public or untrusted local networks. Protected using TLS 1.3, IPSec VPN tunnels, and MACsec to prevent eavesdropping and sniffing.</a:t>
            </a:r>
            <a:endParaRPr/>
          </a:p>
        </p:txBody>
      </p:sp>
      <p:pic>
        <p:nvPicPr>
          <p:cNvPr id="224" name="Google Shape;224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614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9079736" y="2303115"/>
            <a:ext cx="143017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in Use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312050" y="2693640"/>
            <a:ext cx="29655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actively residing in system RAM or CPU cache during execution. Protected using hardware Confidential Computing enclaves and Homomorphic Encryption.</a:t>
            </a:r>
            <a:endParaRPr/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63675" y="162684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05351" y="162684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23375" y="162684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Securing Three Data States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638800" y="6524625"/>
            <a:ext cx="1123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Encryption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0906125" y="65246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9 / 46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Transition to TLS 1.3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009650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TLS 1.3 optimizes network security by streamlining the handshake process and eliminating obsolete legacy cipher suites.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Perfect Forward Secrecy (PFS)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581775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Ensures that the compromise of a long-term private server key does not compromise past session traffic logs.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438275" y="27793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1-RTT Handshake: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Establishes encryption in a single network round trip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438275" y="3341340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Hardened Security: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Deprecates weak primitives like MD5, RC4, SHA-1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7010400" y="25507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Ephemeral keys are generated uniquely for each session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010400" y="311274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Mandatory constraint under the TLS 1.3 specification</a:t>
            </a:r>
            <a:endParaRPr/>
          </a:p>
        </p:txBody>
      </p:sp>
      <p:pic>
        <p:nvPicPr>
          <p:cNvPr id="251" name="Google Shape;25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81270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3746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58410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314607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Modern Security Protocols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0" y="1889670"/>
            <a:ext cx="4191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5614987" y="6524625"/>
            <a:ext cx="1123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Encryption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0858500" y="65246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10 / 46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66750" y="2744539"/>
            <a:ext cx="66008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Quantum Threat (Shor's Algorithm)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66750" y="3135064"/>
            <a:ext cx="6286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Large-scale quantum computers will instantly compromise asymmetric algorithms like RSA and ECC by solving prime factorization and discrete logarithms.</a:t>
            </a:r>
            <a:endParaRPr/>
          </a:p>
        </p:txBody>
      </p:sp>
      <p:pic>
        <p:nvPicPr>
          <p:cNvPr id="269" name="Google Shape;26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3775" y="1899195"/>
            <a:ext cx="4171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1095375" y="3735139"/>
            <a:ext cx="5857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Transitioning to lattice-based cryptographic algorithms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1095375" y="4073276"/>
            <a:ext cx="5857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NIST-selected algorithms: ML-KEM, ML-DSA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1095375" y="4411414"/>
            <a:ext cx="5857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Urgently requires organizations to achieve "cryptographic agility"</a:t>
            </a:r>
            <a:endParaRPr/>
          </a:p>
        </p:txBody>
      </p:sp>
      <p:pic>
        <p:nvPicPr>
          <p:cNvPr id="273" name="Google Shape;27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376847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410661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375" y="4444751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Post-Quantum Cryptography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5405437" y="2075557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MODULE 02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2668666" y="2447032"/>
            <a:ext cx="6930866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Enterprise Risk Assessment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Methodologies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5562600" y="3782317"/>
            <a:ext cx="1143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2800350" y="4058542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Systematically identifying, evaluating, and mitigating cybersecurity risk through standardized qualitative and quantitative frameworks.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1775" y="2874615"/>
            <a:ext cx="46005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5443537" y="6524625"/>
            <a:ext cx="1476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Risk Assessment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10868025" y="6524625"/>
            <a:ext cx="657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12 / 46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Security Definitions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Intersect of Risk Elements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581775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Risk does not exist in a vacuum. It represents the probability of a threat source exploiting a system vulnerability to compromise critical business operations.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1438275" y="188401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Asset: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Anything of tangible or intangible value to the organization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1438275" y="25126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Threat: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External or internal actor capable of causing harm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1438275" y="314131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Vulnerability: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Flaw or gap in organizational defense architectures</a:t>
            </a:r>
            <a:endParaRPr/>
          </a:p>
        </p:txBody>
      </p:sp>
      <p:pic>
        <p:nvPicPr>
          <p:cNvPr id="306" name="Google Shape;30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40016" y="3065115"/>
            <a:ext cx="3731567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191735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275" y="25460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7275" y="317465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Foundations of Cyber Risk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/>
          <p:nvPr/>
        </p:nvSpPr>
        <p:spPr>
          <a:xfrm>
            <a:off x="666750" y="1112490"/>
            <a:ext cx="10858500" cy="2828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25"/>
          <p:cNvGraphicFramePr/>
          <p:nvPr/>
        </p:nvGraphicFramePr>
        <p:xfrm>
          <a:off x="666750" y="1112490"/>
          <a:ext cx="10849000" cy="2828875"/>
        </p:xfrm>
        <a:graphic>
          <a:graphicData uri="http://schemas.openxmlformats.org/drawingml/2006/table">
            <a:tbl>
              <a:tblPr firstRow="1" bandRow="1">
                <a:noFill/>
                <a:tableStyleId>{BE96C846-08C9-43A9-8587-8BFB582BA9B5}</a:tableStyleId>
              </a:tblPr>
              <a:tblGrid>
                <a:gridCol w="152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Attributes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Qualitative Risk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Quantitative Risk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Metrics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Subjective ranges (Low, Medium, High)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Financial currency and numeric frequencies ($ or Ksh)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Brainstorming, expert opinions, ordinal scales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Statistical models, Monte Carlo simulations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Quick, easy to execute, requires minimal hard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Objective, supports cost-benefit business cases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potential for bias; non-quantifiable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Requires massive inputs, complex tools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 27005, NIST SP 800-30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FAIR Framework (Factor Analysis of Information Risk)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0" name="Google Shape;320;p25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5438775" y="6524625"/>
            <a:ext cx="1476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Risk Assessment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10858500" y="65246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13 / 46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Qualitative vs. Quantitative</a:t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484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2106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484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6112" y="2106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5438775" y="6524625"/>
            <a:ext cx="1476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Risk Assessment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10858500" y="65246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14 / 46</a:t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666750" y="3284190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767048" y="3636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01. Categorize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819150" y="3865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Identify critical assets and determine system impact levels based on CIA constraints.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3590169" y="2258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02. Select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3642270" y="2487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Choose corresponding baseline NIST security controls based on impact tiers.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6413290" y="3636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03. Implement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6465391" y="3865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selected system controls and document configuration baselines.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9236411" y="2258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04. Assess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9288512" y="2487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Audit deployed controls to ensure proper operation and intended safety posture.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NIST Risk Management Frame</a:t>
            </a:r>
            <a:endParaRPr/>
          </a:p>
        </p:txBody>
      </p:sp>
      <p:sp>
        <p:nvSpPr>
          <p:cNvPr id="348" name="Google Shape;348;p26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1765920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4589040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7412161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10235282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2598390"/>
            <a:ext cx="46005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5443537" y="6524625"/>
            <a:ext cx="1476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Risk Assessment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10868025" y="6524625"/>
            <a:ext cx="657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15 / 46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FAIR Mathematical Model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1009650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FAIR breaks risk down into measurable parts to determine the actual financial risk landscape.</a:t>
            </a:r>
            <a:endParaRPr/>
          </a:p>
        </p:txBody>
      </p:sp>
      <p:sp>
        <p:nvSpPr>
          <p:cNvPr id="367" name="Google Shape;367;p27"/>
          <p:cNvSpPr txBox="1"/>
          <p:nvPr/>
        </p:nvSpPr>
        <p:spPr>
          <a:xfrm>
            <a:off x="1009650" y="3408015"/>
            <a:ext cx="46005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Where: </a:t>
            </a:r>
            <a:r>
              <a:rPr lang="en-US" sz="10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SLE</a:t>
            </a:r>
            <a:r>
              <a:rPr lang="en-US" sz="10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(Single Loss Expectancy) = Asset Value × Exposure Factor. </a:t>
            </a:r>
            <a:r>
              <a:rPr lang="en-US" sz="10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ARO</a:t>
            </a:r>
            <a:r>
              <a:rPr lang="en-US" sz="10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is Annual Rate of Occurrence.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Applying FAIR to Enterprise Decisions</a:t>
            </a:r>
            <a:endParaRPr/>
          </a:p>
        </p:txBody>
      </p:sp>
      <p:pic>
        <p:nvPicPr>
          <p:cNvPr id="369" name="Google Shape;369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4364" y="2788890"/>
            <a:ext cx="397877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/>
        </p:nvSpPr>
        <p:spPr>
          <a:xfrm>
            <a:off x="7010400" y="1884015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Helps justify cybersecurity investments with hard ROI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7010400" y="2222152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Identifies exactly where remediation resources must be spent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7010400" y="2803177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Converts technical security metrics to boardroom business metrics</a:t>
            </a:r>
            <a:endParaRPr/>
          </a:p>
        </p:txBody>
      </p:sp>
      <p:pic>
        <p:nvPicPr>
          <p:cNvPr id="373" name="Google Shape;373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19173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5549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283651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7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FAIR Quantitative Analysis</a:t>
            </a: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8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5438775" y="6524625"/>
            <a:ext cx="1476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Risk Assessment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10858500" y="65246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16 / 46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1095375" y="1112490"/>
            <a:ext cx="10429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Asset Valuations: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Calculation of tangible replacement costs and intangible business impact values (reputation, downtime, regulatory fines).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1095375" y="1788765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Exposure Factor (EF):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The percentage of asset loss expected from a specific threat event (e.g., firewall compromise vs. site flood).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1095375" y="2222152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Historical Threat Data: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Analyzing past incidents to calculate localized Annual Rate of Occurrence (ARO).</a:t>
            </a:r>
            <a:endParaRPr/>
          </a:p>
        </p:txBody>
      </p:sp>
      <p:sp>
        <p:nvSpPr>
          <p:cNvPr id="390" name="Google Shape;390;p28"/>
          <p:cNvSpPr txBox="1"/>
          <p:nvPr/>
        </p:nvSpPr>
        <p:spPr>
          <a:xfrm>
            <a:off x="1095375" y="2655540"/>
            <a:ext cx="10429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Effectiveness: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Assessing how current policies, systems, and personnel actions scale down inherent risk to acceptable residual risk.</a:t>
            </a:r>
            <a:endParaRPr/>
          </a:p>
        </p:txBody>
      </p:sp>
      <p:pic>
        <p:nvPicPr>
          <p:cNvPr id="391" name="Google Shape;39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14582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18221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225549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68887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8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Risk Assessment Inputs</a:t>
            </a:r>
            <a:endParaRPr/>
          </a:p>
        </p:txBody>
      </p:sp>
      <p:sp>
        <p:nvSpPr>
          <p:cNvPr id="396" name="Google Shape;396;p28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34607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1112490"/>
            <a:ext cx="34607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112490"/>
            <a:ext cx="346084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9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5443537" y="6524625"/>
            <a:ext cx="1476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Risk Assessment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10868025" y="6524625"/>
            <a:ext cx="657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17 / 46</a:t>
            </a:r>
            <a:endParaRPr/>
          </a:p>
        </p:txBody>
      </p:sp>
      <p:pic>
        <p:nvPicPr>
          <p:cNvPr id="409" name="Google Shape;409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9"/>
          <p:cNvSpPr txBox="1"/>
          <p:nvPr/>
        </p:nvSpPr>
        <p:spPr>
          <a:xfrm>
            <a:off x="1441906" y="2303115"/>
            <a:ext cx="19102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Mitigate (Treat)</a:t>
            </a:r>
            <a:endParaRPr/>
          </a:p>
        </p:txBody>
      </p:sp>
      <p:sp>
        <p:nvSpPr>
          <p:cNvPr id="411" name="Google Shape;411;p29"/>
          <p:cNvSpPr txBox="1"/>
          <p:nvPr/>
        </p:nvSpPr>
        <p:spPr>
          <a:xfrm>
            <a:off x="914400" y="2693640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security controls to lower risk. (e.g., Installing a web firewall to block SQL injections).</a:t>
            </a:r>
            <a:endParaRPr/>
          </a:p>
        </p:txBody>
      </p:sp>
      <p:pic>
        <p:nvPicPr>
          <p:cNvPr id="412" name="Google Shape;412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2476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 txBox="1"/>
          <p:nvPr/>
        </p:nvSpPr>
        <p:spPr>
          <a:xfrm>
            <a:off x="5125729" y="2303115"/>
            <a:ext cx="194024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Transfer (Share)</a:t>
            </a:r>
            <a:endParaRPr/>
          </a:p>
        </p:txBody>
      </p:sp>
      <p:sp>
        <p:nvSpPr>
          <p:cNvPr id="414" name="Google Shape;414;p29"/>
          <p:cNvSpPr txBox="1"/>
          <p:nvPr/>
        </p:nvSpPr>
        <p:spPr>
          <a:xfrm>
            <a:off x="4613225" y="2693640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Shift risk to third parties. (e.g., Purchasing a cyber insurance policy or outsourcing web hosting).</a:t>
            </a:r>
            <a:endParaRPr/>
          </a:p>
        </p:txBody>
      </p:sp>
      <p:pic>
        <p:nvPicPr>
          <p:cNvPr id="415" name="Google Shape;415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614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9"/>
          <p:cNvSpPr txBox="1"/>
          <p:nvPr/>
        </p:nvSpPr>
        <p:spPr>
          <a:xfrm>
            <a:off x="8839706" y="2303115"/>
            <a:ext cx="19102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Accept (Retain)</a:t>
            </a:r>
            <a:endParaRPr/>
          </a:p>
        </p:txBody>
      </p:sp>
      <p:sp>
        <p:nvSpPr>
          <p:cNvPr id="417" name="Google Shape;417;p29"/>
          <p:cNvSpPr txBox="1"/>
          <p:nvPr/>
        </p:nvSpPr>
        <p:spPr>
          <a:xfrm>
            <a:off x="8312050" y="2693640"/>
            <a:ext cx="29655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Acknowledge risk and proceed without active controls if remediation costs exceed asset values.</a:t>
            </a:r>
            <a:endParaRPr/>
          </a:p>
        </p:txBody>
      </p:sp>
      <p:pic>
        <p:nvPicPr>
          <p:cNvPr id="418" name="Google Shape;418;p2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44625" y="162684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81551" y="162684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42425" y="162684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9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Strategic Risk Treatment</a:t>
            </a: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0"/>
          <p:cNvSpPr txBox="1"/>
          <p:nvPr/>
        </p:nvSpPr>
        <p:spPr>
          <a:xfrm>
            <a:off x="5405437" y="2075557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MODULE 03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2793682" y="2447032"/>
            <a:ext cx="668083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Threat Intelligence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Vulnerability Management</a:t>
            </a:r>
            <a:endParaRPr/>
          </a:p>
        </p:txBody>
      </p:sp>
      <p:sp>
        <p:nvSpPr>
          <p:cNvPr id="431" name="Google Shape;431;p30"/>
          <p:cNvSpPr/>
          <p:nvPr/>
        </p:nvSpPr>
        <p:spPr>
          <a:xfrm>
            <a:off x="5562600" y="3782317"/>
            <a:ext cx="1143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0"/>
          <p:cNvSpPr txBox="1"/>
          <p:nvPr/>
        </p:nvSpPr>
        <p:spPr>
          <a:xfrm>
            <a:off x="2800350" y="4058542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Transitioning from static defense models to proactive, intelligence-driven operations and continuous vulnerability lifecycle mitigation.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1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442" name="Google Shape;442;p31"/>
          <p:cNvSpPr txBox="1"/>
          <p:nvPr/>
        </p:nvSpPr>
        <p:spPr>
          <a:xfrm>
            <a:off x="5386387" y="6524625"/>
            <a:ext cx="1581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Threat Intelligence</a:t>
            </a:r>
            <a:endParaRPr/>
          </a:p>
        </p:txBody>
      </p:sp>
      <p:sp>
        <p:nvSpPr>
          <p:cNvPr id="443" name="Google Shape;443;p31"/>
          <p:cNvSpPr txBox="1"/>
          <p:nvPr/>
        </p:nvSpPr>
        <p:spPr>
          <a:xfrm>
            <a:off x="10858500" y="65246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19 / 46</a:t>
            </a:r>
            <a:endParaRPr/>
          </a:p>
        </p:txBody>
      </p:sp>
      <p:sp>
        <p:nvSpPr>
          <p:cNvPr id="444" name="Google Shape;444;p31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Classes of Intelligence</a:t>
            </a:r>
            <a:endParaRPr/>
          </a:p>
        </p:txBody>
      </p:sp>
      <p:sp>
        <p:nvSpPr>
          <p:cNvPr id="445" name="Google Shape;445;p31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Threat Intel Value</a:t>
            </a:r>
            <a:endParaRPr/>
          </a:p>
        </p:txBody>
      </p:sp>
      <p:sp>
        <p:nvSpPr>
          <p:cNvPr id="446" name="Google Shape;446;p31"/>
          <p:cNvSpPr txBox="1"/>
          <p:nvPr/>
        </p:nvSpPr>
        <p:spPr>
          <a:xfrm>
            <a:off x="6581775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CTI shifts enterprise operations from highly reactive fire fighting to predictive, intelligence-driven defense.</a:t>
            </a:r>
            <a:endParaRPr/>
          </a:p>
        </p:txBody>
      </p:sp>
      <p:sp>
        <p:nvSpPr>
          <p:cNvPr id="447" name="Google Shape;447;p31"/>
          <p:cNvSpPr txBox="1"/>
          <p:nvPr/>
        </p:nvSpPr>
        <p:spPr>
          <a:xfrm>
            <a:off x="1438275" y="188401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Strategic CTI: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Business-level risk trends and geopolitical threats for executive planning.</a:t>
            </a:r>
            <a:endParaRPr/>
          </a:p>
        </p:txBody>
      </p:sp>
      <p:sp>
        <p:nvSpPr>
          <p:cNvPr id="448" name="Google Shape;448;p31"/>
          <p:cNvSpPr txBox="1"/>
          <p:nvPr/>
        </p:nvSpPr>
        <p:spPr>
          <a:xfrm>
            <a:off x="1438275" y="25126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Tactical CTI: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Adversary Tactics, Techniques, and Procedures (TTPs) mapped to MITRE ATT&amp;CK.</a:t>
            </a:r>
            <a:endParaRPr/>
          </a:p>
        </p:txBody>
      </p:sp>
      <p:sp>
        <p:nvSpPr>
          <p:cNvPr id="449" name="Google Shape;449;p31"/>
          <p:cNvSpPr txBox="1"/>
          <p:nvPr/>
        </p:nvSpPr>
        <p:spPr>
          <a:xfrm>
            <a:off x="1438275" y="3141315"/>
            <a:ext cx="41719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CTI: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Live Indicators of Compromise (IOCs) such as malicious IP feeds, file hashes, and domain names.</a:t>
            </a:r>
            <a:endParaRPr/>
          </a:p>
        </p:txBody>
      </p:sp>
      <p:sp>
        <p:nvSpPr>
          <p:cNvPr id="450" name="Google Shape;450;p31"/>
          <p:cNvSpPr txBox="1"/>
          <p:nvPr/>
        </p:nvSpPr>
        <p:spPr>
          <a:xfrm>
            <a:off x="7010400" y="2550765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Identifies industry-specific targeting behaviors</a:t>
            </a:r>
            <a:endParaRPr/>
          </a:p>
        </p:txBody>
      </p:sp>
      <p:sp>
        <p:nvSpPr>
          <p:cNvPr id="451" name="Google Shape;451;p31"/>
          <p:cNvSpPr txBox="1"/>
          <p:nvPr/>
        </p:nvSpPr>
        <p:spPr>
          <a:xfrm>
            <a:off x="7010400" y="2888902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Focuses limited security budgets on high-probability vector points</a:t>
            </a:r>
            <a:endParaRPr/>
          </a:p>
        </p:txBody>
      </p:sp>
      <p:pic>
        <p:nvPicPr>
          <p:cNvPr id="452" name="Google Shape;452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191735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5460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317465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5841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292224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1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Actionable Threat Intelligence</a:t>
            </a:r>
            <a:endParaRPr/>
          </a:p>
        </p:txBody>
      </p:sp>
      <p:sp>
        <p:nvSpPr>
          <p:cNvPr id="458" name="Google Shape;458;p31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484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2106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484215"/>
            <a:ext cx="2388840" cy="855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6112" y="2106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2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470" name="Google Shape;470;p32"/>
          <p:cNvSpPr txBox="1"/>
          <p:nvPr/>
        </p:nvSpPr>
        <p:spPr>
          <a:xfrm>
            <a:off x="5376862" y="6524625"/>
            <a:ext cx="1581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Threat Intelligence</a:t>
            </a:r>
            <a:endParaRPr/>
          </a:p>
        </p:txBody>
      </p:sp>
      <p:sp>
        <p:nvSpPr>
          <p:cNvPr id="471" name="Google Shape;471;p32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20 / 46</a:t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666750" y="3284190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767048" y="3636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01. Plan &amp; Direct</a:t>
            </a:r>
            <a:endParaRPr/>
          </a:p>
        </p:txBody>
      </p:sp>
      <p:sp>
        <p:nvSpPr>
          <p:cNvPr id="474" name="Google Shape;474;p32"/>
          <p:cNvSpPr txBox="1"/>
          <p:nvPr/>
        </p:nvSpPr>
        <p:spPr>
          <a:xfrm>
            <a:off x="819150" y="3865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Identify critical core defense questions and prioritize target data collections.</a:t>
            </a:r>
            <a:endParaRPr/>
          </a:p>
        </p:txBody>
      </p:sp>
      <p:sp>
        <p:nvSpPr>
          <p:cNvPr id="475" name="Google Shape;475;p32"/>
          <p:cNvSpPr txBox="1"/>
          <p:nvPr/>
        </p:nvSpPr>
        <p:spPr>
          <a:xfrm>
            <a:off x="3590169" y="2258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02. Collect &amp; Process</a:t>
            </a:r>
            <a:endParaRPr/>
          </a:p>
        </p:txBody>
      </p:sp>
      <p:sp>
        <p:nvSpPr>
          <p:cNvPr id="476" name="Google Shape;476;p32"/>
          <p:cNvSpPr txBox="1"/>
          <p:nvPr/>
        </p:nvSpPr>
        <p:spPr>
          <a:xfrm>
            <a:off x="3642270" y="2487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Gather raw data streams from OSINT, dark web, and security tools; parse and clean.</a:t>
            </a:r>
            <a:endParaRPr/>
          </a:p>
        </p:txBody>
      </p:sp>
      <p:sp>
        <p:nvSpPr>
          <p:cNvPr id="477" name="Google Shape;477;p32"/>
          <p:cNvSpPr txBox="1"/>
          <p:nvPr/>
        </p:nvSpPr>
        <p:spPr>
          <a:xfrm>
            <a:off x="6413290" y="3636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03. Analyze</a:t>
            </a:r>
            <a:endParaRPr/>
          </a:p>
        </p:txBody>
      </p:sp>
      <p:sp>
        <p:nvSpPr>
          <p:cNvPr id="478" name="Google Shape;478;p32"/>
          <p:cNvSpPr txBox="1"/>
          <p:nvPr/>
        </p:nvSpPr>
        <p:spPr>
          <a:xfrm>
            <a:off x="6465391" y="3865215"/>
            <a:ext cx="2084040" cy="32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Connect intelligence dots and build structured analysis reports.</a:t>
            </a:r>
            <a:endParaRPr/>
          </a:p>
        </p:txBody>
      </p:sp>
      <p:sp>
        <p:nvSpPr>
          <p:cNvPr id="479" name="Google Shape;479;p32"/>
          <p:cNvSpPr txBox="1"/>
          <p:nvPr/>
        </p:nvSpPr>
        <p:spPr>
          <a:xfrm>
            <a:off x="9236411" y="2258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04. Disseminate</a:t>
            </a:r>
            <a:endParaRPr/>
          </a:p>
        </p:txBody>
      </p:sp>
      <p:sp>
        <p:nvSpPr>
          <p:cNvPr id="480" name="Google Shape;480;p32"/>
          <p:cNvSpPr txBox="1"/>
          <p:nvPr/>
        </p:nvSpPr>
        <p:spPr>
          <a:xfrm>
            <a:off x="9288512" y="2487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Deliver actionable threat reports to operations centers and decision-makers.</a:t>
            </a:r>
            <a:endParaRPr/>
          </a:p>
        </p:txBody>
      </p:sp>
      <p:sp>
        <p:nvSpPr>
          <p:cNvPr id="481" name="Google Shape;481;p32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Threat Intelligence Lifecycle</a:t>
            </a:r>
            <a:endParaRPr/>
          </a:p>
        </p:txBody>
      </p:sp>
      <p:sp>
        <p:nvSpPr>
          <p:cNvPr id="482" name="Google Shape;482;p32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1765920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4589040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7412161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10235282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3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496" name="Google Shape;496;p33"/>
          <p:cNvSpPr txBox="1"/>
          <p:nvPr/>
        </p:nvSpPr>
        <p:spPr>
          <a:xfrm>
            <a:off x="5391150" y="6524625"/>
            <a:ext cx="1581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Threat Intelligence</a:t>
            </a:r>
            <a:endParaRPr/>
          </a:p>
        </p:txBody>
      </p:sp>
      <p:sp>
        <p:nvSpPr>
          <p:cNvPr id="497" name="Google Shape;497;p33"/>
          <p:cNvSpPr txBox="1"/>
          <p:nvPr/>
        </p:nvSpPr>
        <p:spPr>
          <a:xfrm>
            <a:off x="10868025" y="6524625"/>
            <a:ext cx="657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21 / 46</a:t>
            </a:r>
            <a:endParaRPr/>
          </a:p>
        </p:txBody>
      </p:sp>
      <p:sp>
        <p:nvSpPr>
          <p:cNvPr id="498" name="Google Shape;498;p33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"Assume Breach" Paradigm</a:t>
            </a:r>
            <a:endParaRPr/>
          </a:p>
        </p:txBody>
      </p:sp>
      <p:sp>
        <p:nvSpPr>
          <p:cNvPr id="499" name="Google Shape;499;p33"/>
          <p:cNvSpPr txBox="1"/>
          <p:nvPr/>
        </p:nvSpPr>
        <p:spPr>
          <a:xfrm>
            <a:off x="1009650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Traditional cybersecurity waits for an alert. Threat hunting proactively searches through networks and endpoints to detect hidden malicious activities that bypassed standard defenses.</a:t>
            </a:r>
            <a:endParaRPr/>
          </a:p>
        </p:txBody>
      </p:sp>
      <p:sp>
        <p:nvSpPr>
          <p:cNvPr id="500" name="Google Shape;500;p33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Structured Hunting Methodologies</a:t>
            </a:r>
            <a:endParaRPr/>
          </a:p>
        </p:txBody>
      </p:sp>
      <p:sp>
        <p:nvSpPr>
          <p:cNvPr id="501" name="Google Shape;501;p33"/>
          <p:cNvSpPr txBox="1"/>
          <p:nvPr/>
        </p:nvSpPr>
        <p:spPr>
          <a:xfrm>
            <a:off x="6581775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Hunts are designed around specific hypotheses using recent threat intelligence models and tactical insights.</a:t>
            </a:r>
            <a:endParaRPr/>
          </a:p>
        </p:txBody>
      </p:sp>
      <p:sp>
        <p:nvSpPr>
          <p:cNvPr id="502" name="Google Shape;502;p33"/>
          <p:cNvSpPr txBox="1"/>
          <p:nvPr/>
        </p:nvSpPr>
        <p:spPr>
          <a:xfrm>
            <a:off x="1438275" y="282699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Searches for abnormal persistent registry keys</a:t>
            </a:r>
            <a:endParaRPr/>
          </a:p>
        </p:txBody>
      </p:sp>
      <p:sp>
        <p:nvSpPr>
          <p:cNvPr id="503" name="Google Shape;503;p33"/>
          <p:cNvSpPr txBox="1"/>
          <p:nvPr/>
        </p:nvSpPr>
        <p:spPr>
          <a:xfrm>
            <a:off x="1438275" y="3146077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Uncovers stealthy "living-off-the-land" binaries</a:t>
            </a:r>
            <a:endParaRPr/>
          </a:p>
        </p:txBody>
      </p:sp>
      <p:sp>
        <p:nvSpPr>
          <p:cNvPr id="504" name="Google Shape;504;p33"/>
          <p:cNvSpPr txBox="1"/>
          <p:nvPr/>
        </p:nvSpPr>
        <p:spPr>
          <a:xfrm>
            <a:off x="7010400" y="259839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Hypothesis-driven search using MITRE ATT&amp;CK maps</a:t>
            </a:r>
            <a:endParaRPr/>
          </a:p>
        </p:txBody>
      </p:sp>
      <p:sp>
        <p:nvSpPr>
          <p:cNvPr id="505" name="Google Shape;505;p33"/>
          <p:cNvSpPr txBox="1"/>
          <p:nvPr/>
        </p:nvSpPr>
        <p:spPr>
          <a:xfrm>
            <a:off x="7010400" y="2917477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Anomaly detection within core administrative credentials</a:t>
            </a:r>
            <a:endParaRPr/>
          </a:p>
        </p:txBody>
      </p:sp>
      <p:pic>
        <p:nvPicPr>
          <p:cNvPr id="506" name="Google Shape;506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8603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17941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63172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9508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3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Proactive Threat Hunting</a:t>
            </a:r>
            <a:endParaRPr/>
          </a:p>
        </p:txBody>
      </p:sp>
      <p:sp>
        <p:nvSpPr>
          <p:cNvPr id="511" name="Google Shape;511;p33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10858500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4"/>
          <p:cNvSpPr txBox="1"/>
          <p:nvPr/>
        </p:nvSpPr>
        <p:spPr>
          <a:xfrm>
            <a:off x="666750" y="4160490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retrieved from key industry reports. Modern eCrime breakout speeds have dropped to an average of just 29 minutes, making automated security essential.</a:t>
            </a:r>
            <a:endParaRPr/>
          </a:p>
        </p:txBody>
      </p:sp>
      <p:sp>
        <p:nvSpPr>
          <p:cNvPr id="520" name="Google Shape;520;p34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21" name="Google Shape;521;p34"/>
          <p:cNvSpPr txBox="1"/>
          <p:nvPr/>
        </p:nvSpPr>
        <p:spPr>
          <a:xfrm>
            <a:off x="5381625" y="6524625"/>
            <a:ext cx="1581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Threat Intelligence</a:t>
            </a:r>
            <a:endParaRPr/>
          </a:p>
        </p:txBody>
      </p:sp>
      <p:sp>
        <p:nvSpPr>
          <p:cNvPr id="522" name="Google Shape;522;p34"/>
          <p:cNvSpPr txBox="1"/>
          <p:nvPr/>
        </p:nvSpPr>
        <p:spPr>
          <a:xfrm>
            <a:off x="10848975" y="6524625"/>
            <a:ext cx="6762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22 / 46</a:t>
            </a:r>
            <a:endParaRPr/>
          </a:p>
        </p:txBody>
      </p:sp>
      <p:sp>
        <p:nvSpPr>
          <p:cNvPr id="523" name="Google Shape;523;p34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Breakout Speed Dynamics</a:t>
            </a:r>
            <a:endParaRPr/>
          </a:p>
        </p:txBody>
      </p:sp>
      <p:sp>
        <p:nvSpPr>
          <p:cNvPr id="524" name="Google Shape;524;p34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34607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1112490"/>
            <a:ext cx="34607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112490"/>
            <a:ext cx="3460849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5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35" name="Google Shape;535;p35"/>
          <p:cNvSpPr txBox="1"/>
          <p:nvPr/>
        </p:nvSpPr>
        <p:spPr>
          <a:xfrm>
            <a:off x="5376862" y="6524625"/>
            <a:ext cx="1581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Threat Intelligence</a:t>
            </a:r>
            <a:endParaRPr/>
          </a:p>
        </p:txBody>
      </p:sp>
      <p:sp>
        <p:nvSpPr>
          <p:cNvPr id="536" name="Google Shape;536;p35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23 / 46</a:t>
            </a:r>
            <a:endParaRPr/>
          </a:p>
        </p:txBody>
      </p:sp>
      <p:pic>
        <p:nvPicPr>
          <p:cNvPr id="537" name="Google Shape;537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5"/>
          <p:cNvSpPr txBox="1"/>
          <p:nvPr/>
        </p:nvSpPr>
        <p:spPr>
          <a:xfrm>
            <a:off x="1326892" y="2303115"/>
            <a:ext cx="214026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Discover &amp; Map</a:t>
            </a:r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914400" y="2693640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Run asset discovery scripts to map software versions, active ports, APIs, and network connections.</a:t>
            </a:r>
            <a:endParaRPr/>
          </a:p>
        </p:txBody>
      </p:sp>
      <p:pic>
        <p:nvPicPr>
          <p:cNvPr id="540" name="Google Shape;540;p3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2476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5"/>
          <p:cNvSpPr txBox="1"/>
          <p:nvPr/>
        </p:nvSpPr>
        <p:spPr>
          <a:xfrm>
            <a:off x="4950708" y="2303115"/>
            <a:ext cx="22902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Assess &amp; Triages</a:t>
            </a:r>
            <a:endParaRPr/>
          </a:p>
        </p:txBody>
      </p:sp>
      <p:sp>
        <p:nvSpPr>
          <p:cNvPr id="542" name="Google Shape;542;p35"/>
          <p:cNvSpPr txBox="1"/>
          <p:nvPr/>
        </p:nvSpPr>
        <p:spPr>
          <a:xfrm>
            <a:off x="4613225" y="2693640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Evaluate vulnerabilities using the CVSS framework to differentiate between theoretical bugs and active exploits.</a:t>
            </a:r>
            <a:endParaRPr/>
          </a:p>
        </p:txBody>
      </p:sp>
      <p:pic>
        <p:nvPicPr>
          <p:cNvPr id="543" name="Google Shape;543;p3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614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5"/>
          <p:cNvSpPr txBox="1"/>
          <p:nvPr/>
        </p:nvSpPr>
        <p:spPr>
          <a:xfrm>
            <a:off x="8464659" y="2303115"/>
            <a:ext cx="266033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Remediate &amp; Verify</a:t>
            </a:r>
            <a:endParaRPr/>
          </a:p>
        </p:txBody>
      </p:sp>
      <p:sp>
        <p:nvSpPr>
          <p:cNvPr id="545" name="Google Shape;545;p35"/>
          <p:cNvSpPr txBox="1"/>
          <p:nvPr/>
        </p:nvSpPr>
        <p:spPr>
          <a:xfrm>
            <a:off x="8312050" y="2693640"/>
            <a:ext cx="29655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Apply security patches or configuration changes, and re-scan the system to verify successful resolution.</a:t>
            </a:r>
            <a:endParaRPr/>
          </a:p>
        </p:txBody>
      </p:sp>
      <p:pic>
        <p:nvPicPr>
          <p:cNvPr id="546" name="Google Shape;546;p3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24401" y="162684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04325" y="162684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5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Vulnerability Management</a:t>
            </a: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36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59" name="Google Shape;559;p36"/>
          <p:cNvSpPr txBox="1"/>
          <p:nvPr/>
        </p:nvSpPr>
        <p:spPr>
          <a:xfrm>
            <a:off x="5376862" y="6524625"/>
            <a:ext cx="1581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Threat Intelligence</a:t>
            </a:r>
            <a:endParaRPr/>
          </a:p>
        </p:txBody>
      </p:sp>
      <p:sp>
        <p:nvSpPr>
          <p:cNvPr id="560" name="Google Shape;560;p36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24 / 46</a:t>
            </a:r>
            <a:endParaRPr/>
          </a:p>
        </p:txBody>
      </p:sp>
      <p:sp>
        <p:nvSpPr>
          <p:cNvPr id="561" name="Google Shape;561;p36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Base Metric Group</a:t>
            </a:r>
            <a:endParaRPr/>
          </a:p>
        </p:txBody>
      </p:sp>
      <p:sp>
        <p:nvSpPr>
          <p:cNvPr id="562" name="Google Shape;562;p36"/>
          <p:cNvSpPr txBox="1"/>
          <p:nvPr/>
        </p:nvSpPr>
        <p:spPr>
          <a:xfrm>
            <a:off x="1009650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Evaluates the intrinsic characteristics of a vulnerability that do not change over time or across different deployment environments.</a:t>
            </a:r>
            <a:endParaRPr/>
          </a:p>
        </p:txBody>
      </p:sp>
      <p:sp>
        <p:nvSpPr>
          <p:cNvPr id="563" name="Google Shape;563;p36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Threat &amp; Environmental Metrics</a:t>
            </a:r>
            <a:endParaRPr/>
          </a:p>
        </p:txBody>
      </p:sp>
      <p:sp>
        <p:nvSpPr>
          <p:cNvPr id="564" name="Google Shape;564;p36"/>
          <p:cNvSpPr txBox="1"/>
          <p:nvPr/>
        </p:nvSpPr>
        <p:spPr>
          <a:xfrm>
            <a:off x="6581775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Tailors the raw vulnerability severity score to real-world threats and unique organization configurations.</a:t>
            </a:r>
            <a:endParaRPr/>
          </a:p>
        </p:txBody>
      </p:sp>
      <p:sp>
        <p:nvSpPr>
          <p:cNvPr id="565" name="Google Shape;565;p36"/>
          <p:cNvSpPr txBox="1"/>
          <p:nvPr/>
        </p:nvSpPr>
        <p:spPr>
          <a:xfrm>
            <a:off x="1438275" y="2779365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Attack Vector: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Network, Adjacent, Local, Physical</a:t>
            </a:r>
            <a:endParaRPr/>
          </a:p>
        </p:txBody>
      </p:sp>
      <p:sp>
        <p:nvSpPr>
          <p:cNvPr id="566" name="Google Shape;566;p36"/>
          <p:cNvSpPr txBox="1"/>
          <p:nvPr/>
        </p:nvSpPr>
        <p:spPr>
          <a:xfrm>
            <a:off x="1438275" y="3098452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Complexity: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Low vs. High difficulty to exploit</a:t>
            </a:r>
            <a:endParaRPr/>
          </a:p>
        </p:txBody>
      </p:sp>
      <p:sp>
        <p:nvSpPr>
          <p:cNvPr id="567" name="Google Shape;567;p36"/>
          <p:cNvSpPr txBox="1"/>
          <p:nvPr/>
        </p:nvSpPr>
        <p:spPr>
          <a:xfrm>
            <a:off x="1438275" y="341754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Privileges Required: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None, Low, or High</a:t>
            </a:r>
            <a:endParaRPr/>
          </a:p>
        </p:txBody>
      </p:sp>
      <p:sp>
        <p:nvSpPr>
          <p:cNvPr id="568" name="Google Shape;568;p36"/>
          <p:cNvSpPr txBox="1"/>
          <p:nvPr/>
        </p:nvSpPr>
        <p:spPr>
          <a:xfrm>
            <a:off x="7010400" y="25507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Threat Metric: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Exploitability Status (Unproven, POC, Active)</a:t>
            </a:r>
            <a:endParaRPr/>
          </a:p>
        </p:txBody>
      </p:sp>
      <p:sp>
        <p:nvSpPr>
          <p:cNvPr id="569" name="Google Shape;569;p36"/>
          <p:cNvSpPr txBox="1"/>
          <p:nvPr/>
        </p:nvSpPr>
        <p:spPr>
          <a:xfrm>
            <a:off x="7010400" y="3112740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Environmental: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The critical importance of the affected server asset</a:t>
            </a:r>
            <a:endParaRPr/>
          </a:p>
        </p:txBody>
      </p:sp>
      <p:pic>
        <p:nvPicPr>
          <p:cNvPr id="570" name="Google Shape;570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81270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13179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34508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58410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14607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6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CVSS v4.0 Severity Metrics</a:t>
            </a:r>
            <a:endParaRPr/>
          </a:p>
        </p:txBody>
      </p:sp>
      <p:sp>
        <p:nvSpPr>
          <p:cNvPr id="576" name="Google Shape;576;p36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37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86" name="Google Shape;586;p37"/>
          <p:cNvSpPr txBox="1"/>
          <p:nvPr/>
        </p:nvSpPr>
        <p:spPr>
          <a:xfrm>
            <a:off x="5381625" y="6524625"/>
            <a:ext cx="1581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Threat Intelligence</a:t>
            </a:r>
            <a:endParaRPr/>
          </a:p>
        </p:txBody>
      </p:sp>
      <p:sp>
        <p:nvSpPr>
          <p:cNvPr id="587" name="Google Shape;587;p37"/>
          <p:cNvSpPr txBox="1"/>
          <p:nvPr/>
        </p:nvSpPr>
        <p:spPr>
          <a:xfrm>
            <a:off x="10848975" y="6524625"/>
            <a:ext cx="6762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25 / 46</a:t>
            </a:r>
            <a:endParaRPr/>
          </a:p>
        </p:txBody>
      </p:sp>
      <p:sp>
        <p:nvSpPr>
          <p:cNvPr id="588" name="Google Shape;588;p37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EPSS Scoring Framework</a:t>
            </a:r>
            <a:endParaRPr/>
          </a:p>
        </p:txBody>
      </p:sp>
      <p:sp>
        <p:nvSpPr>
          <p:cNvPr id="589" name="Google Shape;589;p37"/>
          <p:cNvSpPr txBox="1"/>
          <p:nvPr/>
        </p:nvSpPr>
        <p:spPr>
          <a:xfrm>
            <a:off x="1009650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Exploit Prediction Scoring System utilizes a statistical mathematical model predicting the real probability of a vulnerability being exploited within the next 30 days.</a:t>
            </a:r>
            <a:endParaRPr/>
          </a:p>
        </p:txBody>
      </p:sp>
      <p:sp>
        <p:nvSpPr>
          <p:cNvPr id="590" name="Google Shape;590;p37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CISA KEV Catalog</a:t>
            </a:r>
            <a:endParaRPr/>
          </a:p>
        </p:txBody>
      </p:sp>
      <p:sp>
        <p:nvSpPr>
          <p:cNvPr id="591" name="Google Shape;591;p37"/>
          <p:cNvSpPr txBox="1"/>
          <p:nvPr/>
        </p:nvSpPr>
        <p:spPr>
          <a:xfrm>
            <a:off x="6581775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strictly verified listing of vulnerabilities known to have active, real-world exploitation. This represents immediate, non-negotiable risk.</a:t>
            </a:r>
            <a:endParaRPr/>
          </a:p>
        </p:txBody>
      </p:sp>
      <p:sp>
        <p:nvSpPr>
          <p:cNvPr id="592" name="Google Shape;592;p37"/>
          <p:cNvSpPr txBox="1"/>
          <p:nvPr/>
        </p:nvSpPr>
        <p:spPr>
          <a:xfrm>
            <a:off x="1438275" y="282699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Uses live threat signals and historical patterns</a:t>
            </a:r>
            <a:endParaRPr/>
          </a:p>
        </p:txBody>
      </p:sp>
      <p:sp>
        <p:nvSpPr>
          <p:cNvPr id="593" name="Google Shape;593;p37"/>
          <p:cNvSpPr txBox="1"/>
          <p:nvPr/>
        </p:nvSpPr>
        <p:spPr>
          <a:xfrm>
            <a:off x="1438275" y="3146077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Helps prioritize patches before attacks happen</a:t>
            </a:r>
            <a:endParaRPr/>
          </a:p>
        </p:txBody>
      </p:sp>
      <p:sp>
        <p:nvSpPr>
          <p:cNvPr id="594" name="Google Shape;594;p37"/>
          <p:cNvSpPr txBox="1"/>
          <p:nvPr/>
        </p:nvSpPr>
        <p:spPr>
          <a:xfrm>
            <a:off x="7010400" y="282699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Mandatory remediation timelines for organizations</a:t>
            </a:r>
            <a:endParaRPr/>
          </a:p>
        </p:txBody>
      </p:sp>
      <p:sp>
        <p:nvSpPr>
          <p:cNvPr id="595" name="Google Shape;595;p37"/>
          <p:cNvSpPr txBox="1"/>
          <p:nvPr/>
        </p:nvSpPr>
        <p:spPr>
          <a:xfrm>
            <a:off x="7010400" y="3146077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Focuses entirely on active operational threats</a:t>
            </a:r>
            <a:endParaRPr/>
          </a:p>
        </p:txBody>
      </p:sp>
      <p:pic>
        <p:nvPicPr>
          <p:cNvPr id="596" name="Google Shape;596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8603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17941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8603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317941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37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Vulnerability Prioritization</a:t>
            </a:r>
            <a:endParaRPr/>
          </a:p>
        </p:txBody>
      </p:sp>
      <p:sp>
        <p:nvSpPr>
          <p:cNvPr id="601" name="Google Shape;601;p37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8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09" name="Google Shape;609;p38"/>
          <p:cNvSpPr txBox="1"/>
          <p:nvPr/>
        </p:nvSpPr>
        <p:spPr>
          <a:xfrm>
            <a:off x="5376862" y="6524625"/>
            <a:ext cx="1581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Threat Intelligence</a:t>
            </a:r>
            <a:endParaRPr/>
          </a:p>
        </p:txBody>
      </p:sp>
      <p:sp>
        <p:nvSpPr>
          <p:cNvPr id="610" name="Google Shape;610;p38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26 / 46</a:t>
            </a:r>
            <a:endParaRPr/>
          </a:p>
        </p:txBody>
      </p:sp>
      <p:sp>
        <p:nvSpPr>
          <p:cNvPr id="611" name="Google Shape;611;p38"/>
          <p:cNvSpPr txBox="1"/>
          <p:nvPr/>
        </p:nvSpPr>
        <p:spPr>
          <a:xfrm>
            <a:off x="1095375" y="1112490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Continuous Scanning: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Replace slow monthly scans with ongoing container and cloud-native vulnerability monitoring.</a:t>
            </a:r>
            <a:endParaRPr/>
          </a:p>
        </p:txBody>
      </p:sp>
      <p:sp>
        <p:nvSpPr>
          <p:cNvPr id="612" name="Google Shape;612;p38"/>
          <p:cNvSpPr txBox="1"/>
          <p:nvPr/>
        </p:nvSpPr>
        <p:spPr>
          <a:xfrm>
            <a:off x="1095375" y="1545877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Context-Aware Prioritization: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Focus remediation resources on Internet-facing vulnerabilities over isolated internal systems.</a:t>
            </a:r>
            <a:endParaRPr/>
          </a:p>
        </p:txBody>
      </p:sp>
      <p:sp>
        <p:nvSpPr>
          <p:cNvPr id="613" name="Google Shape;613;p38"/>
          <p:cNvSpPr txBox="1"/>
          <p:nvPr/>
        </p:nvSpPr>
        <p:spPr>
          <a:xfrm>
            <a:off x="1095375" y="1979265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Patching Workflows: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Streamline software patches using staging environment test runners to prevent service disruption.</a:t>
            </a:r>
            <a:endParaRPr/>
          </a:p>
        </p:txBody>
      </p:sp>
      <p:sp>
        <p:nvSpPr>
          <p:cNvPr id="614" name="Google Shape;614;p38"/>
          <p:cNvSpPr txBox="1"/>
          <p:nvPr/>
        </p:nvSpPr>
        <p:spPr>
          <a:xfrm>
            <a:off x="1095375" y="2412652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Remediation SLAs: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Enforce strict remediation deadlines based on CVSS severity (e.g., Critical: 48 hours, High: 14 days).</a:t>
            </a:r>
            <a:endParaRPr/>
          </a:p>
        </p:txBody>
      </p:sp>
      <p:pic>
        <p:nvPicPr>
          <p:cNvPr id="615" name="Google Shape;615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1458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57921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0126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44599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8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Vulnerability Scanning</a:t>
            </a:r>
            <a:endParaRPr/>
          </a:p>
        </p:txBody>
      </p:sp>
      <p:sp>
        <p:nvSpPr>
          <p:cNvPr id="620" name="Google Shape;620;p38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39"/>
          <p:cNvSpPr txBox="1"/>
          <p:nvPr/>
        </p:nvSpPr>
        <p:spPr>
          <a:xfrm>
            <a:off x="5395912" y="2075557"/>
            <a:ext cx="1476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MODULE 04</a:t>
            </a:r>
            <a:endParaRPr/>
          </a:p>
        </p:txBody>
      </p:sp>
      <p:sp>
        <p:nvSpPr>
          <p:cNvPr id="628" name="Google Shape;628;p39"/>
          <p:cNvSpPr txBox="1"/>
          <p:nvPr/>
        </p:nvSpPr>
        <p:spPr>
          <a:xfrm>
            <a:off x="2618660" y="2447032"/>
            <a:ext cx="7030878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Enterprise Security Controls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and Modern Tools</a:t>
            </a:r>
            <a:endParaRPr/>
          </a:p>
        </p:txBody>
      </p:sp>
      <p:sp>
        <p:nvSpPr>
          <p:cNvPr id="629" name="Google Shape;629;p39"/>
          <p:cNvSpPr/>
          <p:nvPr/>
        </p:nvSpPr>
        <p:spPr>
          <a:xfrm>
            <a:off x="5562600" y="3782317"/>
            <a:ext cx="1143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9"/>
          <p:cNvSpPr txBox="1"/>
          <p:nvPr/>
        </p:nvSpPr>
        <p:spPr>
          <a:xfrm>
            <a:off x="2800350" y="4058542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Deploying layered defensive controls (defense-in-depth) and configuring cybersecurity tools to mitigate risk across the modern organization.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3460700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1112490"/>
            <a:ext cx="3460700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112490"/>
            <a:ext cx="34608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0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41" name="Google Shape;641;p40"/>
          <p:cNvSpPr txBox="1"/>
          <p:nvPr/>
        </p:nvSpPr>
        <p:spPr>
          <a:xfrm>
            <a:off x="5410200" y="652462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Security Controls</a:t>
            </a:r>
            <a:endParaRPr/>
          </a:p>
        </p:txBody>
      </p:sp>
      <p:sp>
        <p:nvSpPr>
          <p:cNvPr id="642" name="Google Shape;642;p40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28 / 46</a:t>
            </a:r>
            <a:endParaRPr/>
          </a:p>
        </p:txBody>
      </p:sp>
      <p:pic>
        <p:nvPicPr>
          <p:cNvPr id="643" name="Google Shape;643;p4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0"/>
          <p:cNvSpPr txBox="1"/>
          <p:nvPr/>
        </p:nvSpPr>
        <p:spPr>
          <a:xfrm>
            <a:off x="1121866" y="2303115"/>
            <a:ext cx="25503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Perimeter Defense</a:t>
            </a:r>
            <a:endParaRPr/>
          </a:p>
        </p:txBody>
      </p:sp>
      <p:sp>
        <p:nvSpPr>
          <p:cNvPr id="645" name="Google Shape;645;p40"/>
          <p:cNvSpPr txBox="1"/>
          <p:nvPr/>
        </p:nvSpPr>
        <p:spPr>
          <a:xfrm>
            <a:off x="914400" y="2693640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Web Application Firewalls (WAF), Next-Generation Firewalls (NGFW), DDOS mitigation layers, and Secure Email Gateways (SEG).</a:t>
            </a:r>
            <a:endParaRPr/>
          </a:p>
        </p:txBody>
      </p:sp>
      <p:pic>
        <p:nvPicPr>
          <p:cNvPr id="646" name="Google Shape;646;p4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2476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0"/>
          <p:cNvSpPr txBox="1"/>
          <p:nvPr/>
        </p:nvSpPr>
        <p:spPr>
          <a:xfrm>
            <a:off x="4720679" y="2303115"/>
            <a:ext cx="27503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Endpoint Protection</a:t>
            </a:r>
            <a:endParaRPr/>
          </a:p>
        </p:txBody>
      </p:sp>
      <p:sp>
        <p:nvSpPr>
          <p:cNvPr id="648" name="Google Shape;648;p40"/>
          <p:cNvSpPr txBox="1"/>
          <p:nvPr/>
        </p:nvSpPr>
        <p:spPr>
          <a:xfrm>
            <a:off x="4613225" y="2693640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Endpoint Detection and Response (EDR) agents, host-level configuration auditing, local disk encryption, and USB control rules.</a:t>
            </a:r>
            <a:endParaRPr/>
          </a:p>
        </p:txBody>
      </p:sp>
      <p:pic>
        <p:nvPicPr>
          <p:cNvPr id="649" name="Google Shape;649;p4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614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0"/>
          <p:cNvSpPr txBox="1"/>
          <p:nvPr/>
        </p:nvSpPr>
        <p:spPr>
          <a:xfrm>
            <a:off x="8549669" y="2303115"/>
            <a:ext cx="24903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Identity Boundary</a:t>
            </a:r>
            <a:endParaRPr/>
          </a:p>
        </p:txBody>
      </p:sp>
      <p:sp>
        <p:nvSpPr>
          <p:cNvPr id="651" name="Google Shape;651;p40"/>
          <p:cNvSpPr txBox="1"/>
          <p:nvPr/>
        </p:nvSpPr>
        <p:spPr>
          <a:xfrm>
            <a:off x="8312050" y="2693640"/>
            <a:ext cx="29655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Multi-Factor Authentication (MFA), role-based access controls, automated identity provisioning, and strict session limitations.</a:t>
            </a:r>
            <a:endParaRPr/>
          </a:p>
        </p:txBody>
      </p:sp>
      <p:pic>
        <p:nvPicPr>
          <p:cNvPr id="652" name="Google Shape;652;p4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06525" y="162684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4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05351" y="162684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4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04325" y="162684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0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Defense-in-Depth Model</a:t>
            </a:r>
            <a:endParaRPr/>
          </a:p>
        </p:txBody>
      </p:sp>
      <p:sp>
        <p:nvSpPr>
          <p:cNvPr id="656" name="Google Shape;656;p40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1"/>
          <p:cNvSpPr/>
          <p:nvPr/>
        </p:nvSpPr>
        <p:spPr>
          <a:xfrm>
            <a:off x="666750" y="1112490"/>
            <a:ext cx="10858500" cy="25717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4" name="Google Shape;664;p41"/>
          <p:cNvGraphicFramePr/>
          <p:nvPr/>
        </p:nvGraphicFramePr>
        <p:xfrm>
          <a:off x="666750" y="1112490"/>
          <a:ext cx="10848975" cy="2571725"/>
        </p:xfrm>
        <a:graphic>
          <a:graphicData uri="http://schemas.openxmlformats.org/drawingml/2006/table">
            <a:tbl>
              <a:tblPr firstRow="1" bandRow="1">
                <a:noFill/>
                <a:tableStyleId>{BE96C846-08C9-43A9-8587-8BFB582BA9B5}</a:tableStyleId>
              </a:tblPr>
              <a:tblGrid>
                <a:gridCol w="146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Control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Core Definition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Enterprise Implementation Examples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Administrative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Governance, operations policies, compliance regulations, and workforce training programs.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awareness training, Acceptable Use Policies (AUP), mandatory background checks.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Technical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Hardware and software configurations deployed directly to protect enterprise computing assets.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MFA enforcement, network firewalls, active IPS, database volume encryption.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Physical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Tactile protective layers deployed to restrict unauthorized physical access to core infrastructure resources.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Biometric server access gates, security guards, CCTV surveillance, environmental fire containment.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5" name="Google Shape;665;p41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66" name="Google Shape;666;p41"/>
          <p:cNvSpPr txBox="1"/>
          <p:nvPr/>
        </p:nvSpPr>
        <p:spPr>
          <a:xfrm>
            <a:off x="5410200" y="652462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Security Controls</a:t>
            </a:r>
            <a:endParaRPr/>
          </a:p>
        </p:txBody>
      </p:sp>
      <p:sp>
        <p:nvSpPr>
          <p:cNvPr id="667" name="Google Shape;667;p41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29 / 46</a:t>
            </a:r>
            <a:endParaRPr/>
          </a:p>
        </p:txBody>
      </p:sp>
      <p:sp>
        <p:nvSpPr>
          <p:cNvPr id="668" name="Google Shape;668;p41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Security Control Tiers</a:t>
            </a:r>
            <a:endParaRPr/>
          </a:p>
        </p:txBody>
      </p:sp>
      <p:sp>
        <p:nvSpPr>
          <p:cNvPr id="669" name="Google Shape;669;p41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0" y="1889670"/>
            <a:ext cx="4191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2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78" name="Google Shape;678;p42"/>
          <p:cNvSpPr txBox="1"/>
          <p:nvPr/>
        </p:nvSpPr>
        <p:spPr>
          <a:xfrm>
            <a:off x="5405437" y="652462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Security Controls</a:t>
            </a:r>
            <a:endParaRPr/>
          </a:p>
        </p:txBody>
      </p:sp>
      <p:sp>
        <p:nvSpPr>
          <p:cNvPr id="679" name="Google Shape;679;p42"/>
          <p:cNvSpPr txBox="1"/>
          <p:nvPr/>
        </p:nvSpPr>
        <p:spPr>
          <a:xfrm>
            <a:off x="1082992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30 / 46</a:t>
            </a:r>
            <a:endParaRPr/>
          </a:p>
        </p:txBody>
      </p:sp>
      <p:sp>
        <p:nvSpPr>
          <p:cNvPr id="680" name="Google Shape;680;p42"/>
          <p:cNvSpPr txBox="1"/>
          <p:nvPr/>
        </p:nvSpPr>
        <p:spPr>
          <a:xfrm>
            <a:off x="666750" y="2399258"/>
            <a:ext cx="66008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"Never Trust, Always Verify"</a:t>
            </a:r>
            <a:endParaRPr/>
          </a:p>
        </p:txBody>
      </p:sp>
      <p:sp>
        <p:nvSpPr>
          <p:cNvPr id="681" name="Google Shape;681;p42"/>
          <p:cNvSpPr txBox="1"/>
          <p:nvPr/>
        </p:nvSpPr>
        <p:spPr>
          <a:xfrm>
            <a:off x="666750" y="2789783"/>
            <a:ext cx="6286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ZTA assumes that threats exist everywhere inside the network perimeter, requiring continuous authentication for every user and device.</a:t>
            </a:r>
            <a:endParaRPr/>
          </a:p>
        </p:txBody>
      </p:sp>
      <p:pic>
        <p:nvPicPr>
          <p:cNvPr id="682" name="Google Shape;682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3775" y="1899195"/>
            <a:ext cx="4171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2"/>
          <p:cNvSpPr txBox="1"/>
          <p:nvPr/>
        </p:nvSpPr>
        <p:spPr>
          <a:xfrm>
            <a:off x="1095375" y="3389858"/>
            <a:ext cx="5857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Continuous Verification: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Explicitly authenticate identity, location, and device status.</a:t>
            </a:r>
            <a:endParaRPr/>
          </a:p>
        </p:txBody>
      </p:sp>
      <p:sp>
        <p:nvSpPr>
          <p:cNvPr id="684" name="Google Shape;684;p42"/>
          <p:cNvSpPr txBox="1"/>
          <p:nvPr/>
        </p:nvSpPr>
        <p:spPr>
          <a:xfrm>
            <a:off x="1095375" y="3951833"/>
            <a:ext cx="5857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Least Privilege Access: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Limit user access to only the specific applications required for their role.</a:t>
            </a:r>
            <a:endParaRPr/>
          </a:p>
        </p:txBody>
      </p:sp>
      <p:sp>
        <p:nvSpPr>
          <p:cNvPr id="685" name="Google Shape;685;p42"/>
          <p:cNvSpPr txBox="1"/>
          <p:nvPr/>
        </p:nvSpPr>
        <p:spPr>
          <a:xfrm>
            <a:off x="1095375" y="4513808"/>
            <a:ext cx="5857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Assume Breach: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Segment network environments to prevent lateral movement of attackers.</a:t>
            </a:r>
            <a:endParaRPr/>
          </a:p>
        </p:txBody>
      </p:sp>
      <p:pic>
        <p:nvPicPr>
          <p:cNvPr id="686" name="Google Shape;686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342319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398517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375" y="454714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2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Zero Trust Architecture</a:t>
            </a:r>
            <a:endParaRPr/>
          </a:p>
        </p:txBody>
      </p:sp>
      <p:sp>
        <p:nvSpPr>
          <p:cNvPr id="690" name="Google Shape;690;p42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3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98" name="Google Shape;698;p43"/>
          <p:cNvSpPr txBox="1"/>
          <p:nvPr/>
        </p:nvSpPr>
        <p:spPr>
          <a:xfrm>
            <a:off x="5419725" y="652462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Security Controls</a:t>
            </a:r>
            <a:endParaRPr/>
          </a:p>
        </p:txBody>
      </p:sp>
      <p:sp>
        <p:nvSpPr>
          <p:cNvPr id="699" name="Google Shape;699;p43"/>
          <p:cNvSpPr txBox="1"/>
          <p:nvPr/>
        </p:nvSpPr>
        <p:spPr>
          <a:xfrm>
            <a:off x="10858500" y="65246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31 / 46</a:t>
            </a:r>
            <a:endParaRPr/>
          </a:p>
        </p:txBody>
      </p:sp>
      <p:sp>
        <p:nvSpPr>
          <p:cNvPr id="700" name="Google Shape;700;p43"/>
          <p:cNvSpPr txBox="1"/>
          <p:nvPr/>
        </p:nvSpPr>
        <p:spPr>
          <a:xfrm>
            <a:off x="1095375" y="1112490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Identity Threat Detection (ITDR):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Deploy identity-centric security to detect credential theft and lateral movement across systems.</a:t>
            </a:r>
            <a:endParaRPr/>
          </a:p>
        </p:txBody>
      </p:sp>
      <p:sp>
        <p:nvSpPr>
          <p:cNvPr id="701" name="Google Shape;701;p43"/>
          <p:cNvSpPr txBox="1"/>
          <p:nvPr/>
        </p:nvSpPr>
        <p:spPr>
          <a:xfrm>
            <a:off x="1095375" y="1545877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Phishing-Resistant MFA: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Transition away from vulnerable SMS and email codes to secure FIDO2/WebAuthn hardware keys.</a:t>
            </a:r>
            <a:endParaRPr/>
          </a:p>
        </p:txBody>
      </p:sp>
      <p:sp>
        <p:nvSpPr>
          <p:cNvPr id="702" name="Google Shape;702;p43"/>
          <p:cNvSpPr txBox="1"/>
          <p:nvPr/>
        </p:nvSpPr>
        <p:spPr>
          <a:xfrm>
            <a:off x="1095375" y="1979265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Privileged Access Management (PAM):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Restrict administrator accounts to just-in-time, temporary session credentials.</a:t>
            </a:r>
            <a:endParaRPr/>
          </a:p>
        </p:txBody>
      </p:sp>
      <p:sp>
        <p:nvSpPr>
          <p:cNvPr id="703" name="Google Shape;703;p43"/>
          <p:cNvSpPr txBox="1"/>
          <p:nvPr/>
        </p:nvSpPr>
        <p:spPr>
          <a:xfrm>
            <a:off x="1095375" y="2412652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Non-Human Identity Governance: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Track and rotate digital credentials used by APIs, automation scripts, and server-to-server systems.</a:t>
            </a:r>
            <a:endParaRPr/>
          </a:p>
        </p:txBody>
      </p:sp>
      <p:pic>
        <p:nvPicPr>
          <p:cNvPr id="704" name="Google Shape;704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14582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157921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20126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44599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3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Modern Identity Frameworks</a:t>
            </a:r>
            <a:endParaRPr/>
          </a:p>
        </p:txBody>
      </p:sp>
      <p:sp>
        <p:nvSpPr>
          <p:cNvPr id="709" name="Google Shape;709;p43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4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719" name="Google Shape;719;p44"/>
          <p:cNvSpPr txBox="1"/>
          <p:nvPr/>
        </p:nvSpPr>
        <p:spPr>
          <a:xfrm>
            <a:off x="5410200" y="6524625"/>
            <a:ext cx="1514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Security Controls</a:t>
            </a:r>
            <a:endParaRPr/>
          </a:p>
        </p:txBody>
      </p:sp>
      <p:sp>
        <p:nvSpPr>
          <p:cNvPr id="720" name="Google Shape;720;p44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32 / 46</a:t>
            </a:r>
            <a:endParaRPr/>
          </a:p>
        </p:txBody>
      </p:sp>
      <p:sp>
        <p:nvSpPr>
          <p:cNvPr id="721" name="Google Shape;721;p44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Explosion of API Risks</a:t>
            </a:r>
            <a:endParaRPr/>
          </a:p>
        </p:txBody>
      </p:sp>
      <p:sp>
        <p:nvSpPr>
          <p:cNvPr id="722" name="Google Shape;722;p44"/>
          <p:cNvSpPr txBox="1"/>
          <p:nvPr/>
        </p:nvSpPr>
        <p:spPr>
          <a:xfrm>
            <a:off x="1009650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Modern application backbones run heavily on microservice APIs, creating highly targeted, unmonitored external attack surfaces.</a:t>
            </a:r>
            <a:endParaRPr/>
          </a:p>
        </p:txBody>
      </p:sp>
      <p:sp>
        <p:nvSpPr>
          <p:cNvPr id="723" name="Google Shape;723;p44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WAAP Defense Strategies</a:t>
            </a:r>
            <a:endParaRPr/>
          </a:p>
        </p:txBody>
      </p:sp>
      <p:sp>
        <p:nvSpPr>
          <p:cNvPr id="724" name="Google Shape;724;p44"/>
          <p:cNvSpPr txBox="1"/>
          <p:nvPr/>
        </p:nvSpPr>
        <p:spPr>
          <a:xfrm>
            <a:off x="1438275" y="27793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Traditional firewalls struggle to parse behavioral API logic.</a:t>
            </a:r>
            <a:endParaRPr/>
          </a:p>
        </p:txBody>
      </p:sp>
      <p:sp>
        <p:nvSpPr>
          <p:cNvPr id="725" name="Google Shape;725;p44"/>
          <p:cNvSpPr txBox="1"/>
          <p:nvPr/>
        </p:nvSpPr>
        <p:spPr>
          <a:xfrm>
            <a:off x="1438275" y="3341340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Vulnerable to business logic abuse, shadow endpoints, and malicious parameters.</a:t>
            </a:r>
            <a:endParaRPr/>
          </a:p>
        </p:txBody>
      </p:sp>
      <p:sp>
        <p:nvSpPr>
          <p:cNvPr id="726" name="Google Shape;726;p44"/>
          <p:cNvSpPr txBox="1"/>
          <p:nvPr/>
        </p:nvSpPr>
        <p:spPr>
          <a:xfrm>
            <a:off x="7010400" y="188401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Behavior Profiling: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Auto-detect anomalies in API payload patterns.</a:t>
            </a:r>
            <a:endParaRPr/>
          </a:p>
        </p:txBody>
      </p:sp>
      <p:sp>
        <p:nvSpPr>
          <p:cNvPr id="727" name="Google Shape;727;p44"/>
          <p:cNvSpPr txBox="1"/>
          <p:nvPr/>
        </p:nvSpPr>
        <p:spPr>
          <a:xfrm>
            <a:off x="7010400" y="2465040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Strict Bot Mitigation: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Block high-volume automated scraping attempts.</a:t>
            </a:r>
            <a:endParaRPr/>
          </a:p>
        </p:txBody>
      </p:sp>
      <p:sp>
        <p:nvSpPr>
          <p:cNvPr id="728" name="Google Shape;728;p44"/>
          <p:cNvSpPr txBox="1"/>
          <p:nvPr/>
        </p:nvSpPr>
        <p:spPr>
          <a:xfrm>
            <a:off x="7010400" y="30460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Rate Limiting: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Enforce API access thresholds on a per-client session basis.</a:t>
            </a:r>
            <a:endParaRPr/>
          </a:p>
        </p:txBody>
      </p:sp>
      <p:pic>
        <p:nvPicPr>
          <p:cNvPr id="729" name="Google Shape;729;p4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8127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4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37467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4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19173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4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49837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4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07940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4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Web Application &amp; API Shield</a:t>
            </a:r>
            <a:endParaRPr/>
          </a:p>
        </p:txBody>
      </p:sp>
      <p:sp>
        <p:nvSpPr>
          <p:cNvPr id="735" name="Google Shape;735;p44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45"/>
          <p:cNvSpPr txBox="1"/>
          <p:nvPr/>
        </p:nvSpPr>
        <p:spPr>
          <a:xfrm>
            <a:off x="5405437" y="2075557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MODULE 05</a:t>
            </a:r>
            <a:endParaRPr/>
          </a:p>
        </p:txBody>
      </p:sp>
      <p:sp>
        <p:nvSpPr>
          <p:cNvPr id="743" name="Google Shape;743;p45"/>
          <p:cNvSpPr txBox="1"/>
          <p:nvPr/>
        </p:nvSpPr>
        <p:spPr>
          <a:xfrm>
            <a:off x="2608659" y="2447032"/>
            <a:ext cx="7050881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Strategic Incident Response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Planning</a:t>
            </a:r>
            <a:endParaRPr/>
          </a:p>
        </p:txBody>
      </p:sp>
      <p:sp>
        <p:nvSpPr>
          <p:cNvPr id="744" name="Google Shape;744;p45"/>
          <p:cNvSpPr/>
          <p:nvPr/>
        </p:nvSpPr>
        <p:spPr>
          <a:xfrm>
            <a:off x="5562600" y="3782317"/>
            <a:ext cx="1143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5"/>
          <p:cNvSpPr txBox="1"/>
          <p:nvPr/>
        </p:nvSpPr>
        <p:spPr>
          <a:xfrm>
            <a:off x="2800350" y="4058542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Developing robust incident response plans to identify, contain, and recover from cybersecurity breaches in alignment with international standards.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6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755" name="Google Shape;755;p46"/>
          <p:cNvSpPr txBox="1"/>
          <p:nvPr/>
        </p:nvSpPr>
        <p:spPr>
          <a:xfrm>
            <a:off x="5391150" y="6524625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Incident Response</a:t>
            </a:r>
            <a:endParaRPr/>
          </a:p>
        </p:txBody>
      </p:sp>
      <p:sp>
        <p:nvSpPr>
          <p:cNvPr id="756" name="Google Shape;756;p46"/>
          <p:cNvSpPr txBox="1"/>
          <p:nvPr/>
        </p:nvSpPr>
        <p:spPr>
          <a:xfrm>
            <a:off x="1082992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34 / 46</a:t>
            </a:r>
            <a:endParaRPr/>
          </a:p>
        </p:txBody>
      </p:sp>
      <p:sp>
        <p:nvSpPr>
          <p:cNvPr id="757" name="Google Shape;757;p46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Defining Security Incidents</a:t>
            </a:r>
            <a:endParaRPr/>
          </a:p>
        </p:txBody>
      </p:sp>
      <p:sp>
        <p:nvSpPr>
          <p:cNvPr id="758" name="Google Shape;758;p46"/>
          <p:cNvSpPr txBox="1"/>
          <p:nvPr/>
        </p:nvSpPr>
        <p:spPr>
          <a:xfrm>
            <a:off x="1009650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 incident is any event that compromises the confidentiality, integrity, or availability of enterprise systems or networks.</a:t>
            </a:r>
            <a:endParaRPr/>
          </a:p>
        </p:txBody>
      </p:sp>
      <p:sp>
        <p:nvSpPr>
          <p:cNvPr id="759" name="Google Shape;759;p46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Severity Matrix Classifications</a:t>
            </a:r>
            <a:endParaRPr/>
          </a:p>
        </p:txBody>
      </p:sp>
      <p:sp>
        <p:nvSpPr>
          <p:cNvPr id="760" name="Google Shape;760;p46"/>
          <p:cNvSpPr txBox="1"/>
          <p:nvPr/>
        </p:nvSpPr>
        <p:spPr>
          <a:xfrm>
            <a:off x="1438275" y="2598390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Unauthorized data exfiltration or policy violations.</a:t>
            </a:r>
            <a:endParaRPr/>
          </a:p>
        </p:txBody>
      </p:sp>
      <p:sp>
        <p:nvSpPr>
          <p:cNvPr id="761" name="Google Shape;761;p46"/>
          <p:cNvSpPr txBox="1"/>
          <p:nvPr/>
        </p:nvSpPr>
        <p:spPr>
          <a:xfrm>
            <a:off x="1438275" y="2917477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Distributed Denial of Service (DDoS) outages.</a:t>
            </a:r>
            <a:endParaRPr/>
          </a:p>
        </p:txBody>
      </p:sp>
      <p:sp>
        <p:nvSpPr>
          <p:cNvPr id="762" name="Google Shape;762;p46"/>
          <p:cNvSpPr txBox="1"/>
          <p:nvPr/>
        </p:nvSpPr>
        <p:spPr>
          <a:xfrm>
            <a:off x="7010400" y="188401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Severity 1 (Critical):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Active ransomware, core data breach, or loss of critical systems.</a:t>
            </a:r>
            <a:endParaRPr/>
          </a:p>
        </p:txBody>
      </p:sp>
      <p:sp>
        <p:nvSpPr>
          <p:cNvPr id="763" name="Google Shape;763;p46"/>
          <p:cNvSpPr txBox="1"/>
          <p:nvPr/>
        </p:nvSpPr>
        <p:spPr>
          <a:xfrm>
            <a:off x="7010400" y="25126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Severity 2 (High):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Compromised endpoint without data leakage, or localized department outage.</a:t>
            </a:r>
            <a:endParaRPr/>
          </a:p>
        </p:txBody>
      </p:sp>
      <p:sp>
        <p:nvSpPr>
          <p:cNvPr id="764" name="Google Shape;764;p46"/>
          <p:cNvSpPr txBox="1"/>
          <p:nvPr/>
        </p:nvSpPr>
        <p:spPr>
          <a:xfrm>
            <a:off x="7010400" y="314131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Severity 3 (Medium/Low):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Policy violations without impact, or suspected phishing reports.</a:t>
            </a:r>
            <a:endParaRPr/>
          </a:p>
        </p:txBody>
      </p:sp>
      <p:pic>
        <p:nvPicPr>
          <p:cNvPr id="765" name="Google Shape;765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6317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95081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4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5460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317465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6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Incident Response Severity</a:t>
            </a:r>
            <a:endParaRPr/>
          </a:p>
        </p:txBody>
      </p:sp>
      <p:sp>
        <p:nvSpPr>
          <p:cNvPr id="770" name="Google Shape;770;p46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484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2106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484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4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6112" y="2106215"/>
            <a:ext cx="2388840" cy="101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4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7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782" name="Google Shape;782;p47"/>
          <p:cNvSpPr txBox="1"/>
          <p:nvPr/>
        </p:nvSpPr>
        <p:spPr>
          <a:xfrm>
            <a:off x="5395912" y="6524625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Incident Response</a:t>
            </a:r>
            <a:endParaRPr/>
          </a:p>
        </p:txBody>
      </p:sp>
      <p:sp>
        <p:nvSpPr>
          <p:cNvPr id="783" name="Google Shape;783;p47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35 / 46</a:t>
            </a:r>
            <a:endParaRPr/>
          </a:p>
        </p:txBody>
      </p:sp>
      <p:sp>
        <p:nvSpPr>
          <p:cNvPr id="784" name="Google Shape;784;p47"/>
          <p:cNvSpPr/>
          <p:nvPr/>
        </p:nvSpPr>
        <p:spPr>
          <a:xfrm>
            <a:off x="666750" y="3284190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7"/>
          <p:cNvSpPr txBox="1"/>
          <p:nvPr/>
        </p:nvSpPr>
        <p:spPr>
          <a:xfrm>
            <a:off x="767048" y="3636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Preparation</a:t>
            </a:r>
            <a:endParaRPr/>
          </a:p>
        </p:txBody>
      </p:sp>
      <p:sp>
        <p:nvSpPr>
          <p:cNvPr id="786" name="Google Shape;786;p47"/>
          <p:cNvSpPr txBox="1"/>
          <p:nvPr/>
        </p:nvSpPr>
        <p:spPr>
          <a:xfrm>
            <a:off x="819150" y="3865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Train response teams, configure system alerts, and document recovery steps.</a:t>
            </a:r>
            <a:endParaRPr/>
          </a:p>
        </p:txBody>
      </p:sp>
      <p:sp>
        <p:nvSpPr>
          <p:cNvPr id="787" name="Google Shape;787;p47"/>
          <p:cNvSpPr txBox="1"/>
          <p:nvPr/>
        </p:nvSpPr>
        <p:spPr>
          <a:xfrm>
            <a:off x="3590169" y="2258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Detection</a:t>
            </a:r>
            <a:endParaRPr/>
          </a:p>
        </p:txBody>
      </p:sp>
      <p:sp>
        <p:nvSpPr>
          <p:cNvPr id="788" name="Google Shape;788;p47"/>
          <p:cNvSpPr txBox="1"/>
          <p:nvPr/>
        </p:nvSpPr>
        <p:spPr>
          <a:xfrm>
            <a:off x="3642270" y="2487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Analyze system events to identify, validate, and escalate security incidents.</a:t>
            </a:r>
            <a:endParaRPr/>
          </a:p>
        </p:txBody>
      </p:sp>
      <p:sp>
        <p:nvSpPr>
          <p:cNvPr id="789" name="Google Shape;789;p47"/>
          <p:cNvSpPr txBox="1"/>
          <p:nvPr/>
        </p:nvSpPr>
        <p:spPr>
          <a:xfrm>
            <a:off x="6413290" y="3636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Containment</a:t>
            </a:r>
            <a:endParaRPr/>
          </a:p>
        </p:txBody>
      </p:sp>
      <p:sp>
        <p:nvSpPr>
          <p:cNvPr id="790" name="Google Shape;790;p47"/>
          <p:cNvSpPr txBox="1"/>
          <p:nvPr/>
        </p:nvSpPr>
        <p:spPr>
          <a:xfrm>
            <a:off x="6465391" y="3865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Isolate compromised systems to prevent the attack from spreading across networks.</a:t>
            </a:r>
            <a:endParaRPr/>
          </a:p>
        </p:txBody>
      </p:sp>
      <p:sp>
        <p:nvSpPr>
          <p:cNvPr id="791" name="Google Shape;791;p47"/>
          <p:cNvSpPr txBox="1"/>
          <p:nvPr/>
        </p:nvSpPr>
        <p:spPr>
          <a:xfrm>
            <a:off x="9236411" y="2258615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Post-Incident</a:t>
            </a:r>
            <a:endParaRPr/>
          </a:p>
        </p:txBody>
      </p:sp>
      <p:sp>
        <p:nvSpPr>
          <p:cNvPr id="792" name="Google Shape;792;p47"/>
          <p:cNvSpPr txBox="1"/>
          <p:nvPr/>
        </p:nvSpPr>
        <p:spPr>
          <a:xfrm>
            <a:off x="9288512" y="2487215"/>
            <a:ext cx="2084040" cy="48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Conduct post-incident reviews to document lessons learned and improve defenses.</a:t>
            </a:r>
            <a:endParaRPr/>
          </a:p>
        </p:txBody>
      </p:sp>
      <p:sp>
        <p:nvSpPr>
          <p:cNvPr id="793" name="Google Shape;793;p47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NIST Response Lifecycle</a:t>
            </a:r>
            <a:endParaRPr/>
          </a:p>
        </p:txBody>
      </p:sp>
      <p:sp>
        <p:nvSpPr>
          <p:cNvPr id="794" name="Google Shape;794;p47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7"/>
          <p:cNvSpPr/>
          <p:nvPr/>
        </p:nvSpPr>
        <p:spPr>
          <a:xfrm>
            <a:off x="1765920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7"/>
          <p:cNvSpPr/>
          <p:nvPr/>
        </p:nvSpPr>
        <p:spPr>
          <a:xfrm>
            <a:off x="4589040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7"/>
          <p:cNvSpPr/>
          <p:nvPr/>
        </p:nvSpPr>
        <p:spPr>
          <a:xfrm>
            <a:off x="7412161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7"/>
          <p:cNvSpPr/>
          <p:nvPr/>
        </p:nvSpPr>
        <p:spPr>
          <a:xfrm>
            <a:off x="10235282" y="320799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48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06" name="Google Shape;806;p48"/>
          <p:cNvSpPr txBox="1"/>
          <p:nvPr/>
        </p:nvSpPr>
        <p:spPr>
          <a:xfrm>
            <a:off x="5391150" y="6524625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Incident Response</a:t>
            </a:r>
            <a:endParaRPr/>
          </a:p>
        </p:txBody>
      </p:sp>
      <p:sp>
        <p:nvSpPr>
          <p:cNvPr id="807" name="Google Shape;807;p48"/>
          <p:cNvSpPr txBox="1"/>
          <p:nvPr/>
        </p:nvSpPr>
        <p:spPr>
          <a:xfrm>
            <a:off x="1082992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36 / 46</a:t>
            </a:r>
            <a:endParaRPr/>
          </a:p>
        </p:txBody>
      </p:sp>
      <p:sp>
        <p:nvSpPr>
          <p:cNvPr id="808" name="Google Shape;808;p48"/>
          <p:cNvSpPr txBox="1"/>
          <p:nvPr/>
        </p:nvSpPr>
        <p:spPr>
          <a:xfrm>
            <a:off x="1095375" y="1112490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Assembling the CSIRT: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Establishing a computer security incident response team with defined technical, legal, and public relations roles.</a:t>
            </a:r>
            <a:endParaRPr/>
          </a:p>
        </p:txBody>
      </p:sp>
      <p:sp>
        <p:nvSpPr>
          <p:cNvPr id="809" name="Google Shape;809;p48"/>
          <p:cNvSpPr txBox="1"/>
          <p:nvPr/>
        </p:nvSpPr>
        <p:spPr>
          <a:xfrm>
            <a:off x="1095375" y="1545877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Alert Configuration: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Setting up real-time telemetry alerts on SIEM/EDR platforms to detect anomalous active system behaviors.</a:t>
            </a:r>
            <a:endParaRPr/>
          </a:p>
        </p:txBody>
      </p:sp>
      <p:sp>
        <p:nvSpPr>
          <p:cNvPr id="810" name="Google Shape;810;p48"/>
          <p:cNvSpPr txBox="1"/>
          <p:nvPr/>
        </p:nvSpPr>
        <p:spPr>
          <a:xfrm>
            <a:off x="1095375" y="1979265"/>
            <a:ext cx="10429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Playbook Engineering: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Creating pre-configured response playbooks for common attack scenarios like ransomware, phishing, and API abuse.</a:t>
            </a:r>
            <a:endParaRPr/>
          </a:p>
        </p:txBody>
      </p:sp>
      <p:sp>
        <p:nvSpPr>
          <p:cNvPr id="811" name="Google Shape;811;p48"/>
          <p:cNvSpPr txBox="1"/>
          <p:nvPr/>
        </p:nvSpPr>
        <p:spPr>
          <a:xfrm>
            <a:off x="1095375" y="2655540"/>
            <a:ext cx="10429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Dry-Run Simulations: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Conducting regular tabletop exercises to ensure business leaders and technical teams understand their roles during an incident.</a:t>
            </a:r>
            <a:endParaRPr/>
          </a:p>
        </p:txBody>
      </p:sp>
      <p:pic>
        <p:nvPicPr>
          <p:cNvPr id="812" name="Google Shape;812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14582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157921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201260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68887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8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Incident Prep &amp; Detection</a:t>
            </a:r>
            <a:endParaRPr/>
          </a:p>
        </p:txBody>
      </p:sp>
      <p:sp>
        <p:nvSpPr>
          <p:cNvPr id="817" name="Google Shape;817;p48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22764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49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27" name="Google Shape;827;p49"/>
          <p:cNvSpPr txBox="1"/>
          <p:nvPr/>
        </p:nvSpPr>
        <p:spPr>
          <a:xfrm>
            <a:off x="5395912" y="6524625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Incident Response</a:t>
            </a:r>
            <a:endParaRPr/>
          </a:p>
        </p:txBody>
      </p:sp>
      <p:sp>
        <p:nvSpPr>
          <p:cNvPr id="828" name="Google Shape;828;p49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37 / 46</a:t>
            </a:r>
            <a:endParaRPr/>
          </a:p>
        </p:txBody>
      </p:sp>
      <p:sp>
        <p:nvSpPr>
          <p:cNvPr id="829" name="Google Shape;829;p49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Containment &amp; Eradication</a:t>
            </a:r>
            <a:endParaRPr/>
          </a:p>
        </p:txBody>
      </p:sp>
      <p:sp>
        <p:nvSpPr>
          <p:cNvPr id="830" name="Google Shape;830;p49"/>
          <p:cNvSpPr txBox="1"/>
          <p:nvPr/>
        </p:nvSpPr>
        <p:spPr>
          <a:xfrm>
            <a:off x="1009650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Focuses on stopping system compromise in its tracks and removing threat elements from the network environment.</a:t>
            </a:r>
            <a:endParaRPr/>
          </a:p>
        </p:txBody>
      </p:sp>
      <p:sp>
        <p:nvSpPr>
          <p:cNvPr id="831" name="Google Shape;831;p49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Recovery &amp; Restores</a:t>
            </a:r>
            <a:endParaRPr/>
          </a:p>
        </p:txBody>
      </p:sp>
      <p:sp>
        <p:nvSpPr>
          <p:cNvPr id="832" name="Google Shape;832;p49"/>
          <p:cNvSpPr txBox="1"/>
          <p:nvPr/>
        </p:nvSpPr>
        <p:spPr>
          <a:xfrm>
            <a:off x="6581775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systematic restoration of clean, verified systems back into active enterprise production operations.</a:t>
            </a:r>
            <a:endParaRPr/>
          </a:p>
        </p:txBody>
      </p:sp>
      <p:sp>
        <p:nvSpPr>
          <p:cNvPr id="833" name="Google Shape;833;p49"/>
          <p:cNvSpPr txBox="1"/>
          <p:nvPr/>
        </p:nvSpPr>
        <p:spPr>
          <a:xfrm>
            <a:off x="1438275" y="2550765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Short-term Isolation: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Disable network switches or isolate virtual systems.</a:t>
            </a:r>
            <a:endParaRPr/>
          </a:p>
        </p:txBody>
      </p:sp>
      <p:sp>
        <p:nvSpPr>
          <p:cNvPr id="834" name="Google Shape;834;p49"/>
          <p:cNvSpPr txBox="1"/>
          <p:nvPr/>
        </p:nvSpPr>
        <p:spPr>
          <a:xfrm>
            <a:off x="1438275" y="3112740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Eradication Actions: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Delete malware files, revoke compromised credentials, and close vulnerable ports.</a:t>
            </a:r>
            <a:endParaRPr/>
          </a:p>
        </p:txBody>
      </p:sp>
      <p:sp>
        <p:nvSpPr>
          <p:cNvPr id="835" name="Google Shape;835;p49"/>
          <p:cNvSpPr txBox="1"/>
          <p:nvPr/>
        </p:nvSpPr>
        <p:spPr>
          <a:xfrm>
            <a:off x="7010400" y="2550765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Rebuild servers using hardened golden configurations.</a:t>
            </a:r>
            <a:endParaRPr/>
          </a:p>
        </p:txBody>
      </p:sp>
      <p:sp>
        <p:nvSpPr>
          <p:cNvPr id="836" name="Google Shape;836;p49"/>
          <p:cNvSpPr txBox="1"/>
          <p:nvPr/>
        </p:nvSpPr>
        <p:spPr>
          <a:xfrm>
            <a:off x="6911101" y="3146077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Monitor restored systems closely to detect any recurring malicious activity.</a:t>
            </a:r>
            <a:endParaRPr dirty="0"/>
          </a:p>
        </p:txBody>
      </p:sp>
      <p:pic>
        <p:nvPicPr>
          <p:cNvPr id="837" name="Google Shape;837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5841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4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14607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4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5841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4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5100" y="3211953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9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Contain, Eradicate, Recover</a:t>
            </a:r>
            <a:endParaRPr/>
          </a:p>
        </p:txBody>
      </p:sp>
      <p:sp>
        <p:nvSpPr>
          <p:cNvPr id="842" name="Google Shape;842;p49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50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51" name="Google Shape;851;p50"/>
          <p:cNvSpPr txBox="1"/>
          <p:nvPr/>
        </p:nvSpPr>
        <p:spPr>
          <a:xfrm>
            <a:off x="5391150" y="6524625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Incident Response</a:t>
            </a:r>
            <a:endParaRPr/>
          </a:p>
        </p:txBody>
      </p:sp>
      <p:sp>
        <p:nvSpPr>
          <p:cNvPr id="852" name="Google Shape;852;p50"/>
          <p:cNvSpPr txBox="1"/>
          <p:nvPr/>
        </p:nvSpPr>
        <p:spPr>
          <a:xfrm>
            <a:off x="1082992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38 / 46</a:t>
            </a:r>
            <a:endParaRPr/>
          </a:p>
        </p:txBody>
      </p:sp>
      <p:sp>
        <p:nvSpPr>
          <p:cNvPr id="853" name="Google Shape;853;p50"/>
          <p:cNvSpPr txBox="1"/>
          <p:nvPr/>
        </p:nvSpPr>
        <p:spPr>
          <a:xfrm>
            <a:off x="666750" y="2380208"/>
            <a:ext cx="66008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Preserving Evidence Integrity</a:t>
            </a:r>
            <a:endParaRPr/>
          </a:p>
        </p:txBody>
      </p:sp>
      <p:sp>
        <p:nvSpPr>
          <p:cNvPr id="854" name="Google Shape;854;p50"/>
          <p:cNvSpPr txBox="1"/>
          <p:nvPr/>
        </p:nvSpPr>
        <p:spPr>
          <a:xfrm>
            <a:off x="666750" y="2770733"/>
            <a:ext cx="6286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During an active breach response, ensuring that all digital evidence is collected in a legally defensible and scientifically sound manner is paramount.</a:t>
            </a:r>
            <a:endParaRPr/>
          </a:p>
        </p:txBody>
      </p:sp>
      <p:sp>
        <p:nvSpPr>
          <p:cNvPr id="856" name="Google Shape;856;p50"/>
          <p:cNvSpPr txBox="1"/>
          <p:nvPr/>
        </p:nvSpPr>
        <p:spPr>
          <a:xfrm>
            <a:off x="1095375" y="3370808"/>
            <a:ext cx="5857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Cryptographic Hashing: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Apply MD5 or SHA-256 immediately to verify file copies are identical to the original memory state.</a:t>
            </a:r>
            <a:endParaRPr/>
          </a:p>
        </p:txBody>
      </p:sp>
      <p:sp>
        <p:nvSpPr>
          <p:cNvPr id="857" name="Google Shape;857;p50"/>
          <p:cNvSpPr txBox="1"/>
          <p:nvPr/>
        </p:nvSpPr>
        <p:spPr>
          <a:xfrm>
            <a:off x="1095375" y="3951833"/>
            <a:ext cx="5857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Chain of Custody: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Strictly log every handoff of digital storage media to prove the evidence was not modified.</a:t>
            </a:r>
            <a:endParaRPr/>
          </a:p>
        </p:txBody>
      </p:sp>
      <p:sp>
        <p:nvSpPr>
          <p:cNvPr id="858" name="Google Shape;858;p50"/>
          <p:cNvSpPr txBox="1"/>
          <p:nvPr/>
        </p:nvSpPr>
        <p:spPr>
          <a:xfrm>
            <a:off x="1095375" y="4532858"/>
            <a:ext cx="585787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 Memory Captures: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Preserve volatile RAM states before powering down systems.</a:t>
            </a:r>
            <a:endParaRPr/>
          </a:p>
        </p:txBody>
      </p:sp>
      <p:pic>
        <p:nvPicPr>
          <p:cNvPr id="859" name="Google Shape;859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40414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98517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5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56619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50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Digital Forensics Standards</a:t>
            </a:r>
            <a:endParaRPr/>
          </a:p>
        </p:txBody>
      </p:sp>
      <p:sp>
        <p:nvSpPr>
          <p:cNvPr id="863" name="Google Shape;863;p50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51"/>
          <p:cNvSpPr txBox="1"/>
          <p:nvPr/>
        </p:nvSpPr>
        <p:spPr>
          <a:xfrm>
            <a:off x="2286000" y="3971776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Ensure post-mortem documentation is completed within 72 hours, tracking root cause analysis, control failures, response gaps, and actionable security updates.</a:t>
            </a:r>
            <a:endParaRPr/>
          </a:p>
        </p:txBody>
      </p:sp>
      <p:sp>
        <p:nvSpPr>
          <p:cNvPr id="871" name="Google Shape;871;p51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72" name="Google Shape;872;p51"/>
          <p:cNvSpPr txBox="1"/>
          <p:nvPr/>
        </p:nvSpPr>
        <p:spPr>
          <a:xfrm>
            <a:off x="5391150" y="6524625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Incident Response</a:t>
            </a:r>
            <a:endParaRPr/>
          </a:p>
        </p:txBody>
      </p:sp>
      <p:sp>
        <p:nvSpPr>
          <p:cNvPr id="873" name="Google Shape;873;p51"/>
          <p:cNvSpPr txBox="1"/>
          <p:nvPr/>
        </p:nvSpPr>
        <p:spPr>
          <a:xfrm>
            <a:off x="1082992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39 / 46</a:t>
            </a:r>
            <a:endParaRPr/>
          </a:p>
        </p:txBody>
      </p:sp>
      <p:sp>
        <p:nvSpPr>
          <p:cNvPr id="874" name="Google Shape;874;p51"/>
          <p:cNvSpPr txBox="1"/>
          <p:nvPr/>
        </p:nvSpPr>
        <p:spPr>
          <a:xfrm>
            <a:off x="1809750" y="1493490"/>
            <a:ext cx="8572500" cy="170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>
                <a:solidFill>
                  <a:srgbClr val="0F17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"A crisis is a terrible thing to waste. The post-incident review represents the most critical, yet frequently ignored stage of response—converting operational scars directly into resilient enterprise architecture." </a:t>
            </a:r>
            <a:endParaRPr/>
          </a:p>
        </p:txBody>
      </p:sp>
      <p:sp>
        <p:nvSpPr>
          <p:cNvPr id="875" name="Google Shape;875;p51"/>
          <p:cNvSpPr txBox="1"/>
          <p:nvPr/>
        </p:nvSpPr>
        <p:spPr>
          <a:xfrm>
            <a:off x="4510087" y="3390751"/>
            <a:ext cx="3171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Enterprise IR Excellence Guidelines</a:t>
            </a:r>
            <a:endParaRPr/>
          </a:p>
        </p:txBody>
      </p:sp>
      <p:sp>
        <p:nvSpPr>
          <p:cNvPr id="876" name="Google Shape;876;p51"/>
          <p:cNvSpPr txBox="1"/>
          <p:nvPr/>
        </p:nvSpPr>
        <p:spPr>
          <a:xfrm>
            <a:off x="1428750" y="1112490"/>
            <a:ext cx="2952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1" u="none" strike="noStrike" cap="none">
                <a:solidFill>
                  <a:srgbClr val="05966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</a:t>
            </a:r>
            <a:endParaRPr/>
          </a:p>
        </p:txBody>
      </p:sp>
      <p:sp>
        <p:nvSpPr>
          <p:cNvPr id="877" name="Google Shape;877;p51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Incident Lessons Learned</a:t>
            </a:r>
            <a:endParaRPr/>
          </a:p>
        </p:txBody>
      </p:sp>
      <p:sp>
        <p:nvSpPr>
          <p:cNvPr id="878" name="Google Shape;878;p51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52"/>
          <p:cNvSpPr txBox="1"/>
          <p:nvPr/>
        </p:nvSpPr>
        <p:spPr>
          <a:xfrm>
            <a:off x="5400675" y="2075557"/>
            <a:ext cx="1466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D399"/>
                </a:solidFill>
                <a:latin typeface="Montserrat"/>
                <a:ea typeface="Montserrat"/>
                <a:cs typeface="Montserrat"/>
                <a:sym typeface="Montserrat"/>
              </a:rPr>
              <a:t>MODULE 06</a:t>
            </a:r>
            <a:endParaRPr/>
          </a:p>
        </p:txBody>
      </p:sp>
      <p:sp>
        <p:nvSpPr>
          <p:cNvPr id="886" name="Google Shape;886;p52"/>
          <p:cNvSpPr txBox="1"/>
          <p:nvPr/>
        </p:nvSpPr>
        <p:spPr>
          <a:xfrm>
            <a:off x="3093720" y="2447032"/>
            <a:ext cx="608076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Continuity and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Disaster Recovery</a:t>
            </a:r>
            <a:endParaRPr/>
          </a:p>
        </p:txBody>
      </p:sp>
      <p:sp>
        <p:nvSpPr>
          <p:cNvPr id="887" name="Google Shape;887;p52"/>
          <p:cNvSpPr/>
          <p:nvPr/>
        </p:nvSpPr>
        <p:spPr>
          <a:xfrm>
            <a:off x="5562600" y="3782317"/>
            <a:ext cx="11430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2"/>
          <p:cNvSpPr txBox="1"/>
          <p:nvPr/>
        </p:nvSpPr>
        <p:spPr>
          <a:xfrm>
            <a:off x="2800350" y="4058542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Designing continuous resilience architectures and disaster recovery strategies to ensure business operations survive high-impact outages.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3"/>
          <p:cNvSpPr/>
          <p:nvPr/>
        </p:nvSpPr>
        <p:spPr>
          <a:xfrm>
            <a:off x="666750" y="1112490"/>
            <a:ext cx="10858500" cy="2895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6" name="Google Shape;896;p53"/>
          <p:cNvGraphicFramePr/>
          <p:nvPr/>
        </p:nvGraphicFramePr>
        <p:xfrm>
          <a:off x="666750" y="1112490"/>
          <a:ext cx="10848975" cy="2895625"/>
        </p:xfrm>
        <a:graphic>
          <a:graphicData uri="http://schemas.openxmlformats.org/drawingml/2006/table">
            <a:tbl>
              <a:tblPr firstRow="1" bandRow="1">
                <a:noFill/>
                <a:tableStyleId>{BE96C846-08C9-43A9-8587-8BFB582BA9B5}</a:tableStyleId>
              </a:tblPr>
              <a:tblGrid>
                <a:gridCol w="133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Business Continuity (BC)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Disaster Recovery (DR)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Strategic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Ensuring the overall business operation continues during and after a crisis.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technical process of recovering IT assets, systems, and data after an outage.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Scope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People, physical facilities, workflows, supply chain systems, and business tools.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infrastructure, data backups, networks, database replication, and system servers.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Active Phase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Triggered immediately during a major incident (e.g., working from home during a flood).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Triggered following system downtime to restore operations (e.g., restoring backups).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Metrics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Overall system uptime and continuity metrics.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RTO (Recovery Time) and RPO (Data Loss Window).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7" name="Google Shape;897;p53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98" name="Google Shape;898;p53"/>
          <p:cNvSpPr txBox="1"/>
          <p:nvPr/>
        </p:nvSpPr>
        <p:spPr>
          <a:xfrm>
            <a:off x="5729287" y="6524625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BCDR</a:t>
            </a:r>
            <a:endParaRPr/>
          </a:p>
        </p:txBody>
      </p:sp>
      <p:sp>
        <p:nvSpPr>
          <p:cNvPr id="899" name="Google Shape;899;p53"/>
          <p:cNvSpPr txBox="1"/>
          <p:nvPr/>
        </p:nvSpPr>
        <p:spPr>
          <a:xfrm>
            <a:off x="10858500" y="65246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41 / 46</a:t>
            </a:r>
            <a:endParaRPr/>
          </a:p>
        </p:txBody>
      </p:sp>
      <p:sp>
        <p:nvSpPr>
          <p:cNvPr id="900" name="Google Shape;900;p53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Business Continuity vs. DR</a:t>
            </a:r>
            <a:endParaRPr/>
          </a:p>
        </p:txBody>
      </p:sp>
      <p:sp>
        <p:nvSpPr>
          <p:cNvPr id="901" name="Google Shape;901;p53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10858500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54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910" name="Google Shape;910;p54"/>
          <p:cNvSpPr txBox="1"/>
          <p:nvPr/>
        </p:nvSpPr>
        <p:spPr>
          <a:xfrm>
            <a:off x="5719762" y="6524625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BCDR</a:t>
            </a:r>
            <a:endParaRPr/>
          </a:p>
        </p:txBody>
      </p:sp>
      <p:sp>
        <p:nvSpPr>
          <p:cNvPr id="911" name="Google Shape;911;p54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42 / 46</a:t>
            </a:r>
            <a:endParaRPr/>
          </a:p>
        </p:txBody>
      </p:sp>
      <p:sp>
        <p:nvSpPr>
          <p:cNvPr id="912" name="Google Shape;912;p54"/>
          <p:cNvSpPr txBox="1"/>
          <p:nvPr/>
        </p:nvSpPr>
        <p:spPr>
          <a:xfrm>
            <a:off x="666750" y="2558801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Key Operational Goals</a:t>
            </a:r>
            <a:endParaRPr/>
          </a:p>
        </p:txBody>
      </p:sp>
      <p:sp>
        <p:nvSpPr>
          <p:cNvPr id="913" name="Google Shape;913;p54"/>
          <p:cNvSpPr txBox="1"/>
          <p:nvPr/>
        </p:nvSpPr>
        <p:spPr>
          <a:xfrm>
            <a:off x="666750" y="2949326"/>
            <a:ext cx="4714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These core metrics determine how quickly system recovery must occur and define the maximum acceptable amount of data loss.</a:t>
            </a:r>
            <a:endParaRPr/>
          </a:p>
        </p:txBody>
      </p:sp>
      <p:sp>
        <p:nvSpPr>
          <p:cNvPr id="914" name="Google Shape;914;p54"/>
          <p:cNvSpPr txBox="1"/>
          <p:nvPr/>
        </p:nvSpPr>
        <p:spPr>
          <a:xfrm>
            <a:off x="1095375" y="3549401"/>
            <a:ext cx="42862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RTO (Recovery Time Objective):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The target duration of time to restore systems after an outage.</a:t>
            </a:r>
            <a:endParaRPr/>
          </a:p>
        </p:txBody>
      </p:sp>
      <p:sp>
        <p:nvSpPr>
          <p:cNvPr id="915" name="Google Shape;915;p54"/>
          <p:cNvSpPr txBox="1"/>
          <p:nvPr/>
        </p:nvSpPr>
        <p:spPr>
          <a:xfrm>
            <a:off x="1095375" y="4111376"/>
            <a:ext cx="42862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RPO (Recovery Point Objective):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The maximum age of data that must be recovered from backup storage (defines backup frequency).</a:t>
            </a:r>
            <a:endParaRPr/>
          </a:p>
        </p:txBody>
      </p:sp>
      <p:pic>
        <p:nvPicPr>
          <p:cNvPr id="916" name="Google Shape;916;p5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58273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144714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54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Visualizing Recovery Metrics</a:t>
            </a:r>
            <a:endParaRPr/>
          </a:p>
        </p:txBody>
      </p:sp>
      <p:sp>
        <p:nvSpPr>
          <p:cNvPr id="919" name="Google Shape;919;p54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34607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5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1112490"/>
            <a:ext cx="34607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5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112490"/>
            <a:ext cx="34608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5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55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930" name="Google Shape;930;p55"/>
          <p:cNvSpPr txBox="1"/>
          <p:nvPr/>
        </p:nvSpPr>
        <p:spPr>
          <a:xfrm>
            <a:off x="5715000" y="6524625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BCDR</a:t>
            </a:r>
            <a:endParaRPr/>
          </a:p>
        </p:txBody>
      </p:sp>
      <p:sp>
        <p:nvSpPr>
          <p:cNvPr id="931" name="Google Shape;931;p55"/>
          <p:cNvSpPr txBox="1"/>
          <p:nvPr/>
        </p:nvSpPr>
        <p:spPr>
          <a:xfrm>
            <a:off x="1082992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43 / 46</a:t>
            </a:r>
            <a:endParaRPr/>
          </a:p>
        </p:txBody>
      </p:sp>
      <p:pic>
        <p:nvPicPr>
          <p:cNvPr id="932" name="Google Shape;932;p5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36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5"/>
          <p:cNvSpPr txBox="1"/>
          <p:nvPr/>
        </p:nvSpPr>
        <p:spPr>
          <a:xfrm>
            <a:off x="840264" y="2303115"/>
            <a:ext cx="311367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Business Impact Analysis</a:t>
            </a:r>
            <a:endParaRPr/>
          </a:p>
        </p:txBody>
      </p:sp>
      <p:sp>
        <p:nvSpPr>
          <p:cNvPr id="934" name="Google Shape;934;p55"/>
          <p:cNvSpPr txBox="1"/>
          <p:nvPr/>
        </p:nvSpPr>
        <p:spPr>
          <a:xfrm>
            <a:off x="914400" y="2969865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Assess critical business workflows and map system dependencies to identify potential single points of failure.</a:t>
            </a:r>
            <a:endParaRPr/>
          </a:p>
        </p:txBody>
      </p:sp>
      <p:pic>
        <p:nvPicPr>
          <p:cNvPr id="935" name="Google Shape;935;p5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2476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55"/>
          <p:cNvSpPr txBox="1"/>
          <p:nvPr/>
        </p:nvSpPr>
        <p:spPr>
          <a:xfrm>
            <a:off x="4780686" y="2303115"/>
            <a:ext cx="263032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Testing &amp; Exercises</a:t>
            </a:r>
            <a:endParaRPr/>
          </a:p>
        </p:txBody>
      </p:sp>
      <p:sp>
        <p:nvSpPr>
          <p:cNvPr id="937" name="Google Shape;937;p55"/>
          <p:cNvSpPr txBox="1"/>
          <p:nvPr/>
        </p:nvSpPr>
        <p:spPr>
          <a:xfrm>
            <a:off x="4613225" y="2693640"/>
            <a:ext cx="2965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Run simulated system failovers, table-top scenarios, and live data restorations under stress to verify plan viability.</a:t>
            </a:r>
            <a:endParaRPr/>
          </a:p>
        </p:txBody>
      </p:sp>
      <p:pic>
        <p:nvPicPr>
          <p:cNvPr id="938" name="Google Shape;938;p5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61450" y="144586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55"/>
          <p:cNvSpPr txBox="1"/>
          <p:nvPr/>
        </p:nvSpPr>
        <p:spPr>
          <a:xfrm>
            <a:off x="8409652" y="2303115"/>
            <a:ext cx="277034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Continuous Updates</a:t>
            </a:r>
            <a:endParaRPr/>
          </a:p>
        </p:txBody>
      </p:sp>
      <p:sp>
        <p:nvSpPr>
          <p:cNvPr id="940" name="Google Shape;940;p55"/>
          <p:cNvSpPr txBox="1"/>
          <p:nvPr/>
        </p:nvSpPr>
        <p:spPr>
          <a:xfrm>
            <a:off x="8312050" y="2693640"/>
            <a:ext cx="296554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Review and update disaster recovery plans regularly based on new infrastructure deployments and software updates.</a:t>
            </a:r>
            <a:endParaRPr/>
          </a:p>
        </p:txBody>
      </p:sp>
      <p:pic>
        <p:nvPicPr>
          <p:cNvPr id="941" name="Google Shape;941;p5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82725" y="162684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5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43451" y="162684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5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42425" y="162684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55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BCDR Lifecycle Framework</a:t>
            </a:r>
            <a:endParaRPr/>
          </a:p>
        </p:txBody>
      </p:sp>
      <p:sp>
        <p:nvSpPr>
          <p:cNvPr id="945" name="Google Shape;945;p55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12490"/>
            <a:ext cx="5286375" cy="517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56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955" name="Google Shape;955;p56"/>
          <p:cNvSpPr txBox="1"/>
          <p:nvPr/>
        </p:nvSpPr>
        <p:spPr>
          <a:xfrm>
            <a:off x="5715000" y="6524625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BCDR</a:t>
            </a:r>
            <a:endParaRPr/>
          </a:p>
        </p:txBody>
      </p:sp>
      <p:sp>
        <p:nvSpPr>
          <p:cNvPr id="956" name="Google Shape;956;p56"/>
          <p:cNvSpPr txBox="1"/>
          <p:nvPr/>
        </p:nvSpPr>
        <p:spPr>
          <a:xfrm>
            <a:off x="10829925" y="65246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44 / 46</a:t>
            </a:r>
            <a:endParaRPr/>
          </a:p>
        </p:txBody>
      </p:sp>
      <p:sp>
        <p:nvSpPr>
          <p:cNvPr id="957" name="Google Shape;957;p56"/>
          <p:cNvSpPr txBox="1"/>
          <p:nvPr/>
        </p:nvSpPr>
        <p:spPr>
          <a:xfrm>
            <a:off x="1009650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Hot Site (Active-Active)</a:t>
            </a:r>
            <a:endParaRPr/>
          </a:p>
        </p:txBody>
      </p:sp>
      <p:sp>
        <p:nvSpPr>
          <p:cNvPr id="958" name="Google Shape;958;p56"/>
          <p:cNvSpPr txBox="1"/>
          <p:nvPr/>
        </p:nvSpPr>
        <p:spPr>
          <a:xfrm>
            <a:off x="1009650" y="1884015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mirror copy of active data systems operating in real-time, providing near-instantaneous business failovers.</a:t>
            </a:r>
            <a:endParaRPr/>
          </a:p>
        </p:txBody>
      </p:sp>
      <p:sp>
        <p:nvSpPr>
          <p:cNvPr id="959" name="Google Shape;959;p56"/>
          <p:cNvSpPr txBox="1"/>
          <p:nvPr/>
        </p:nvSpPr>
        <p:spPr>
          <a:xfrm>
            <a:off x="6581775" y="1493490"/>
            <a:ext cx="483060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Cold Site (Passive Restore)</a:t>
            </a:r>
            <a:endParaRPr/>
          </a:p>
        </p:txBody>
      </p:sp>
      <p:sp>
        <p:nvSpPr>
          <p:cNvPr id="960" name="Google Shape;960;p56"/>
          <p:cNvSpPr txBox="1"/>
          <p:nvPr/>
        </p:nvSpPr>
        <p:spPr>
          <a:xfrm>
            <a:off x="6581775" y="1884015"/>
            <a:ext cx="46005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 empty backup facility with essential infrastructure but no pre-configured active systems. Data must be manually restored.</a:t>
            </a:r>
            <a:endParaRPr/>
          </a:p>
        </p:txBody>
      </p:sp>
      <p:sp>
        <p:nvSpPr>
          <p:cNvPr id="961" name="Google Shape;961;p56"/>
          <p:cNvSpPr txBox="1"/>
          <p:nvPr/>
        </p:nvSpPr>
        <p:spPr>
          <a:xfrm>
            <a:off x="1438275" y="2550765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RTO: Minutes / RPO: Near-zero</a:t>
            </a:r>
            <a:endParaRPr/>
          </a:p>
        </p:txBody>
      </p:sp>
      <p:sp>
        <p:nvSpPr>
          <p:cNvPr id="962" name="Google Shape;962;p56"/>
          <p:cNvSpPr txBox="1"/>
          <p:nvPr/>
        </p:nvSpPr>
        <p:spPr>
          <a:xfrm>
            <a:off x="1438275" y="2869852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Very high operational cost and maintenance overhead</a:t>
            </a:r>
            <a:endParaRPr/>
          </a:p>
        </p:txBody>
      </p:sp>
      <p:sp>
        <p:nvSpPr>
          <p:cNvPr id="963" name="Google Shape;963;p56"/>
          <p:cNvSpPr txBox="1"/>
          <p:nvPr/>
        </p:nvSpPr>
        <p:spPr>
          <a:xfrm>
            <a:off x="7010400" y="2779365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RTO: Days / RPO: Dependent on latest backup</a:t>
            </a:r>
            <a:endParaRPr/>
          </a:p>
        </p:txBody>
      </p:sp>
      <p:sp>
        <p:nvSpPr>
          <p:cNvPr id="964" name="Google Shape;964;p56"/>
          <p:cNvSpPr txBox="1"/>
          <p:nvPr/>
        </p:nvSpPr>
        <p:spPr>
          <a:xfrm>
            <a:off x="7010400" y="3098452"/>
            <a:ext cx="4171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Low maintenance cost; ideal for non-critical systems</a:t>
            </a:r>
            <a:endParaRPr/>
          </a:p>
        </p:txBody>
      </p:sp>
      <p:pic>
        <p:nvPicPr>
          <p:cNvPr id="965" name="Google Shape;965;p5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5841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903190"/>
            <a:ext cx="1238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8127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313179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56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Disaster Recovery Sites</a:t>
            </a:r>
            <a:endParaRPr/>
          </a:p>
        </p:txBody>
      </p:sp>
      <p:sp>
        <p:nvSpPr>
          <p:cNvPr id="970" name="Google Shape;970;p56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372225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57"/>
          <p:cNvSpPr txBox="1"/>
          <p:nvPr/>
        </p:nvSpPr>
        <p:spPr>
          <a:xfrm>
            <a:off x="666750" y="6524625"/>
            <a:ext cx="8286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9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978" name="Google Shape;978;p57"/>
          <p:cNvSpPr txBox="1"/>
          <p:nvPr/>
        </p:nvSpPr>
        <p:spPr>
          <a:xfrm>
            <a:off x="5324475" y="6524625"/>
            <a:ext cx="16859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Executive Program Takeaways</a:t>
            </a:r>
            <a:endParaRPr/>
          </a:p>
        </p:txBody>
      </p:sp>
      <p:sp>
        <p:nvSpPr>
          <p:cNvPr id="979" name="Google Shape;979;p57"/>
          <p:cNvSpPr txBox="1"/>
          <p:nvPr/>
        </p:nvSpPr>
        <p:spPr>
          <a:xfrm>
            <a:off x="10839450" y="65246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45 / 46</a:t>
            </a:r>
            <a:endParaRPr/>
          </a:p>
        </p:txBody>
      </p:sp>
      <p:sp>
        <p:nvSpPr>
          <p:cNvPr id="980" name="Google Shape;980;p57"/>
          <p:cNvSpPr txBox="1"/>
          <p:nvPr/>
        </p:nvSpPr>
        <p:spPr>
          <a:xfrm>
            <a:off x="1095375" y="1112490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Cryptographic Defense: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Secure all data at rest and in transit, and prepare for post-quantum cryptographic transitions.</a:t>
            </a:r>
            <a:endParaRPr/>
          </a:p>
        </p:txBody>
      </p:sp>
      <p:sp>
        <p:nvSpPr>
          <p:cNvPr id="981" name="Google Shape;981;p57"/>
          <p:cNvSpPr txBox="1"/>
          <p:nvPr/>
        </p:nvSpPr>
        <p:spPr>
          <a:xfrm>
            <a:off x="1095375" y="1545877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Risk Management: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Align qualitative and quantitative assessments to support cybersecurity business cases.</a:t>
            </a:r>
            <a:endParaRPr/>
          </a:p>
        </p:txBody>
      </p:sp>
      <p:sp>
        <p:nvSpPr>
          <p:cNvPr id="982" name="Google Shape;982;p57"/>
          <p:cNvSpPr txBox="1"/>
          <p:nvPr/>
        </p:nvSpPr>
        <p:spPr>
          <a:xfrm>
            <a:off x="1095375" y="1979265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Proactive Threat Hunting: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Integrate actionable threat intelligence to detect attacks before they occur.</a:t>
            </a:r>
            <a:endParaRPr/>
          </a:p>
        </p:txBody>
      </p:sp>
      <p:sp>
        <p:nvSpPr>
          <p:cNvPr id="983" name="Google Shape;983;p57"/>
          <p:cNvSpPr txBox="1"/>
          <p:nvPr/>
        </p:nvSpPr>
        <p:spPr>
          <a:xfrm>
            <a:off x="1095375" y="2412652"/>
            <a:ext cx="10429875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Resilience First:</a:t>
            </a:r>
            <a:r>
              <a:rPr lang="en-US" sz="127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Maintain well-tested Incident Response and BCDR plans to recover quickly from unavoidable outages.</a:t>
            </a:r>
            <a:endParaRPr/>
          </a:p>
        </p:txBody>
      </p:sp>
      <p:pic>
        <p:nvPicPr>
          <p:cNvPr id="984" name="Google Shape;984;p5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14582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57921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01260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44599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57"/>
          <p:cNvSpPr txBox="1"/>
          <p:nvPr/>
        </p:nvSpPr>
        <p:spPr>
          <a:xfrm>
            <a:off x="857250" y="476250"/>
            <a:ext cx="11201400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Executive Program Takeaways</a:t>
            </a:r>
            <a:endParaRPr/>
          </a:p>
        </p:txBody>
      </p:sp>
      <p:sp>
        <p:nvSpPr>
          <p:cNvPr id="989" name="Google Shape;989;p57"/>
          <p:cNvSpPr/>
          <p:nvPr/>
        </p:nvSpPr>
        <p:spPr>
          <a:xfrm>
            <a:off x="666750" y="476250"/>
            <a:ext cx="57150" cy="39811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Google Shape;994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0" y="3448050"/>
            <a:ext cx="57150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5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58"/>
          <p:cNvSpPr txBox="1"/>
          <p:nvPr/>
        </p:nvSpPr>
        <p:spPr>
          <a:xfrm>
            <a:off x="2550556" y="1790700"/>
            <a:ext cx="7090886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Answers</a:t>
            </a:r>
            <a:endParaRPr/>
          </a:p>
        </p:txBody>
      </p:sp>
      <p:sp>
        <p:nvSpPr>
          <p:cNvPr id="998" name="Google Shape;998;p58"/>
          <p:cNvSpPr txBox="1"/>
          <p:nvPr/>
        </p:nvSpPr>
        <p:spPr>
          <a:xfrm>
            <a:off x="2990850" y="2724150"/>
            <a:ext cx="6210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Advanced Cybersecurity &amp; Enterprise Resilience Strategy</a:t>
            </a:r>
            <a:endParaRPr/>
          </a:p>
        </p:txBody>
      </p:sp>
      <p:sp>
        <p:nvSpPr>
          <p:cNvPr id="999" name="Google Shape;999;p58"/>
          <p:cNvSpPr txBox="1"/>
          <p:nvPr/>
        </p:nvSpPr>
        <p:spPr>
          <a:xfrm>
            <a:off x="3238500" y="3743325"/>
            <a:ext cx="571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info@csk.or.ke  |  www.csk.or.ke</a:t>
            </a:r>
            <a:endParaRPr/>
          </a:p>
        </p:txBody>
      </p:sp>
      <p:sp>
        <p:nvSpPr>
          <p:cNvPr id="1000" name="Google Shape;1000;p58"/>
          <p:cNvSpPr txBox="1"/>
          <p:nvPr/>
        </p:nvSpPr>
        <p:spPr>
          <a:xfrm>
            <a:off x="3238500" y="4467225"/>
            <a:ext cx="5715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Computer Society of Kenya © 2026. All Rights Reserved.</a:t>
            </a:r>
            <a:endParaRPr/>
          </a:p>
        </p:txBody>
      </p:sp>
      <p:pic>
        <p:nvPicPr>
          <p:cNvPr id="1001" name="Google Shape;1001;p5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8600" y="37909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5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67450" y="379095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3606</Words>
  <Application>Microsoft Office PowerPoint</Application>
  <PresentationFormat>Widescreen</PresentationFormat>
  <Paragraphs>474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Inter</vt:lpstr>
      <vt:lpstr>Montserrat Medium</vt:lpstr>
      <vt:lpstr>Calibri</vt:lpstr>
      <vt:lpstr>Inter Medium</vt:lpstr>
      <vt:lpstr>Arial</vt:lpstr>
      <vt:lpstr>Montserrat</vt:lpstr>
      <vt:lpstr>Inter SemiBold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3</cp:revision>
  <dcterms:modified xsi:type="dcterms:W3CDTF">2026-05-19T10:12:29Z</dcterms:modified>
</cp:coreProperties>
</file>